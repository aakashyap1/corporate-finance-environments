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9550" cy="6858000"/>
          </a:xfrm>
          <a:prstGeom prst="rect">
            <a:avLst/>
          </a:prstGeom>
          <a:solidFill>
            <a:srgbClr val="C79A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38200" y="723900"/>
            <a:ext cx="533400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275" b="1" dirty="0" i="0">
                <a:solidFill>
                  <a:srgbClr val="E7E2D8"/>
                </a:solidFill>
              </a:rPr>
              <a:t>ALDER RIDGE MECHANICAL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838200" y="1524000"/>
            <a:ext cx="8572500" cy="1428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3750" b="1" dirty="0" i="0">
                <a:solidFill>
                  <a:srgbClr val="FFFFFF"/>
                </a:solidFill>
              </a:rPr>
              <a:t>Q2 Operations &amp; Safety Review</a:t>
            </a:r>
            <a:endParaRPr lang="en-US" sz="3750" dirty="0"/>
          </a:p>
        </p:txBody>
      </p:sp>
      <p:sp>
        <p:nvSpPr>
          <p:cNvPr id="5" name="Text 3"/>
          <p:cNvSpPr/>
          <p:nvPr/>
        </p:nvSpPr>
        <p:spPr>
          <a:xfrm>
            <a:off x="876300" y="3314700"/>
            <a:ext cx="7810500" cy="8096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650" dirty="0" b="0" i="0">
                <a:solidFill>
                  <a:srgbClr val="E7E2D8"/>
                </a:solidFill>
              </a:rPr>
              <a:t>Execution, field productivity, quality, safety and capacity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953500" y="742950"/>
            <a:ext cx="2381250" cy="266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r" indent="0" marL="0">
              <a:buNone/>
            </a:pPr>
            <a:r>
              <a:rPr lang="en-US" sz="1125" b="1" dirty="0" i="0">
                <a:solidFill>
                  <a:srgbClr val="E7E2D8"/>
                </a:solidFill>
              </a:rPr>
              <a:t>DRAFT / OPS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876300" y="4857750"/>
            <a:ext cx="4095750" cy="285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275" dirty="0" b="0" i="0">
                <a:solidFill>
                  <a:srgbClr val="FFFFFF"/>
                </a:solidFill>
              </a:rPr>
              <a:t>June 26, 2026</a:t>
            </a:r>
            <a:endParaRPr lang="en-US" sz="1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F30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66750" y="323850"/>
            <a:ext cx="5715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975" b="1" dirty="0" i="0">
                <a:solidFill>
                  <a:srgbClr val="C79A3B"/>
                </a:solidFill>
              </a:rPr>
              <a:t>Q2 OPERATIONS REVIEW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66750" y="704850"/>
            <a:ext cx="106680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2475" b="1" dirty="0" i="0">
                <a:solidFill>
                  <a:srgbClr val="2F3033"/>
                </a:solidFill>
              </a:rPr>
              <a:t>Quarter scorecard</a:t>
            </a:r>
            <a:endParaRPr lang="en-US" sz="2475" dirty="0"/>
          </a:p>
        </p:txBody>
      </p:sp>
      <p:sp>
        <p:nvSpPr>
          <p:cNvPr id="5" name="Shape 3"/>
          <p:cNvSpPr/>
          <p:nvPr/>
        </p:nvSpPr>
        <p:spPr>
          <a:xfrm>
            <a:off x="666750" y="1257300"/>
            <a:ext cx="10668000" cy="19050"/>
          </a:xfrm>
          <a:prstGeom prst="rect">
            <a:avLst/>
          </a:prstGeom>
          <a:solidFill>
            <a:srgbClr val="D9CC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2950" y="1657350"/>
            <a:ext cx="6191250" cy="3714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Recordable incidents and near misses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Schedule performance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Rework and callbacks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Field labor utilization</a:t>
            </a:r>
            <a:endParaRPr lang="en-US" sz="1425" dirty="0"/>
          </a:p>
        </p:txBody>
      </p:sp>
      <p:sp>
        <p:nvSpPr>
          <p:cNvPr id="7" name="Shape 5"/>
          <p:cNvSpPr/>
          <p:nvPr/>
        </p:nvSpPr>
        <p:spPr>
          <a:xfrm>
            <a:off x="7543800" y="1657350"/>
            <a:ext cx="3714750" cy="3714750"/>
          </a:xfrm>
          <a:prstGeom prst="rect">
            <a:avLst/>
          </a:prstGeom>
          <a:solidFill>
            <a:srgbClr val="F0E6DA"/>
          </a:solidFill>
          <a:ln w="9525">
            <a:solidFill>
              <a:srgbClr val="CDB8A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905750" y="2095500"/>
            <a:ext cx="295275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350" b="1" dirty="0" i="0">
                <a:solidFill>
                  <a:srgbClr val="655C55"/>
                </a:solidFill>
              </a:rPr>
              <a:t>Recordables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05750" y="2571750"/>
            <a:ext cx="2952750" cy="666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3150" b="1" dirty="0" i="0">
                <a:solidFill>
                  <a:srgbClr val="C79A3B"/>
                </a:solidFill>
              </a:rPr>
              <a:t>1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7905750" y="3638550"/>
            <a:ext cx="2952750" cy="11906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275" dirty="0" b="0" i="0">
                <a:solidFill>
                  <a:srgbClr val="222222"/>
                </a:solidFill>
              </a:rPr>
              <a:t>Safety statistics are preliminary pending the June supervisor review.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666750" y="6496050"/>
            <a:ext cx="106680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r" indent="0" marL="0">
              <a:buNone/>
            </a:pPr>
            <a:r>
              <a:rPr lang="en-US" sz="750" dirty="0" b="0" i="0">
                <a:solidFill>
                  <a:srgbClr val="655C55"/>
                </a:solidFill>
              </a:rPr>
              <a:t>June 26, 2026 | DRAFT / OPS | 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F30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66750" y="323850"/>
            <a:ext cx="5715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975" b="1" dirty="0" i="0">
                <a:solidFill>
                  <a:srgbClr val="C79A3B"/>
                </a:solidFill>
              </a:rPr>
              <a:t>Q2 OPERATIONS REVIEW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66750" y="704850"/>
            <a:ext cx="106680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2475" b="1" dirty="0" i="0">
                <a:solidFill>
                  <a:srgbClr val="2F3033"/>
                </a:solidFill>
              </a:rPr>
              <a:t>Project execution</a:t>
            </a:r>
            <a:endParaRPr lang="en-US" sz="2475" dirty="0"/>
          </a:p>
        </p:txBody>
      </p:sp>
      <p:sp>
        <p:nvSpPr>
          <p:cNvPr id="5" name="Shape 3"/>
          <p:cNvSpPr/>
          <p:nvPr/>
        </p:nvSpPr>
        <p:spPr>
          <a:xfrm>
            <a:off x="666750" y="1257300"/>
            <a:ext cx="10668000" cy="19050"/>
          </a:xfrm>
          <a:prstGeom prst="rect">
            <a:avLst/>
          </a:prstGeom>
          <a:solidFill>
            <a:srgbClr val="D9CC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2950" y="1657350"/>
            <a:ext cx="6191250" cy="3714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Milestone adherence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Access and design constraints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Subcontractor performance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Commercial notices</a:t>
            </a:r>
            <a:endParaRPr lang="en-US" sz="1425" dirty="0"/>
          </a:p>
        </p:txBody>
      </p:sp>
      <p:sp>
        <p:nvSpPr>
          <p:cNvPr id="7" name="Shape 5"/>
          <p:cNvSpPr/>
          <p:nvPr/>
        </p:nvSpPr>
        <p:spPr>
          <a:xfrm>
            <a:off x="7543800" y="1657350"/>
            <a:ext cx="3714750" cy="3714750"/>
          </a:xfrm>
          <a:prstGeom prst="rect">
            <a:avLst/>
          </a:prstGeom>
          <a:solidFill>
            <a:srgbClr val="F0E6DA"/>
          </a:solidFill>
          <a:ln w="9525">
            <a:solidFill>
              <a:srgbClr val="CDB8A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905750" y="2095500"/>
            <a:ext cx="295275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350" b="1" dirty="0" i="0">
                <a:solidFill>
                  <a:srgbClr val="655C55"/>
                </a:solidFill>
              </a:rPr>
              <a:t>On-plan jobs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05750" y="2571750"/>
            <a:ext cx="2952750" cy="666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3150" b="1" dirty="0" i="0">
                <a:solidFill>
                  <a:srgbClr val="C79A3B"/>
                </a:solidFill>
              </a:rPr>
              <a:t>11 / 16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7905750" y="3638550"/>
            <a:ext cx="2952750" cy="11906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275" dirty="0" b="0" i="0">
                <a:solidFill>
                  <a:srgbClr val="222222"/>
                </a:solidFill>
              </a:rPr>
              <a:t>Five projects require named recovery plans or closeout follow-up.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666750" y="6496050"/>
            <a:ext cx="106680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r" indent="0" marL="0">
              <a:buNone/>
            </a:pPr>
            <a:r>
              <a:rPr lang="en-US" sz="750" dirty="0" b="0" i="0">
                <a:solidFill>
                  <a:srgbClr val="655C55"/>
                </a:solidFill>
              </a:rPr>
              <a:t>June 26, 2026 | DRAFT / OPS | 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F30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66750" y="323850"/>
            <a:ext cx="5715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975" b="1" dirty="0" i="0">
                <a:solidFill>
                  <a:srgbClr val="C79A3B"/>
                </a:solidFill>
              </a:rPr>
              <a:t>Q2 OPERATIONS REVIEW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66750" y="704850"/>
            <a:ext cx="106680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2475" b="1" dirty="0" i="0">
                <a:solidFill>
                  <a:srgbClr val="2F3033"/>
                </a:solidFill>
              </a:rPr>
              <a:t>Service operations</a:t>
            </a:r>
            <a:endParaRPr lang="en-US" sz="2475" dirty="0"/>
          </a:p>
        </p:txBody>
      </p:sp>
      <p:sp>
        <p:nvSpPr>
          <p:cNvPr id="5" name="Shape 3"/>
          <p:cNvSpPr/>
          <p:nvPr/>
        </p:nvSpPr>
        <p:spPr>
          <a:xfrm>
            <a:off x="666750" y="1257300"/>
            <a:ext cx="10668000" cy="19050"/>
          </a:xfrm>
          <a:prstGeom prst="rect">
            <a:avLst/>
          </a:prstGeom>
          <a:solidFill>
            <a:srgbClr val="D9CC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2950" y="1657350"/>
            <a:ext cx="6191250" cy="3714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Agreement retention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Response time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First-time fix rate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Technician productivity</a:t>
            </a:r>
            <a:endParaRPr lang="en-US" sz="1425" dirty="0"/>
          </a:p>
        </p:txBody>
      </p:sp>
      <p:sp>
        <p:nvSpPr>
          <p:cNvPr id="7" name="Shape 5"/>
          <p:cNvSpPr/>
          <p:nvPr/>
        </p:nvSpPr>
        <p:spPr>
          <a:xfrm>
            <a:off x="7543800" y="1657350"/>
            <a:ext cx="3714750" cy="3714750"/>
          </a:xfrm>
          <a:prstGeom prst="rect">
            <a:avLst/>
          </a:prstGeom>
          <a:solidFill>
            <a:srgbClr val="F0E6DA"/>
          </a:solidFill>
          <a:ln w="9525">
            <a:solidFill>
              <a:srgbClr val="CDB8A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905750" y="2095500"/>
            <a:ext cx="295275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350" b="1" dirty="0" i="0">
                <a:solidFill>
                  <a:srgbClr val="655C55"/>
                </a:solidFill>
              </a:rPr>
              <a:t>First-time fix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05750" y="2571750"/>
            <a:ext cx="2952750" cy="666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3150" b="1" dirty="0" i="0">
                <a:solidFill>
                  <a:srgbClr val="C79A3B"/>
                </a:solidFill>
              </a:rPr>
              <a:t>95%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7905750" y="3638550"/>
            <a:ext cx="2952750" cy="11906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275" dirty="0" b="0" i="0">
                <a:solidFill>
                  <a:srgbClr val="222222"/>
                </a:solidFill>
              </a:rPr>
              <a:t>Callback classification remains manual for three dispatcher categories.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666750" y="6496050"/>
            <a:ext cx="106680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r" indent="0" marL="0">
              <a:buNone/>
            </a:pPr>
            <a:r>
              <a:rPr lang="en-US" sz="750" dirty="0" b="0" i="0">
                <a:solidFill>
                  <a:srgbClr val="655C55"/>
                </a:solidFill>
              </a:rPr>
              <a:t>June 26, 2026 | DRAFT / OPS | 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F30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66750" y="323850"/>
            <a:ext cx="5715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975" b="1" dirty="0" i="0">
                <a:solidFill>
                  <a:srgbClr val="C79A3B"/>
                </a:solidFill>
              </a:rPr>
              <a:t>Q2 OPERATIONS REVIEW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66750" y="704850"/>
            <a:ext cx="106680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2475" b="1" dirty="0" i="0">
                <a:solidFill>
                  <a:srgbClr val="2F3033"/>
                </a:solidFill>
              </a:rPr>
              <a:t>Quality and rework</a:t>
            </a:r>
            <a:endParaRPr lang="en-US" sz="2475" dirty="0"/>
          </a:p>
        </p:txBody>
      </p:sp>
      <p:sp>
        <p:nvSpPr>
          <p:cNvPr id="5" name="Shape 3"/>
          <p:cNvSpPr/>
          <p:nvPr/>
        </p:nvSpPr>
        <p:spPr>
          <a:xfrm>
            <a:off x="666750" y="1257300"/>
            <a:ext cx="10668000" cy="19050"/>
          </a:xfrm>
          <a:prstGeom prst="rect">
            <a:avLst/>
          </a:prstGeom>
          <a:solidFill>
            <a:srgbClr val="D9CC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2950" y="1657350"/>
            <a:ext cx="6191250" cy="3714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Commissioning defects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Rework hours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Root-cause ownership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Customer closeout</a:t>
            </a:r>
            <a:endParaRPr lang="en-US" sz="1425" dirty="0"/>
          </a:p>
        </p:txBody>
      </p:sp>
      <p:sp>
        <p:nvSpPr>
          <p:cNvPr id="7" name="Shape 5"/>
          <p:cNvSpPr/>
          <p:nvPr/>
        </p:nvSpPr>
        <p:spPr>
          <a:xfrm>
            <a:off x="7543800" y="1657350"/>
            <a:ext cx="3714750" cy="3714750"/>
          </a:xfrm>
          <a:prstGeom prst="rect">
            <a:avLst/>
          </a:prstGeom>
          <a:solidFill>
            <a:srgbClr val="F0E6DA"/>
          </a:solidFill>
          <a:ln w="9525">
            <a:solidFill>
              <a:srgbClr val="CDB8A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905750" y="2095500"/>
            <a:ext cx="295275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350" b="1" dirty="0" i="0">
                <a:solidFill>
                  <a:srgbClr val="655C55"/>
                </a:solidFill>
              </a:rPr>
              <a:t>Rework hours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05750" y="2571750"/>
            <a:ext cx="2952750" cy="666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3150" b="1" dirty="0" i="0">
                <a:solidFill>
                  <a:srgbClr val="C79A3B"/>
                </a:solidFill>
              </a:rPr>
              <a:t>3304.8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7905750" y="3638550"/>
            <a:ext cx="2952750" cy="11906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275" dirty="0" b="0" i="0">
                <a:solidFill>
                  <a:srgbClr val="222222"/>
                </a:solidFill>
              </a:rPr>
              <a:t>Northline and Columbia account for most disputed or closeout-related hours.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666750" y="6496050"/>
            <a:ext cx="106680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r" indent="0" marL="0">
              <a:buNone/>
            </a:pPr>
            <a:r>
              <a:rPr lang="en-US" sz="750" dirty="0" b="0" i="0">
                <a:solidFill>
                  <a:srgbClr val="655C55"/>
                </a:solidFill>
              </a:rPr>
              <a:t>June 26, 2026 | DRAFT / OPS | 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F30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66750" y="323850"/>
            <a:ext cx="5715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975" b="1" dirty="0" i="0">
                <a:solidFill>
                  <a:srgbClr val="C79A3B"/>
                </a:solidFill>
              </a:rPr>
              <a:t>Q2 OPERATIONS REVIEW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66750" y="704850"/>
            <a:ext cx="106680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2475" b="1" dirty="0" i="0">
                <a:solidFill>
                  <a:srgbClr val="2F3033"/>
                </a:solidFill>
              </a:rPr>
              <a:t>Fleet, tools and capacity</a:t>
            </a:r>
            <a:endParaRPr lang="en-US" sz="2475" dirty="0"/>
          </a:p>
        </p:txBody>
      </p:sp>
      <p:sp>
        <p:nvSpPr>
          <p:cNvPr id="5" name="Shape 3"/>
          <p:cNvSpPr/>
          <p:nvPr/>
        </p:nvSpPr>
        <p:spPr>
          <a:xfrm>
            <a:off x="666750" y="1257300"/>
            <a:ext cx="10668000" cy="19050"/>
          </a:xfrm>
          <a:prstGeom prst="rect">
            <a:avLst/>
          </a:prstGeom>
          <a:solidFill>
            <a:srgbClr val="D9CC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2950" y="1657350"/>
            <a:ext cx="6191250" cy="3714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Fleet downtime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Rental exposure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Fabrication throughput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Hiring constraints</a:t>
            </a:r>
            <a:endParaRPr lang="en-US" sz="1425" dirty="0"/>
          </a:p>
        </p:txBody>
      </p:sp>
      <p:sp>
        <p:nvSpPr>
          <p:cNvPr id="7" name="Shape 5"/>
          <p:cNvSpPr/>
          <p:nvPr/>
        </p:nvSpPr>
        <p:spPr>
          <a:xfrm>
            <a:off x="7543800" y="1657350"/>
            <a:ext cx="3714750" cy="3714750"/>
          </a:xfrm>
          <a:prstGeom prst="rect">
            <a:avLst/>
          </a:prstGeom>
          <a:solidFill>
            <a:srgbClr val="F0E6DA"/>
          </a:solidFill>
          <a:ln w="9525">
            <a:solidFill>
              <a:srgbClr val="CDB8A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905750" y="2095500"/>
            <a:ext cx="295275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350" b="1" dirty="0" i="0">
                <a:solidFill>
                  <a:srgbClr val="655C55"/>
                </a:solidFill>
              </a:rPr>
              <a:t>Fleet availability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05750" y="2571750"/>
            <a:ext cx="2952750" cy="666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3150" b="1" dirty="0" i="0">
                <a:solidFill>
                  <a:srgbClr val="C79A3B"/>
                </a:solidFill>
              </a:rPr>
              <a:t>91%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7905750" y="3638550"/>
            <a:ext cx="2952750" cy="11906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275" dirty="0" b="0" i="0">
                <a:solidFill>
                  <a:srgbClr val="222222"/>
                </a:solidFill>
              </a:rPr>
              <a:t>Replacement requests are linked to the midyear capital workbook.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666750" y="6496050"/>
            <a:ext cx="106680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r" indent="0" marL="0">
              <a:buNone/>
            </a:pPr>
            <a:r>
              <a:rPr lang="en-US" sz="750" dirty="0" b="0" i="0">
                <a:solidFill>
                  <a:srgbClr val="655C55"/>
                </a:solidFill>
              </a:rPr>
              <a:t>June 26, 2026 | DRAFT / OPS | 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F30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66750" y="323850"/>
            <a:ext cx="5715000" cy="2476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975" b="1" dirty="0" i="0">
                <a:solidFill>
                  <a:srgbClr val="C79A3B"/>
                </a:solidFill>
              </a:rPr>
              <a:t>Q2 OPERATIONS REVIEW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66750" y="704850"/>
            <a:ext cx="106680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2475" b="1" dirty="0" i="0">
                <a:solidFill>
                  <a:srgbClr val="2F3033"/>
                </a:solidFill>
              </a:rPr>
              <a:t>Actions and owners</a:t>
            </a:r>
            <a:endParaRPr lang="en-US" sz="2475" dirty="0"/>
          </a:p>
        </p:txBody>
      </p:sp>
      <p:sp>
        <p:nvSpPr>
          <p:cNvPr id="5" name="Shape 3"/>
          <p:cNvSpPr/>
          <p:nvPr/>
        </p:nvSpPr>
        <p:spPr>
          <a:xfrm>
            <a:off x="666750" y="1257300"/>
            <a:ext cx="10668000" cy="19050"/>
          </a:xfrm>
          <a:prstGeom prst="rect">
            <a:avLst/>
          </a:prstGeom>
          <a:solidFill>
            <a:srgbClr val="D9CCB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2950" y="1657350"/>
            <a:ext cx="6191250" cy="3714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Safety follow-up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EAC refresh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Callback coding</a:t>
            </a:r>
            <a:endParaRPr lang="en-US" sz="1425" dirty="0"/>
          </a:p>
          <a:p>
            <a:pPr algn="l" indent="0" marL="0">
              <a:buNone/>
            </a:pPr>
            <a:endParaRPr lang="en-US" sz="1425" dirty="0"/>
          </a:p>
          <a:p>
            <a:pPr algn="l" indent="0" marL="0">
              <a:buNone/>
            </a:pPr>
            <a:r>
              <a:rPr lang="en-US" sz="1425" dirty="0" b="0" i="0">
                <a:solidFill>
                  <a:srgbClr val="222222"/>
                </a:solidFill>
              </a:rPr>
              <a:t>• Equipment decision</a:t>
            </a:r>
            <a:endParaRPr lang="en-US" sz="1425" dirty="0"/>
          </a:p>
        </p:txBody>
      </p:sp>
      <p:sp>
        <p:nvSpPr>
          <p:cNvPr id="7" name="Shape 5"/>
          <p:cNvSpPr/>
          <p:nvPr/>
        </p:nvSpPr>
        <p:spPr>
          <a:xfrm>
            <a:off x="7543800" y="1657350"/>
            <a:ext cx="3714750" cy="3714750"/>
          </a:xfrm>
          <a:prstGeom prst="rect">
            <a:avLst/>
          </a:prstGeom>
          <a:solidFill>
            <a:srgbClr val="F0E6DA"/>
          </a:solidFill>
          <a:ln w="9525">
            <a:solidFill>
              <a:srgbClr val="CDB8A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905750" y="2095500"/>
            <a:ext cx="2952750" cy="304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350" b="1" dirty="0" i="0">
                <a:solidFill>
                  <a:srgbClr val="655C55"/>
                </a:solidFill>
              </a:rPr>
              <a:t>Open actions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05750" y="2571750"/>
            <a:ext cx="2952750" cy="666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3150" b="1" dirty="0" i="0">
                <a:solidFill>
                  <a:srgbClr val="C79A3B"/>
                </a:solidFill>
              </a:rPr>
              <a:t>12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7905750" y="3638550"/>
            <a:ext cx="2952750" cy="11906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l" indent="0" marL="0">
              <a:buNone/>
            </a:pPr>
            <a:r>
              <a:rPr lang="en-US" sz="1275" dirty="0" b="0" i="0">
                <a:solidFill>
                  <a:srgbClr val="222222"/>
                </a:solidFill>
              </a:rPr>
              <a:t>This draft predates final June close and is not a finance reporting deck.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666750" y="6496050"/>
            <a:ext cx="10668000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rtlCol="0" anchor="t"/>
          <a:lstStyle/>
          <a:p>
            <a:pPr algn="r" indent="0" marL="0">
              <a:buNone/>
            </a:pPr>
            <a:r>
              <a:rPr lang="en-US" sz="750" dirty="0" b="0" i="0">
                <a:solidFill>
                  <a:srgbClr val="655C55"/>
                </a:solidFill>
              </a:rPr>
              <a:t>June 26, 2026 | DRAFT / OPS | 7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Alder Ridge Mechanical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Finance and operating review source material</dc:subject>
  <dc:creator>Alder Ridge Finance</dc:creator>
  <cp:lastModifiedBy>Alder Ridge Finance</cp:lastModifiedBy>
  <cp:revision>1</cp:revision>
  <dcterms:created xsi:type="dcterms:W3CDTF">2026-07-28T10:45:37Z</dcterms:created>
  <dcterms:modified xsi:type="dcterms:W3CDTF">2026-07-28T10:45:37Z</dcterms:modified>
</cp:coreProperties>
</file>