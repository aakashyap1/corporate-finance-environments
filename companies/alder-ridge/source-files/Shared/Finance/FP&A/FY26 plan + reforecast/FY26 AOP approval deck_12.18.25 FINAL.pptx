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3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C07A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38200" y="723900"/>
            <a:ext cx="533400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275" b="1" dirty="0" i="0">
                <a:solidFill>
                  <a:srgbClr val="DDE9E5"/>
                </a:solidFill>
              </a:rPr>
              <a:t>ALDER RIDGE MECHANICAL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838200" y="1524000"/>
            <a:ext cx="8572500" cy="1428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3750" b="1" dirty="0" i="0">
                <a:solidFill>
                  <a:srgbClr val="FFFFFF"/>
                </a:solidFill>
              </a:rPr>
              <a:t>FY26 Annual Operating Plan</a:t>
            </a:r>
            <a:endParaRPr lang="en-US" sz="3750" dirty="0"/>
          </a:p>
        </p:txBody>
      </p:sp>
      <p:sp>
        <p:nvSpPr>
          <p:cNvPr id="5" name="Text 3"/>
          <p:cNvSpPr/>
          <p:nvPr/>
        </p:nvSpPr>
        <p:spPr>
          <a:xfrm>
            <a:off x="876300" y="3314700"/>
            <a:ext cx="7810500" cy="8096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650" dirty="0" b="0" i="0">
                <a:solidFill>
                  <a:srgbClr val="DDE9E5"/>
                </a:solidFill>
              </a:rPr>
              <a:t>Board-approved operating, hiring, capital and liquidity plan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953500" y="742950"/>
            <a:ext cx="238125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r" indent="0" marL="0">
              <a:buNone/>
            </a:pPr>
            <a:r>
              <a:rPr lang="en-US" sz="1125" b="1" dirty="0" i="0">
                <a:solidFill>
                  <a:srgbClr val="DDE9E5"/>
                </a:solidFill>
              </a:rPr>
              <a:t>APPROVED 12/18/25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876300" y="4857750"/>
            <a:ext cx="4095750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275" dirty="0" b="0" i="0">
                <a:solidFill>
                  <a:srgbClr val="FFFFFF"/>
                </a:solidFill>
              </a:rPr>
              <a:t>December 18, 2025</a:t>
            </a:r>
            <a:endParaRPr lang="en-US" sz="1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63C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66750" y="323850"/>
            <a:ext cx="5715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975" b="1" dirty="0" i="0">
                <a:solidFill>
                  <a:srgbClr val="C07A45"/>
                </a:solidFill>
              </a:rPr>
              <a:t>FY26 ANNUAL OPERATING PLAN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66750" y="704850"/>
            <a:ext cx="106680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2475" b="1" dirty="0" i="0">
                <a:solidFill>
                  <a:srgbClr val="263C3A"/>
                </a:solidFill>
              </a:rPr>
              <a:t>Planning thesis</a:t>
            </a:r>
            <a:endParaRPr lang="en-US" sz="2475" dirty="0"/>
          </a:p>
        </p:txBody>
      </p:sp>
      <p:sp>
        <p:nvSpPr>
          <p:cNvPr id="5" name="Shape 3"/>
          <p:cNvSpPr/>
          <p:nvPr/>
        </p:nvSpPr>
        <p:spPr>
          <a:xfrm>
            <a:off x="666750" y="1257300"/>
            <a:ext cx="10668000" cy="19050"/>
          </a:xfrm>
          <a:prstGeom prst="rect">
            <a:avLst/>
          </a:prstGeom>
          <a:solidFill>
            <a:srgbClr val="D9CC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2950" y="1657350"/>
            <a:ext cx="6191250" cy="3714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Protect project selection discipline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Expand service agreement base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Fund controls capability selectively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Maintain minimum liquidity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7543800" y="1657350"/>
            <a:ext cx="3714750" cy="3714750"/>
          </a:xfrm>
          <a:prstGeom prst="rect">
            <a:avLst/>
          </a:prstGeom>
          <a:solidFill>
            <a:srgbClr val="F0E6DA"/>
          </a:solidFill>
          <a:ln w="9525">
            <a:solidFill>
              <a:srgbClr val="CDB8A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905750" y="2095500"/>
            <a:ext cx="295275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350" b="1" dirty="0" i="0">
                <a:solidFill>
                  <a:srgbClr val="655C55"/>
                </a:solidFill>
              </a:rPr>
              <a:t>FY26 revenue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05750" y="2571750"/>
            <a:ext cx="2952750" cy="666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3150" b="1" dirty="0" i="0">
                <a:solidFill>
                  <a:srgbClr val="C07A45"/>
                </a:solidFill>
              </a:rPr>
              <a:t>$47.9m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7905750" y="3638550"/>
            <a:ext cx="2952750" cy="11906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275" dirty="0" b="0" i="0">
                <a:solidFill>
                  <a:srgbClr val="222222"/>
                </a:solidFill>
              </a:rPr>
              <a:t>Base plan excludes unsigned awards and unsupported commercial recoveries.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666750" y="6496050"/>
            <a:ext cx="106680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r" indent="0" marL="0">
              <a:buNone/>
            </a:pPr>
            <a:r>
              <a:rPr lang="en-US" sz="750" dirty="0" b="0" i="0">
                <a:solidFill>
                  <a:srgbClr val="655C55"/>
                </a:solidFill>
              </a:rPr>
              <a:t>December 18, 2025 | APPROVED 12/18/25 |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63C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66750" y="323850"/>
            <a:ext cx="5715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975" b="1" dirty="0" i="0">
                <a:solidFill>
                  <a:srgbClr val="C07A45"/>
                </a:solidFill>
              </a:rPr>
              <a:t>FY26 ANNUAL OPERATING PLAN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66750" y="704850"/>
            <a:ext cx="106680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2475" b="1" dirty="0" i="0">
                <a:solidFill>
                  <a:srgbClr val="263C3A"/>
                </a:solidFill>
              </a:rPr>
              <a:t>Revenue and gross profit</a:t>
            </a:r>
            <a:endParaRPr lang="en-US" sz="2475" dirty="0"/>
          </a:p>
        </p:txBody>
      </p:sp>
      <p:sp>
        <p:nvSpPr>
          <p:cNvPr id="5" name="Shape 3"/>
          <p:cNvSpPr/>
          <p:nvPr/>
        </p:nvSpPr>
        <p:spPr>
          <a:xfrm>
            <a:off x="666750" y="1257300"/>
            <a:ext cx="10668000" cy="19050"/>
          </a:xfrm>
          <a:prstGeom prst="rect">
            <a:avLst/>
          </a:prstGeom>
          <a:solidFill>
            <a:srgbClr val="D9CC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2950" y="1657350"/>
            <a:ext cx="6191250" cy="3714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Construction backlog conversion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Service agreement growth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Controls project pipeline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Pricing and productivity assumptions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7543800" y="1657350"/>
            <a:ext cx="3714750" cy="3714750"/>
          </a:xfrm>
          <a:prstGeom prst="rect">
            <a:avLst/>
          </a:prstGeom>
          <a:solidFill>
            <a:srgbClr val="F0E6DA"/>
          </a:solidFill>
          <a:ln w="9525">
            <a:solidFill>
              <a:srgbClr val="CDB8A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905750" y="2095500"/>
            <a:ext cx="295275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350" b="1" dirty="0" i="0">
                <a:solidFill>
                  <a:srgbClr val="655C55"/>
                </a:solidFill>
              </a:rPr>
              <a:t>Gross margin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05750" y="2571750"/>
            <a:ext cx="2952750" cy="666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3150" b="1" dirty="0" i="0">
                <a:solidFill>
                  <a:srgbClr val="C07A45"/>
                </a:solidFill>
              </a:rPr>
              <a:t>24.8%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7905750" y="3638550"/>
            <a:ext cx="2952750" cy="11906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275" dirty="0" b="0" i="0">
                <a:solidFill>
                  <a:srgbClr val="222222"/>
                </a:solidFill>
              </a:rPr>
              <a:t>Margin improvement depends on closeout discipline and field productivity.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666750" y="6496050"/>
            <a:ext cx="106680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r" indent="0" marL="0">
              <a:buNone/>
            </a:pPr>
            <a:r>
              <a:rPr lang="en-US" sz="750" dirty="0" b="0" i="0">
                <a:solidFill>
                  <a:srgbClr val="655C55"/>
                </a:solidFill>
              </a:rPr>
              <a:t>December 18, 2025 | APPROVED 12/18/25 |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63C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66750" y="323850"/>
            <a:ext cx="5715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975" b="1" dirty="0" i="0">
                <a:solidFill>
                  <a:srgbClr val="C07A45"/>
                </a:solidFill>
              </a:rPr>
              <a:t>FY26 ANNUAL OPERATING PLAN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66750" y="704850"/>
            <a:ext cx="106680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2475" b="1" dirty="0" i="0">
                <a:solidFill>
                  <a:srgbClr val="263C3A"/>
                </a:solidFill>
              </a:rPr>
              <a:t>People and capacity</a:t>
            </a:r>
            <a:endParaRPr lang="en-US" sz="2475" dirty="0"/>
          </a:p>
        </p:txBody>
      </p:sp>
      <p:sp>
        <p:nvSpPr>
          <p:cNvPr id="5" name="Shape 3"/>
          <p:cNvSpPr/>
          <p:nvPr/>
        </p:nvSpPr>
        <p:spPr>
          <a:xfrm>
            <a:off x="666750" y="1257300"/>
            <a:ext cx="10668000" cy="19050"/>
          </a:xfrm>
          <a:prstGeom prst="rect">
            <a:avLst/>
          </a:prstGeom>
          <a:solidFill>
            <a:srgbClr val="D9CC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2950" y="1657350"/>
            <a:ext cx="6191250" cy="3714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Targeted technician hiring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Apprentice progression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Project-management span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Overtime guardrails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7543800" y="1657350"/>
            <a:ext cx="3714750" cy="3714750"/>
          </a:xfrm>
          <a:prstGeom prst="rect">
            <a:avLst/>
          </a:prstGeom>
          <a:solidFill>
            <a:srgbClr val="F0E6DA"/>
          </a:solidFill>
          <a:ln w="9525">
            <a:solidFill>
              <a:srgbClr val="CDB8A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905750" y="2095500"/>
            <a:ext cx="295275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350" b="1" dirty="0" i="0">
                <a:solidFill>
                  <a:srgbClr val="655C55"/>
                </a:solidFill>
              </a:rPr>
              <a:t>Year-end HC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05750" y="2571750"/>
            <a:ext cx="2952750" cy="666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3150" b="1" dirty="0" i="0">
                <a:solidFill>
                  <a:srgbClr val="C07A45"/>
                </a:solidFill>
              </a:rPr>
              <a:t>116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7905750" y="3638550"/>
            <a:ext cx="2952750" cy="11906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275" dirty="0" b="0" i="0">
                <a:solidFill>
                  <a:srgbClr val="222222"/>
                </a:solidFill>
              </a:rPr>
              <a:t>Hiring is phased to awarded backlog and service call volume.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666750" y="6496050"/>
            <a:ext cx="106680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r" indent="0" marL="0">
              <a:buNone/>
            </a:pPr>
            <a:r>
              <a:rPr lang="en-US" sz="750" dirty="0" b="0" i="0">
                <a:solidFill>
                  <a:srgbClr val="655C55"/>
                </a:solidFill>
              </a:rPr>
              <a:t>December 18, 2025 | APPROVED 12/18/25 | 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63C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66750" y="323850"/>
            <a:ext cx="5715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975" b="1" dirty="0" i="0">
                <a:solidFill>
                  <a:srgbClr val="C07A45"/>
                </a:solidFill>
              </a:rPr>
              <a:t>FY26 ANNUAL OPERATING PLAN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66750" y="704850"/>
            <a:ext cx="106680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2475" b="1" dirty="0" i="0">
                <a:solidFill>
                  <a:srgbClr val="263C3A"/>
                </a:solidFill>
              </a:rPr>
              <a:t>Capital plan</a:t>
            </a:r>
            <a:endParaRPr lang="en-US" sz="2475" dirty="0"/>
          </a:p>
        </p:txBody>
      </p:sp>
      <p:sp>
        <p:nvSpPr>
          <p:cNvPr id="5" name="Shape 3"/>
          <p:cNvSpPr/>
          <p:nvPr/>
        </p:nvSpPr>
        <p:spPr>
          <a:xfrm>
            <a:off x="666750" y="1257300"/>
            <a:ext cx="10668000" cy="19050"/>
          </a:xfrm>
          <a:prstGeom prst="rect">
            <a:avLst/>
          </a:prstGeom>
          <a:solidFill>
            <a:srgbClr val="D9CC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2950" y="1657350"/>
            <a:ext cx="6191250" cy="3714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Fleet replacement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Fabrication bottleneck removal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Controls test equipment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Warehouse alternatives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7543800" y="1657350"/>
            <a:ext cx="3714750" cy="3714750"/>
          </a:xfrm>
          <a:prstGeom prst="rect">
            <a:avLst/>
          </a:prstGeom>
          <a:solidFill>
            <a:srgbClr val="F0E6DA"/>
          </a:solidFill>
          <a:ln w="9525">
            <a:solidFill>
              <a:srgbClr val="CDB8A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905750" y="2095500"/>
            <a:ext cx="295275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350" b="1" dirty="0" i="0">
                <a:solidFill>
                  <a:srgbClr val="655C55"/>
                </a:solidFill>
              </a:rPr>
              <a:t>Approved capex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05750" y="2571750"/>
            <a:ext cx="2952750" cy="666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3150" b="1" dirty="0" i="0">
                <a:solidFill>
                  <a:srgbClr val="C07A45"/>
                </a:solidFill>
              </a:rPr>
              <a:t>$1.1m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7905750" y="3638550"/>
            <a:ext cx="2952750" cy="11906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275" dirty="0" b="0" i="0">
                <a:solidFill>
                  <a:srgbClr val="222222"/>
                </a:solidFill>
              </a:rPr>
              <a:t>Each release remains subject to CFO approval and liquidity sequencing.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666750" y="6496050"/>
            <a:ext cx="106680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r" indent="0" marL="0">
              <a:buNone/>
            </a:pPr>
            <a:r>
              <a:rPr lang="en-US" sz="750" dirty="0" b="0" i="0">
                <a:solidFill>
                  <a:srgbClr val="655C55"/>
                </a:solidFill>
              </a:rPr>
              <a:t>December 18, 2025 | APPROVED 12/18/25 | 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63C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66750" y="323850"/>
            <a:ext cx="5715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975" b="1" dirty="0" i="0">
                <a:solidFill>
                  <a:srgbClr val="C07A45"/>
                </a:solidFill>
              </a:rPr>
              <a:t>FY26 ANNUAL OPERATING PLAN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66750" y="704850"/>
            <a:ext cx="106680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2475" b="1" dirty="0" i="0">
                <a:solidFill>
                  <a:srgbClr val="263C3A"/>
                </a:solidFill>
              </a:rPr>
              <a:t>Cash and funding</a:t>
            </a:r>
            <a:endParaRPr lang="en-US" sz="2475" dirty="0"/>
          </a:p>
        </p:txBody>
      </p:sp>
      <p:sp>
        <p:nvSpPr>
          <p:cNvPr id="5" name="Shape 3"/>
          <p:cNvSpPr/>
          <p:nvPr/>
        </p:nvSpPr>
        <p:spPr>
          <a:xfrm>
            <a:off x="666750" y="1257300"/>
            <a:ext cx="10668000" cy="19050"/>
          </a:xfrm>
          <a:prstGeom prst="rect">
            <a:avLst/>
          </a:prstGeom>
          <a:solidFill>
            <a:srgbClr val="D9CC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2950" y="1657350"/>
            <a:ext cx="6191250" cy="3714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Monthly cash conversion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Working-capital seasonality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Equipment debt alternative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Revolver as contingency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7543800" y="1657350"/>
            <a:ext cx="3714750" cy="3714750"/>
          </a:xfrm>
          <a:prstGeom prst="rect">
            <a:avLst/>
          </a:prstGeom>
          <a:solidFill>
            <a:srgbClr val="F0E6DA"/>
          </a:solidFill>
          <a:ln w="9525">
            <a:solidFill>
              <a:srgbClr val="CDB8A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905750" y="2095500"/>
            <a:ext cx="295275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350" b="1" dirty="0" i="0">
                <a:solidFill>
                  <a:srgbClr val="655C55"/>
                </a:solidFill>
              </a:rPr>
              <a:t>Minimum cash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05750" y="2571750"/>
            <a:ext cx="2952750" cy="666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3150" b="1" dirty="0" i="0">
                <a:solidFill>
                  <a:srgbClr val="C07A45"/>
                </a:solidFill>
              </a:rPr>
              <a:t>$1.8m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7905750" y="3638550"/>
            <a:ext cx="2952750" cy="11906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275" dirty="0" b="0" i="0">
                <a:solidFill>
                  <a:srgbClr val="222222"/>
                </a:solidFill>
              </a:rPr>
              <a:t>Plan maintains headroom above the $1.25m internal floor.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666750" y="6496050"/>
            <a:ext cx="106680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r" indent="0" marL="0">
              <a:buNone/>
            </a:pPr>
            <a:r>
              <a:rPr lang="en-US" sz="750" dirty="0" b="0" i="0">
                <a:solidFill>
                  <a:srgbClr val="655C55"/>
                </a:solidFill>
              </a:rPr>
              <a:t>December 18, 2025 | APPROVED 12/18/25 | 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63C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66750" y="323850"/>
            <a:ext cx="5715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975" b="1" dirty="0" i="0">
                <a:solidFill>
                  <a:srgbClr val="C07A45"/>
                </a:solidFill>
              </a:rPr>
              <a:t>FY26 ANNUAL OPERATING PLAN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66750" y="704850"/>
            <a:ext cx="106680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2475" b="1" dirty="0" i="0">
                <a:solidFill>
                  <a:srgbClr val="263C3A"/>
                </a:solidFill>
              </a:rPr>
              <a:t>Risks and sensitivities</a:t>
            </a:r>
            <a:endParaRPr lang="en-US" sz="2475" dirty="0"/>
          </a:p>
        </p:txBody>
      </p:sp>
      <p:sp>
        <p:nvSpPr>
          <p:cNvPr id="5" name="Shape 3"/>
          <p:cNvSpPr/>
          <p:nvPr/>
        </p:nvSpPr>
        <p:spPr>
          <a:xfrm>
            <a:off x="666750" y="1257300"/>
            <a:ext cx="10668000" cy="19050"/>
          </a:xfrm>
          <a:prstGeom prst="rect">
            <a:avLst/>
          </a:prstGeom>
          <a:solidFill>
            <a:srgbClr val="D9CC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2950" y="1657350"/>
            <a:ext cx="6191250" cy="3714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Backlog slippage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Labor productivity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Customer funding dates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Material escalation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7543800" y="1657350"/>
            <a:ext cx="3714750" cy="3714750"/>
          </a:xfrm>
          <a:prstGeom prst="rect">
            <a:avLst/>
          </a:prstGeom>
          <a:solidFill>
            <a:srgbClr val="F0E6DA"/>
          </a:solidFill>
          <a:ln w="9525">
            <a:solidFill>
              <a:srgbClr val="CDB8A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905750" y="2095500"/>
            <a:ext cx="295275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350" b="1" dirty="0" i="0">
                <a:solidFill>
                  <a:srgbClr val="655C55"/>
                </a:solidFill>
              </a:rPr>
              <a:t>Downside case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05750" y="2571750"/>
            <a:ext cx="2952750" cy="666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3150" b="1" dirty="0" i="0">
                <a:solidFill>
                  <a:srgbClr val="C07A45"/>
                </a:solidFill>
              </a:rPr>
              <a:t>-$2.4m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7905750" y="3638550"/>
            <a:ext cx="2952750" cy="11906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275" dirty="0" b="0" i="0">
                <a:solidFill>
                  <a:srgbClr val="222222"/>
                </a:solidFill>
              </a:rPr>
              <a:t>Downside response emphasizes capex deferral and payment sequencing.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666750" y="6496050"/>
            <a:ext cx="106680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r" indent="0" marL="0">
              <a:buNone/>
            </a:pPr>
            <a:r>
              <a:rPr lang="en-US" sz="750" dirty="0" b="0" i="0">
                <a:solidFill>
                  <a:srgbClr val="655C55"/>
                </a:solidFill>
              </a:rPr>
              <a:t>December 18, 2025 | APPROVED 12/18/25 | 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63C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66750" y="323850"/>
            <a:ext cx="5715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975" b="1" dirty="0" i="0">
                <a:solidFill>
                  <a:srgbClr val="C07A45"/>
                </a:solidFill>
              </a:rPr>
              <a:t>FY26 ANNUAL OPERATING PLAN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66750" y="704850"/>
            <a:ext cx="106680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2475" b="1" dirty="0" i="0">
                <a:solidFill>
                  <a:srgbClr val="263C3A"/>
                </a:solidFill>
              </a:rPr>
              <a:t>Approval and controls</a:t>
            </a:r>
            <a:endParaRPr lang="en-US" sz="2475" dirty="0"/>
          </a:p>
        </p:txBody>
      </p:sp>
      <p:sp>
        <p:nvSpPr>
          <p:cNvPr id="5" name="Shape 3"/>
          <p:cNvSpPr/>
          <p:nvPr/>
        </p:nvSpPr>
        <p:spPr>
          <a:xfrm>
            <a:off x="666750" y="1257300"/>
            <a:ext cx="10668000" cy="19050"/>
          </a:xfrm>
          <a:prstGeom prst="rect">
            <a:avLst/>
          </a:prstGeom>
          <a:solidFill>
            <a:srgbClr val="D9CC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2950" y="1657350"/>
            <a:ext cx="6191250" cy="3714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Department owner sign-offs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Board approval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Version freeze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Monthly variance governance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7543800" y="1657350"/>
            <a:ext cx="3714750" cy="3714750"/>
          </a:xfrm>
          <a:prstGeom prst="rect">
            <a:avLst/>
          </a:prstGeom>
          <a:solidFill>
            <a:srgbClr val="F0E6DA"/>
          </a:solidFill>
          <a:ln w="9525">
            <a:solidFill>
              <a:srgbClr val="CDB8A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905750" y="2095500"/>
            <a:ext cx="295275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350" b="1" dirty="0" i="0">
                <a:solidFill>
                  <a:srgbClr val="655C55"/>
                </a:solidFill>
              </a:rPr>
              <a:t>Plan status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05750" y="2571750"/>
            <a:ext cx="2952750" cy="666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3150" b="1" dirty="0" i="0">
                <a:solidFill>
                  <a:srgbClr val="C07A45"/>
                </a:solidFill>
              </a:rPr>
              <a:t>Approved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7905750" y="3638550"/>
            <a:ext cx="2952750" cy="11906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275" dirty="0" b="0" i="0">
                <a:solidFill>
                  <a:srgbClr val="222222"/>
                </a:solidFill>
              </a:rPr>
              <a:t>FINAL2 workbook contains the locked monthly phasing and source log.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666750" y="6496050"/>
            <a:ext cx="106680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r" indent="0" marL="0">
              <a:buNone/>
            </a:pPr>
            <a:r>
              <a:rPr lang="en-US" sz="750" dirty="0" b="0" i="0">
                <a:solidFill>
                  <a:srgbClr val="655C55"/>
                </a:solidFill>
              </a:rPr>
              <a:t>December 18, 2025 | APPROVED 12/18/25 | 8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Alder Ridge Mechanical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Finance and operating review source material</dc:subject>
  <dc:creator>Alder Ridge Finance</dc:creator>
  <cp:lastModifiedBy>Alder Ridge Finance</cp:lastModifiedBy>
  <cp:revision>1</cp:revision>
  <dcterms:created xsi:type="dcterms:W3CDTF">2026-07-28T10:45:36Z</dcterms:created>
  <dcterms:modified xsi:type="dcterms:W3CDTF">2026-07-28T10:45:36Z</dcterms:modified>
</cp:coreProperties>
</file>