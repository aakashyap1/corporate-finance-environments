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58148d28e04ae2" /><Relationship Type="http://schemas.openxmlformats.org/officeDocument/2006/relationships/extended-properties" Target="/docProps/app.xml" Id="R03459e9398794d67" /><Relationship Type="http://schemas.openxmlformats.org/officeDocument/2006/relationships/officeDocument" Target="/ppt/presentation.xml" Id="R1b96b247282c4b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3ad842dae9405b"/>
  </p:sldMasterIdLst>
  <p:notesMasterIdLst>
    <p:notesMasterId xmlns:r="http://schemas.openxmlformats.org/officeDocument/2006/relationships" r:id="R18d7b86908254aab"/>
  </p:notesMasterIdLst>
  <p:sldIdLst>
    <p:sldId xmlns:r="http://schemas.openxmlformats.org/officeDocument/2006/relationships" id="256" r:id="R947a129a36f64c8f"/>
    <p:sldId xmlns:r="http://schemas.openxmlformats.org/officeDocument/2006/relationships" id="257" r:id="R943cff1bb1404364"/>
    <p:sldId xmlns:r="http://schemas.openxmlformats.org/officeDocument/2006/relationships" id="258" r:id="Ra53fe00abb864556"/>
    <p:sldId xmlns:r="http://schemas.openxmlformats.org/officeDocument/2006/relationships" id="259" r:id="R0df5111457d742d9"/>
    <p:sldId xmlns:r="http://schemas.openxmlformats.org/officeDocument/2006/relationships" id="260" r:id="R32d94b3304724e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fbcea579604016" /><Relationship Type="http://schemas.openxmlformats.org/officeDocument/2006/relationships/slideMaster" Target="/ppt/slideMasters/slideMaster1.xml" Id="R303ad842dae9405b" /><Relationship Type="http://schemas.openxmlformats.org/officeDocument/2006/relationships/notesMaster" Target="/ppt/notesMasters/notesMaster1.xml" Id="R18d7b86908254aab" /><Relationship Type="http://schemas.openxmlformats.org/officeDocument/2006/relationships/presProps" Target="/ppt/presProps.xml" Id="R3e70e1730f4e471d" /><Relationship Type="http://schemas.openxmlformats.org/officeDocument/2006/relationships/tableStyles" Target="/ppt/tableStyles.xml" Id="Rd4cdc36ff05149bf" /><Relationship Type="http://schemas.openxmlformats.org/officeDocument/2006/relationships/slide" Target="/ppt/slides/slide1.xml" Id="R947a129a36f64c8f" /><Relationship Type="http://schemas.openxmlformats.org/officeDocument/2006/relationships/slide" Target="/ppt/slides/slide2.xml" Id="R943cff1bb1404364" /><Relationship Type="http://schemas.openxmlformats.org/officeDocument/2006/relationships/slide" Target="/ppt/slides/slide3.xml" Id="Ra53fe00abb864556" /><Relationship Type="http://schemas.openxmlformats.org/officeDocument/2006/relationships/slide" Target="/ppt/slides/slide4.xml" Id="R0df5111457d742d9" /><Relationship Type="http://schemas.openxmlformats.org/officeDocument/2006/relationships/slide" Target="/ppt/slides/slide5.xml" Id="R32d94b3304724e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03dda399ccd4fe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9b7e23a08f9463a" /><Relationship Type="http://schemas.openxmlformats.org/officeDocument/2006/relationships/notesMaster" Target="/ppt/notesMasters/notesMaster1.xml" Id="Rb90a406e324244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ddad6a33254075" /><Relationship Type="http://schemas.openxmlformats.org/officeDocument/2006/relationships/notesMaster" Target="/ppt/notesMasters/notesMaster1.xml" Id="Rc0991b609d514e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fcab3ce20a4acf" /><Relationship Type="http://schemas.openxmlformats.org/officeDocument/2006/relationships/notesMaster" Target="/ppt/notesMasters/notesMaster1.xml" Id="Rccb5884e712949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910eb3c50a4e2e" /><Relationship Type="http://schemas.openxmlformats.org/officeDocument/2006/relationships/notesMaster" Target="/ppt/notesMasters/notesMaster1.xml" Id="R322f260c35dc420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6d67c37cd1a4f89" /><Relationship Type="http://schemas.openxmlformats.org/officeDocument/2006/relationships/notesMaster" Target="/ppt/notesMasters/notesMaster1.xml" Id="Rb1932dd275e147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environment/seed/sources/Shared/Finance/Treasury/Bank - covenants/2026 Q2 working/Q2 lender update - review working v3.pptx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environment/seed/sources/Shared/Finance/Treasury/Bank - covenants/2026 Q2 working/Q2 lender update - review working v3.pptx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environment/seed/sources/Shared/Finance/Treasury/Bank - covenants/2026 Q2 working/Q2 lender update - review working v3.pptx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environment/seed/sources/Shared/Finance/Treasury/Bank - covenants/2026 Q2 working/Q2 lender update - review working v3.pptx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environment/seed/sources/Shared/Finance/Treasury/Bank - covenants/2026 Q2 working/Q2 lender update - review working v3.pptx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da19882865466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7792e49354640ac" /><Relationship Type="http://schemas.openxmlformats.org/officeDocument/2006/relationships/slideLayout" Target="/ppt/slideLayouts/slideLayout1.xml" Id="R02df4f4f4fa5423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df4f4f4fa5423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f242b20e1f4cdd" /><Relationship Type="http://schemas.openxmlformats.org/officeDocument/2006/relationships/notesSlide" Target="/ppt/notesSlides/notesSlide1.xml" Id="R30bde84475f642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5ffc63a0224fa3" /><Relationship Type="http://schemas.openxmlformats.org/officeDocument/2006/relationships/notesSlide" Target="/ppt/notesSlides/notesSlide2.xml" Id="R64a015e625b948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4852a61a294cb1" /><Relationship Type="http://schemas.openxmlformats.org/officeDocument/2006/relationships/notesSlide" Target="/ppt/notesSlides/notesSlide3.xml" Id="R63006849d98f4b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074a766d8493e" /><Relationship Type="http://schemas.openxmlformats.org/officeDocument/2006/relationships/notesSlide" Target="/ppt/notesSlides/notesSlide4.xml" Id="R631ced328865446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2d30831bd4a90" /><Relationship Type="http://schemas.openxmlformats.org/officeDocument/2006/relationships/notesSlide" Target="/ppt/notesSlides/notesSlide5.xml" Id="Rda224ec5fc2c45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mpany">
            <a:extLst xmlns:a="http://schemas.openxmlformats.org/drawingml/2006/main">
              <a:ext uri="{FF2B5EF4-FFF2-40B4-BE49-F238E27FC236}">
                <a16:creationId xmlns:a16="http://schemas.microsoft.com/office/drawing/2014/main" id="{D30904BA-1E73-4B9B-A9E4-BFF61BC7B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3B33"/>
                </a:solidFill>
              </a:defRPr>
            </a:pPr>
            <a:r>
              <a:rPr sz="1050" b="1">
                <a:solidFill>
                  <a:srgbClr val="173B33"/>
                </a:solidFill>
              </a:rPr>
              <a:t>ALDER RIDGE MECHANICAL</a:t>
            </a:r>
          </a:p>
        </p:txBody>
      </p:sp>
      <p:sp>
        <p:nvSpPr>
          <p:cNvPr id="2" name="status">
            <a:extLst xmlns:a="http://schemas.openxmlformats.org/drawingml/2006/main">
              <a:ext uri="{FF2B5EF4-FFF2-40B4-BE49-F238E27FC236}">
                <a16:creationId xmlns:a16="http://schemas.microsoft.com/office/drawing/2014/main" id="{E3777CCF-84E9-499E-BD1E-246FB024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4350"/>
            <a:ext cx="3505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DRAFT / NOT SUBMITTED</a:t>
            </a:r>
          </a:p>
        </p:txBody>
      </p:sp>
      <p:sp>
        <p:nvSpPr>
          <p:cNvPr id="3" name="rule-72-92">
            <a:extLst xmlns:a="http://schemas.openxmlformats.org/drawingml/2006/main">
              <a:ext uri="{FF2B5EF4-FFF2-40B4-BE49-F238E27FC236}">
                <a16:creationId xmlns:a16="http://schemas.microsoft.com/office/drawing/2014/main" id="{3B19C639-3ECC-4E1F-9CE3-D2231053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3"/>
          </a:solidFill>
          <a:ln xmlns:a="http://schemas.openxmlformats.org/drawingml/2006/main" w="0">
            <a:solidFill>
              <a:srgbClr val="173B33"/>
            </a:solidFill>
            <a:prstDash val="solid"/>
          </a:ln>
        </p:spPr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D31B17B-D2E0-4699-A708-6C9F2F0C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89535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3B33"/>
                </a:solidFill>
              </a:defRPr>
            </a:pPr>
            <a:r>
              <a:rPr sz="4050" b="1">
                <a:solidFill>
                  <a:srgbClr val="173B33"/>
                </a:solidFill>
              </a:rPr>
              <a:t>Q2 Lender Update</a:t>
            </a:r>
          </a:p>
        </p:txBody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E9B4477B-C412-4140-B8E2-A578BEB4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781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52725"/>
                </a:solidFill>
              </a:defRPr>
            </a:pPr>
            <a:r>
              <a:rPr sz="1800" b="0">
                <a:solidFill>
                  <a:srgbClr val="252725"/>
                </a:solidFill>
              </a:rPr>
              <a:t>Working review deck — financial position, borrowing base and covenant support</a:t>
            </a:r>
          </a:p>
        </p:txBody>
      </p:sp>
      <p:sp>
        <p:nvSpPr>
          <p:cNvPr id="6" name="rule-72-486">
            <a:extLst xmlns:a="http://schemas.openxmlformats.org/drawingml/2006/main">
              <a:ext uri="{FF2B5EF4-FFF2-40B4-BE49-F238E27FC236}">
                <a16:creationId xmlns:a16="http://schemas.microsoft.com/office/drawing/2014/main" id="{28DA41DC-CD90-4204-B2B4-DC3F8AC9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3"/>
          </a:solidFill>
          <a:ln xmlns:a="http://schemas.openxmlformats.org/drawingml/2006/main" w="0">
            <a:solidFill>
              <a:srgbClr val="CFC4B3"/>
            </a:solidFill>
            <a:prstDash val="solid"/>
          </a:ln>
        </p:spPr>
      </p:sp>
      <p:sp>
        <p:nvSpPr>
          <p:cNvPr id="7" name="date">
            <a:extLst xmlns:a="http://schemas.openxmlformats.org/drawingml/2006/main">
              <a:ext uri="{FF2B5EF4-FFF2-40B4-BE49-F238E27FC236}">
                <a16:creationId xmlns:a16="http://schemas.microsoft.com/office/drawing/2014/main" id="{2D6A05F2-5C51-4D75-BEEA-EA95D0F8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761"/>
                </a:solidFill>
              </a:defRPr>
            </a:pPr>
            <a:r>
              <a:rPr sz="1350" b="0">
                <a:solidFill>
                  <a:srgbClr val="666761"/>
                </a:solidFill>
              </a:rPr>
              <a:t>July 2, 2026</a:t>
            </a:r>
          </a:p>
        </p:txBody>
      </p:sp>
    </p:spTree>
    <p:extLst>
      <p:ext uri="{BB962C8B-B14F-4D97-AF65-F5344CB8AC3E}">
        <p14:creationId xmlns:p14="http://schemas.microsoft.com/office/powerpoint/2010/main" val="15425495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842F2782-43CC-481B-B024-6716FC5F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3B33"/>
                </a:solidFill>
              </a:defRPr>
            </a:pPr>
            <a:r>
              <a:rPr sz="900" b="1">
                <a:solidFill>
                  <a:srgbClr val="173B33"/>
                </a:solidFill>
              </a:rPr>
              <a:t>Q2 LENDER UPDATE</a:t>
            </a:r>
          </a:p>
        </p:txBody>
      </p:sp>
      <p:sp>
        <p:nvSpPr>
          <p:cNvPr id="2" name="status">
            <a:extLst xmlns:a="http://schemas.openxmlformats.org/drawingml/2006/main">
              <a:ext uri="{FF2B5EF4-FFF2-40B4-BE49-F238E27FC236}">
                <a16:creationId xmlns:a16="http://schemas.microsoft.com/office/drawing/2014/main" id="{7EF2C79A-E70A-4F08-A4B4-4C75E20B8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DRAFT / NOT SUBMITTED</a:t>
            </a:r>
          </a:p>
        </p:txBody>
      </p:sp>
      <p:sp>
        <p:nvSpPr>
          <p:cNvPr id="3" name="rule-64-62">
            <a:extLst xmlns:a="http://schemas.openxmlformats.org/drawingml/2006/main">
              <a:ext uri="{FF2B5EF4-FFF2-40B4-BE49-F238E27FC236}">
                <a16:creationId xmlns:a16="http://schemas.microsoft.com/office/drawing/2014/main" id="{221D6E1D-15C1-43F4-BDA1-504C611B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3"/>
          </a:solidFill>
          <a:ln xmlns:a="http://schemas.openxmlformats.org/drawingml/2006/main" w="0">
            <a:solidFill>
              <a:srgbClr val="173B33"/>
            </a:solidFill>
            <a:prstDash val="solid"/>
          </a:ln>
        </p:spPr>
      </p:sp>
      <p:sp>
        <p:nvSpPr>
          <p:cNvPr id="4" name="rule-64-676">
            <a:extLst xmlns:a="http://schemas.openxmlformats.org/drawingml/2006/main">
              <a:ext uri="{FF2B5EF4-FFF2-40B4-BE49-F238E27FC236}">
                <a16:creationId xmlns:a16="http://schemas.microsoft.com/office/drawing/2014/main" id="{3AB352C5-7E97-471C-A6B2-0E6542E6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5" name="footer-date">
            <a:extLst xmlns:a="http://schemas.openxmlformats.org/drawingml/2006/main">
              <a:ext uri="{FF2B5EF4-FFF2-40B4-BE49-F238E27FC236}">
                <a16:creationId xmlns:a16="http://schemas.microsoft.com/office/drawing/2014/main" id="{009A01BB-2011-42D7-8A9D-8E8B0B95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July 2, 2026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BE036B59-1FC7-4162-ADDB-38D0C8D01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2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089BFACC-D00B-4CF7-AEF8-0CA5AB90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33"/>
                </a:solidFill>
              </a:defRPr>
            </a:pPr>
            <a:r>
              <a:rPr sz="2850" b="1">
                <a:solidFill>
                  <a:srgbClr val="173B33"/>
                </a:solidFill>
              </a:rPr>
              <a:t>Quarter-end status</a:t>
            </a:r>
          </a:p>
        </p:txBody>
      </p:sp>
      <p:sp>
        <p:nvSpPr>
          <p:cNvPr id="8" name="num-0">
            <a:extLst xmlns:a="http://schemas.openxmlformats.org/drawingml/2006/main">
              <a:ext uri="{FF2B5EF4-FFF2-40B4-BE49-F238E27FC236}">
                <a16:creationId xmlns:a16="http://schemas.microsoft.com/office/drawing/2014/main" id="{B6130169-0873-481E-854D-81B25FD1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01</a:t>
            </a:r>
          </a:p>
        </p:txBody>
      </p:sp>
      <p:sp>
        <p:nvSpPr>
          <p:cNvPr id="9" name="bullet-0">
            <a:extLst xmlns:a="http://schemas.openxmlformats.org/drawingml/2006/main">
              <a:ext uri="{FF2B5EF4-FFF2-40B4-BE49-F238E27FC236}">
                <a16:creationId xmlns:a16="http://schemas.microsoft.com/office/drawing/2014/main" id="{88591233-108C-4F4D-B59F-6CA116090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90700"/>
            <a:ext cx="582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June close remains pre-WIP</a:t>
            </a:r>
          </a:p>
        </p:txBody>
      </p:sp>
      <p:sp>
        <p:nvSpPr>
          <p:cNvPr id="10" name="rule-118-236">
            <a:extLst xmlns:a="http://schemas.openxmlformats.org/drawingml/2006/main">
              <a:ext uri="{FF2B5EF4-FFF2-40B4-BE49-F238E27FC236}">
                <a16:creationId xmlns:a16="http://schemas.microsoft.com/office/drawing/2014/main" id="{BBB16511-507E-4872-AAC0-B1C8B03EB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47900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1" name="num-1">
            <a:extLst xmlns:a="http://schemas.openxmlformats.org/drawingml/2006/main">
              <a:ext uri="{FF2B5EF4-FFF2-40B4-BE49-F238E27FC236}">
                <a16:creationId xmlns:a16="http://schemas.microsoft.com/office/drawing/2014/main" id="{3221B9B3-2F49-49E9-A962-D56DEEB2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02</a:t>
            </a:r>
          </a:p>
        </p:txBody>
      </p:sp>
      <p:sp>
        <p:nvSpPr>
          <p:cNvPr id="12" name="bullet-1">
            <a:extLst xmlns:a="http://schemas.openxmlformats.org/drawingml/2006/main">
              <a:ext uri="{FF2B5EF4-FFF2-40B4-BE49-F238E27FC236}">
                <a16:creationId xmlns:a16="http://schemas.microsoft.com/office/drawing/2014/main" id="{191AEDB9-439F-4CA1-BA82-B28671CA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33650"/>
            <a:ext cx="582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Posted accounting reports through June 30</a:t>
            </a:r>
          </a:p>
        </p:txBody>
      </p:sp>
      <p:sp>
        <p:nvSpPr>
          <p:cNvPr id="13" name="rule-118-314">
            <a:extLst xmlns:a="http://schemas.openxmlformats.org/drawingml/2006/main">
              <a:ext uri="{FF2B5EF4-FFF2-40B4-BE49-F238E27FC236}">
                <a16:creationId xmlns:a16="http://schemas.microsoft.com/office/drawing/2014/main" id="{82DF15CD-0E61-4B7D-BEF2-F5E76AD8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90850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4" name="num-2">
            <a:extLst xmlns:a="http://schemas.openxmlformats.org/drawingml/2006/main">
              <a:ext uri="{FF2B5EF4-FFF2-40B4-BE49-F238E27FC236}">
                <a16:creationId xmlns:a16="http://schemas.microsoft.com/office/drawing/2014/main" id="{3500C14F-A6D4-41EF-8C4D-2B16FEC66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03</a:t>
            </a:r>
          </a:p>
        </p:txBody>
      </p:sp>
      <p:sp>
        <p:nvSpPr>
          <p:cNvPr id="15" name="bullet-2">
            <a:extLst xmlns:a="http://schemas.openxmlformats.org/drawingml/2006/main">
              <a:ext uri="{FF2B5EF4-FFF2-40B4-BE49-F238E27FC236}">
                <a16:creationId xmlns:a16="http://schemas.microsoft.com/office/drawing/2014/main" id="{CFD7D197-4AEE-4C8A-94DF-836F45F54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582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Compliance certificate remains unsigned</a:t>
            </a:r>
          </a:p>
        </p:txBody>
      </p:sp>
      <p:sp>
        <p:nvSpPr>
          <p:cNvPr id="16" name="rule-118-392">
            <a:extLst xmlns:a="http://schemas.openxmlformats.org/drawingml/2006/main">
              <a:ext uri="{FF2B5EF4-FFF2-40B4-BE49-F238E27FC236}">
                <a16:creationId xmlns:a16="http://schemas.microsoft.com/office/drawing/2014/main" id="{5F79F67B-A214-4798-89EA-C68134E9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7" name="num-3">
            <a:extLst xmlns:a="http://schemas.openxmlformats.org/drawingml/2006/main">
              <a:ext uri="{FF2B5EF4-FFF2-40B4-BE49-F238E27FC236}">
                <a16:creationId xmlns:a16="http://schemas.microsoft.com/office/drawing/2014/main" id="{8EFE9303-960A-4C62-B50F-BBB80C83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04</a:t>
            </a:r>
          </a:p>
        </p:txBody>
      </p:sp>
      <p:sp>
        <p:nvSpPr>
          <p:cNvPr id="18" name="bullet-3">
            <a:extLst xmlns:a="http://schemas.openxmlformats.org/drawingml/2006/main">
              <a:ext uri="{FF2B5EF4-FFF2-40B4-BE49-F238E27FC236}">
                <a16:creationId xmlns:a16="http://schemas.microsoft.com/office/drawing/2014/main" id="{B97D6151-7BC6-47D2-81BD-1E50983F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582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Executed amendment controls</a:t>
            </a:r>
          </a:p>
        </p:txBody>
      </p:sp>
      <p:sp>
        <p:nvSpPr>
          <p:cNvPr id="1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E0497E4A-29C2-4EC6-9B92-BA7D57FF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859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PACKAGE STATUS</a:t>
            </a:r>
          </a:p>
        </p:txBody>
      </p:sp>
      <p:sp>
        <p:nvSpPr>
          <p:cNvPr id="20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32847B6F-A6DE-41A8-9366-A9B29DC69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3B33"/>
                </a:solidFill>
              </a:defRPr>
            </a:pPr>
            <a:r>
              <a:rPr sz="4800" b="1">
                <a:solidFill>
                  <a:srgbClr val="173B33"/>
                </a:solidFill>
              </a:rPr>
              <a:t>Draft</a:t>
            </a:r>
          </a:p>
        </p:txBody>
      </p:sp>
      <p:sp>
        <p:nvSpPr>
          <p:cNvPr id="21" name="rule-820-320">
            <a:extLst xmlns:a="http://schemas.openxmlformats.org/drawingml/2006/main">
              <a:ext uri="{FF2B5EF4-FFF2-40B4-BE49-F238E27FC236}">
                <a16:creationId xmlns:a16="http://schemas.microsoft.com/office/drawing/2014/main" id="{9A61747F-F07F-41F6-97CD-A3154F8B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3"/>
          </a:solidFill>
          <a:ln xmlns:a="http://schemas.openxmlformats.org/drawingml/2006/main" w="0">
            <a:solidFill>
              <a:srgbClr val="CFC4B3"/>
            </a:solidFill>
            <a:prstDash val="solid"/>
          </a:ln>
        </p:spPr>
      </p:sp>
      <p:sp>
        <p:nvSpPr>
          <p:cNvPr id="22" name="metric-note">
            <a:extLst xmlns:a="http://schemas.openxmlformats.org/drawingml/2006/main">
              <a:ext uri="{FF2B5EF4-FFF2-40B4-BE49-F238E27FC236}">
                <a16:creationId xmlns:a16="http://schemas.microsoft.com/office/drawing/2014/main" id="{17A4481D-43E2-447C-A5D8-C583B448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7660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725"/>
                </a:solidFill>
              </a:defRPr>
            </a:pPr>
            <a:r>
              <a:rPr sz="1275" b="0">
                <a:solidFill>
                  <a:srgbClr val="252725"/>
                </a:solidFill>
              </a:rPr>
              <a:t>Do not represent this working deck or its calculations as lender-submitted.</a:t>
            </a:r>
          </a:p>
        </p:txBody>
      </p:sp>
    </p:spTree>
    <p:extLst>
      <p:ext uri="{BB962C8B-B14F-4D97-AF65-F5344CB8AC3E}">
        <p14:creationId xmlns:p14="http://schemas.microsoft.com/office/powerpoint/2010/main" val="4831220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5B44984D-B123-4A02-8F07-39110039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3B33"/>
                </a:solidFill>
              </a:defRPr>
            </a:pPr>
            <a:r>
              <a:rPr sz="900" b="1">
                <a:solidFill>
                  <a:srgbClr val="173B33"/>
                </a:solidFill>
              </a:rPr>
              <a:t>Q2 LENDER UPDATE</a:t>
            </a:r>
          </a:p>
        </p:txBody>
      </p:sp>
      <p:sp>
        <p:nvSpPr>
          <p:cNvPr id="2" name="status">
            <a:extLst xmlns:a="http://schemas.openxmlformats.org/drawingml/2006/main">
              <a:ext uri="{FF2B5EF4-FFF2-40B4-BE49-F238E27FC236}">
                <a16:creationId xmlns:a16="http://schemas.microsoft.com/office/drawing/2014/main" id="{32227871-8B49-4AC4-8637-CE52316B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DRAFT / NOT SUBMITTED</a:t>
            </a:r>
          </a:p>
        </p:txBody>
      </p:sp>
      <p:sp>
        <p:nvSpPr>
          <p:cNvPr id="3" name="rule-64-62">
            <a:extLst xmlns:a="http://schemas.openxmlformats.org/drawingml/2006/main">
              <a:ext uri="{FF2B5EF4-FFF2-40B4-BE49-F238E27FC236}">
                <a16:creationId xmlns:a16="http://schemas.microsoft.com/office/drawing/2014/main" id="{DDF29E93-8C7C-4792-9037-38C721BA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3"/>
          </a:solidFill>
          <a:ln xmlns:a="http://schemas.openxmlformats.org/drawingml/2006/main" w="0">
            <a:solidFill>
              <a:srgbClr val="173B33"/>
            </a:solidFill>
            <a:prstDash val="solid"/>
          </a:ln>
        </p:spPr>
      </p:sp>
      <p:sp>
        <p:nvSpPr>
          <p:cNvPr id="4" name="rule-64-676">
            <a:extLst xmlns:a="http://schemas.openxmlformats.org/drawingml/2006/main">
              <a:ext uri="{FF2B5EF4-FFF2-40B4-BE49-F238E27FC236}">
                <a16:creationId xmlns:a16="http://schemas.microsoft.com/office/drawing/2014/main" id="{86BBD203-79AF-4879-BAC2-B166FADF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5" name="footer-date">
            <a:extLst xmlns:a="http://schemas.openxmlformats.org/drawingml/2006/main">
              <a:ext uri="{FF2B5EF4-FFF2-40B4-BE49-F238E27FC236}">
                <a16:creationId xmlns:a16="http://schemas.microsoft.com/office/drawing/2014/main" id="{EB725DCA-8B4C-4C97-9150-595FB24E9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July 2, 2026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8769482B-F4F3-4086-A57B-CC876DC9C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3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B85003DF-3600-4579-B45E-EA4D430B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33"/>
                </a:solidFill>
              </a:defRPr>
            </a:pPr>
            <a:r>
              <a:rPr sz="2850" b="1">
                <a:solidFill>
                  <a:srgbClr val="173B33"/>
                </a:solidFill>
              </a:rPr>
              <a:t>Borrowing-base workplan</a:t>
            </a:r>
          </a:p>
        </p:txBody>
      </p:sp>
      <p:sp>
        <p:nvSpPr>
          <p:cNvPr id="8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9A4F4584-CB51-4ABA-8527-55DB9C87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90700"/>
            <a:ext cx="333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POPULATION</a:t>
            </a:r>
          </a:p>
        </p:txBody>
      </p:sp>
      <p:sp>
        <p:nvSpPr>
          <p:cNvPr id="9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82D55C07-E0A3-462E-800B-849ED2F5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057400"/>
            <a:ext cx="3333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3B33"/>
                </a:solidFill>
              </a:defRPr>
            </a:pPr>
            <a:r>
              <a:rPr sz="4350" b="1">
                <a:solidFill>
                  <a:srgbClr val="173B33"/>
                </a:solidFill>
              </a:rPr>
              <a:t>1061</a:t>
            </a:r>
          </a:p>
        </p:txBody>
      </p:sp>
      <p:sp>
        <p:nvSpPr>
          <p:cNvPr id="10" name="rule-68-310">
            <a:extLst xmlns:a="http://schemas.openxmlformats.org/drawingml/2006/main">
              <a:ext uri="{FF2B5EF4-FFF2-40B4-BE49-F238E27FC236}">
                <a16:creationId xmlns:a16="http://schemas.microsoft.com/office/drawing/2014/main" id="{F3B38342-F804-48DD-9265-901343B36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3"/>
          </a:solidFill>
          <a:ln xmlns:a="http://schemas.openxmlformats.org/drawingml/2006/main" w="0">
            <a:solidFill>
              <a:srgbClr val="CFC4B3"/>
            </a:solidFill>
            <a:prstDash val="solid"/>
          </a:ln>
        </p:spPr>
      </p:sp>
      <p:sp>
        <p:nvSpPr>
          <p:cNvPr id="11" name="metric-note">
            <a:extLst xmlns:a="http://schemas.openxmlformats.org/drawingml/2006/main">
              <a:ext uri="{FF2B5EF4-FFF2-40B4-BE49-F238E27FC236}">
                <a16:creationId xmlns:a16="http://schemas.microsoft.com/office/drawing/2014/main" id="{0CC4C1E6-4C83-48FE-BBC0-206C9475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8135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725"/>
                </a:solidFill>
              </a:defRPr>
            </a:pPr>
            <a:r>
              <a:rPr sz="1275" b="0">
                <a:solidFill>
                  <a:srgbClr val="252725"/>
                </a:solidFill>
              </a:rPr>
              <a:t>The eligibility exhibit and executed amendment define the calculation order.</a:t>
            </a:r>
          </a:p>
        </p:txBody>
      </p:sp>
      <p:sp>
        <p:nvSpPr>
          <p:cNvPr id="12" name="num-0">
            <a:extLst xmlns:a="http://schemas.openxmlformats.org/drawingml/2006/main">
              <a:ext uri="{FF2B5EF4-FFF2-40B4-BE49-F238E27FC236}">
                <a16:creationId xmlns:a16="http://schemas.microsoft.com/office/drawing/2014/main" id="{920403D3-B70B-4B94-A17F-4170C942B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33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01</a:t>
            </a:r>
          </a:p>
        </p:txBody>
      </p:sp>
      <p:sp>
        <p:nvSpPr>
          <p:cNvPr id="13" name="bullet-0">
            <a:extLst xmlns:a="http://schemas.openxmlformats.org/drawingml/2006/main">
              <a:ext uri="{FF2B5EF4-FFF2-40B4-BE49-F238E27FC236}">
                <a16:creationId xmlns:a16="http://schemas.microsoft.com/office/drawing/2014/main" id="{C57AF535-983C-40BB-8ACE-E475A827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1733550"/>
            <a:ext cx="573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Invoice-level open AR population</a:t>
            </a:r>
          </a:p>
        </p:txBody>
      </p:sp>
      <p:sp>
        <p:nvSpPr>
          <p:cNvPr id="14" name="rule-558-230">
            <a:extLst xmlns:a="http://schemas.openxmlformats.org/drawingml/2006/main">
              <a:ext uri="{FF2B5EF4-FFF2-40B4-BE49-F238E27FC236}">
                <a16:creationId xmlns:a16="http://schemas.microsoft.com/office/drawing/2014/main" id="{201F0A85-4CFC-4488-ABE6-0A50D193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90750"/>
            <a:ext cx="573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5" name="num-1">
            <a:extLst xmlns:a="http://schemas.openxmlformats.org/drawingml/2006/main">
              <a:ext uri="{FF2B5EF4-FFF2-40B4-BE49-F238E27FC236}">
                <a16:creationId xmlns:a16="http://schemas.microsoft.com/office/drawing/2014/main" id="{A877702B-85AF-44BA-A86A-5CB06BAAA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514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02</a:t>
            </a:r>
          </a:p>
        </p:txBody>
      </p:sp>
      <p:sp>
        <p:nvSpPr>
          <p:cNvPr id="16" name="bullet-1">
            <a:extLst xmlns:a="http://schemas.openxmlformats.org/drawingml/2006/main">
              <a:ext uri="{FF2B5EF4-FFF2-40B4-BE49-F238E27FC236}">
                <a16:creationId xmlns:a16="http://schemas.microsoft.com/office/drawing/2014/main" id="{9EC1C86A-D67B-4BDD-A6F0-0BCA11293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514600"/>
            <a:ext cx="573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Eligibility exclusions retained</a:t>
            </a:r>
          </a:p>
        </p:txBody>
      </p:sp>
      <p:sp>
        <p:nvSpPr>
          <p:cNvPr id="17" name="rule-558-312">
            <a:extLst xmlns:a="http://schemas.openxmlformats.org/drawingml/2006/main">
              <a:ext uri="{FF2B5EF4-FFF2-40B4-BE49-F238E27FC236}">
                <a16:creationId xmlns:a16="http://schemas.microsoft.com/office/drawing/2014/main" id="{B0D5BB23-D1B9-417E-A771-987E61B7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971800"/>
            <a:ext cx="573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8" name="num-2">
            <a:extLst xmlns:a="http://schemas.openxmlformats.org/drawingml/2006/main">
              <a:ext uri="{FF2B5EF4-FFF2-40B4-BE49-F238E27FC236}">
                <a16:creationId xmlns:a16="http://schemas.microsoft.com/office/drawing/2014/main" id="{85A17DAE-AAD0-40EA-B9FC-590C482E9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95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03</a:t>
            </a:r>
          </a:p>
        </p:txBody>
      </p:sp>
      <p:sp>
        <p:nvSpPr>
          <p:cNvPr id="19" name="bullet-2">
            <a:extLst xmlns:a="http://schemas.openxmlformats.org/drawingml/2006/main">
              <a:ext uri="{FF2B5EF4-FFF2-40B4-BE49-F238E27FC236}">
                <a16:creationId xmlns:a16="http://schemas.microsoft.com/office/drawing/2014/main" id="{90FB5119-B0BD-46C6-8723-36879573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295650"/>
            <a:ext cx="573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25% customer concentration cap</a:t>
            </a:r>
          </a:p>
        </p:txBody>
      </p:sp>
      <p:sp>
        <p:nvSpPr>
          <p:cNvPr id="20" name="rule-558-394">
            <a:extLst xmlns:a="http://schemas.openxmlformats.org/drawingml/2006/main">
              <a:ext uri="{FF2B5EF4-FFF2-40B4-BE49-F238E27FC236}">
                <a16:creationId xmlns:a16="http://schemas.microsoft.com/office/drawing/2014/main" id="{E7244414-C03E-4281-8F46-5F1D49401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752850"/>
            <a:ext cx="5734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21" name="num-3">
            <a:extLst xmlns:a="http://schemas.openxmlformats.org/drawingml/2006/main">
              <a:ext uri="{FF2B5EF4-FFF2-40B4-BE49-F238E27FC236}">
                <a16:creationId xmlns:a16="http://schemas.microsoft.com/office/drawing/2014/main" id="{E7975660-4E72-4D9D-855D-642760EC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76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04</a:t>
            </a:r>
          </a:p>
        </p:txBody>
      </p:sp>
      <p:sp>
        <p:nvSpPr>
          <p:cNvPr id="22" name="bullet-3">
            <a:extLst xmlns:a="http://schemas.openxmlformats.org/drawingml/2006/main">
              <a:ext uri="{FF2B5EF4-FFF2-40B4-BE49-F238E27FC236}">
                <a16:creationId xmlns:a16="http://schemas.microsoft.com/office/drawing/2014/main" id="{E38BA464-A5EA-4D2D-A094-2D5A33CC1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076700"/>
            <a:ext cx="573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80% advance applied after cap</a:t>
            </a:r>
          </a:p>
        </p:txBody>
      </p:sp>
    </p:spTree>
    <p:extLst>
      <p:ext uri="{BB962C8B-B14F-4D97-AF65-F5344CB8AC3E}">
        <p14:creationId xmlns:p14="http://schemas.microsoft.com/office/powerpoint/2010/main" val="108700135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4CE456A7-FFCC-4950-8AC5-95ECD727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3B33"/>
                </a:solidFill>
              </a:defRPr>
            </a:pPr>
            <a:r>
              <a:rPr sz="900" b="1">
                <a:solidFill>
                  <a:srgbClr val="173B33"/>
                </a:solidFill>
              </a:rPr>
              <a:t>Q2 LENDER UPDATE</a:t>
            </a:r>
          </a:p>
        </p:txBody>
      </p:sp>
      <p:sp>
        <p:nvSpPr>
          <p:cNvPr id="2" name="status">
            <a:extLst xmlns:a="http://schemas.openxmlformats.org/drawingml/2006/main">
              <a:ext uri="{FF2B5EF4-FFF2-40B4-BE49-F238E27FC236}">
                <a16:creationId xmlns:a16="http://schemas.microsoft.com/office/drawing/2014/main" id="{936697DE-2F3F-4FCE-A70B-A7A64E65C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DRAFT / NOT SUBMITTED</a:t>
            </a:r>
          </a:p>
        </p:txBody>
      </p:sp>
      <p:sp>
        <p:nvSpPr>
          <p:cNvPr id="3" name="rule-64-62">
            <a:extLst xmlns:a="http://schemas.openxmlformats.org/drawingml/2006/main">
              <a:ext uri="{FF2B5EF4-FFF2-40B4-BE49-F238E27FC236}">
                <a16:creationId xmlns:a16="http://schemas.microsoft.com/office/drawing/2014/main" id="{DE0ABFFB-27A5-43C5-AA25-0A641F14C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3"/>
          </a:solidFill>
          <a:ln xmlns:a="http://schemas.openxmlformats.org/drawingml/2006/main" w="0">
            <a:solidFill>
              <a:srgbClr val="173B33"/>
            </a:solidFill>
            <a:prstDash val="solid"/>
          </a:ln>
        </p:spPr>
      </p:sp>
      <p:sp>
        <p:nvSpPr>
          <p:cNvPr id="4" name="rule-64-676">
            <a:extLst xmlns:a="http://schemas.openxmlformats.org/drawingml/2006/main">
              <a:ext uri="{FF2B5EF4-FFF2-40B4-BE49-F238E27FC236}">
                <a16:creationId xmlns:a16="http://schemas.microsoft.com/office/drawing/2014/main" id="{8377F7DA-BCAD-4F57-B0BD-76B8DF92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5" name="footer-date">
            <a:extLst xmlns:a="http://schemas.openxmlformats.org/drawingml/2006/main">
              <a:ext uri="{FF2B5EF4-FFF2-40B4-BE49-F238E27FC236}">
                <a16:creationId xmlns:a16="http://schemas.microsoft.com/office/drawing/2014/main" id="{B5ED7F47-4D4B-4FEC-972B-17A5608F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July 2, 2026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559975F-F24B-4114-99B2-52B224AF1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4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8C57A8B4-3E24-4622-96FB-D270953A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33"/>
                </a:solidFill>
              </a:defRPr>
            </a:pPr>
            <a:r>
              <a:rPr sz="2850" b="1">
                <a:solidFill>
                  <a:srgbClr val="173B33"/>
                </a:solidFill>
              </a:rPr>
              <a:t>Debt and liquidity</a:t>
            </a:r>
          </a:p>
        </p:txBody>
      </p:sp>
      <p:sp>
        <p:nvSpPr>
          <p:cNvPr id="8" name="metric-inline-label">
            <a:extLst xmlns:a="http://schemas.openxmlformats.org/drawingml/2006/main">
              <a:ext uri="{FF2B5EF4-FFF2-40B4-BE49-F238E27FC236}">
                <a16:creationId xmlns:a16="http://schemas.microsoft.com/office/drawing/2014/main" id="{2DE6CBCA-1AC5-48B5-93D2-E9DAEF35E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9810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CASH</a:t>
            </a:r>
          </a:p>
        </p:txBody>
      </p:sp>
      <p:sp>
        <p:nvSpPr>
          <p:cNvPr id="9" name="metric-inline-value">
            <a:extLst xmlns:a="http://schemas.openxmlformats.org/drawingml/2006/main">
              <a:ext uri="{FF2B5EF4-FFF2-40B4-BE49-F238E27FC236}">
                <a16:creationId xmlns:a16="http://schemas.microsoft.com/office/drawing/2014/main" id="{42986D5B-BF93-441F-95E3-4DF2D0EEB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838200"/>
            <a:ext cx="180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173B33"/>
                </a:solidFill>
              </a:defRPr>
            </a:pPr>
            <a:r>
              <a:rPr sz="3150" b="1">
                <a:solidFill>
                  <a:srgbClr val="173B33"/>
                </a:solidFill>
              </a:rPr>
              <a:t>$3.7m</a:t>
            </a:r>
          </a:p>
        </p:txBody>
      </p:sp>
      <p:sp>
        <p:nvSpPr>
          <p:cNvPr id="10" name="rule-64-160">
            <a:extLst xmlns:a="http://schemas.openxmlformats.org/drawingml/2006/main">
              <a:ext uri="{FF2B5EF4-FFF2-40B4-BE49-F238E27FC236}">
                <a16:creationId xmlns:a16="http://schemas.microsoft.com/office/drawing/2014/main" id="{FAE2CEA4-154A-4AAB-99DB-78571D6C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1" name="num-0">
            <a:extLst xmlns:a="http://schemas.openxmlformats.org/drawingml/2006/main">
              <a:ext uri="{FF2B5EF4-FFF2-40B4-BE49-F238E27FC236}">
                <a16:creationId xmlns:a16="http://schemas.microsoft.com/office/drawing/2014/main" id="{EBA8F9FD-C467-429D-8121-8898F6ED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193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01</a:t>
            </a:r>
          </a:p>
        </p:txBody>
      </p:sp>
      <p:sp>
        <p:nvSpPr>
          <p:cNvPr id="12" name="bullet-0">
            <a:extLst xmlns:a="http://schemas.openxmlformats.org/drawingml/2006/main">
              <a:ext uri="{FF2B5EF4-FFF2-40B4-BE49-F238E27FC236}">
                <a16:creationId xmlns:a16="http://schemas.microsoft.com/office/drawing/2014/main" id="{D6516A86-A68A-43D2-A1FF-62D6312E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019300"/>
            <a:ext cx="868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Equipment notes by maturity</a:t>
            </a:r>
          </a:p>
        </p:txBody>
      </p:sp>
      <p:sp>
        <p:nvSpPr>
          <p:cNvPr id="13" name="rule-208-260">
            <a:extLst xmlns:a="http://schemas.openxmlformats.org/drawingml/2006/main">
              <a:ext uri="{FF2B5EF4-FFF2-40B4-BE49-F238E27FC236}">
                <a16:creationId xmlns:a16="http://schemas.microsoft.com/office/drawing/2014/main" id="{49488EBD-77ED-447A-BDD6-F5F37ADB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476500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4" name="num-1">
            <a:extLst xmlns:a="http://schemas.openxmlformats.org/drawingml/2006/main">
              <a:ext uri="{FF2B5EF4-FFF2-40B4-BE49-F238E27FC236}">
                <a16:creationId xmlns:a16="http://schemas.microsoft.com/office/drawing/2014/main" id="{261E6D6F-99B4-4664-9F05-A9CBC73A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384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02</a:t>
            </a:r>
          </a:p>
        </p:txBody>
      </p:sp>
      <p:sp>
        <p:nvSpPr>
          <p:cNvPr id="15" name="bullet-1">
            <a:extLst xmlns:a="http://schemas.openxmlformats.org/drawingml/2006/main">
              <a:ext uri="{FF2B5EF4-FFF2-40B4-BE49-F238E27FC236}">
                <a16:creationId xmlns:a16="http://schemas.microsoft.com/office/drawing/2014/main" id="{F6D80767-B0E6-43F4-A752-53C33B5D1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2838450"/>
            <a:ext cx="868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No base-case revolver draw</a:t>
            </a:r>
          </a:p>
        </p:txBody>
      </p:sp>
      <p:sp>
        <p:nvSpPr>
          <p:cNvPr id="16" name="rule-208-346">
            <a:extLst xmlns:a="http://schemas.openxmlformats.org/drawingml/2006/main">
              <a:ext uri="{FF2B5EF4-FFF2-40B4-BE49-F238E27FC236}">
                <a16:creationId xmlns:a16="http://schemas.microsoft.com/office/drawing/2014/main" id="{A87B8B76-C5C6-48FD-96AC-53217FFA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295650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7" name="num-2">
            <a:extLst xmlns:a="http://schemas.openxmlformats.org/drawingml/2006/main">
              <a:ext uri="{FF2B5EF4-FFF2-40B4-BE49-F238E27FC236}">
                <a16:creationId xmlns:a16="http://schemas.microsoft.com/office/drawing/2014/main" id="{7DB7DC0C-BBDE-4065-A9A1-BF33CE7D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57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03</a:t>
            </a:r>
          </a:p>
        </p:txBody>
      </p:sp>
      <p:sp>
        <p:nvSpPr>
          <p:cNvPr id="18" name="bullet-2">
            <a:extLst xmlns:a="http://schemas.openxmlformats.org/drawingml/2006/main">
              <a:ext uri="{FF2B5EF4-FFF2-40B4-BE49-F238E27FC236}">
                <a16:creationId xmlns:a16="http://schemas.microsoft.com/office/drawing/2014/main" id="{66CEAC9C-2869-49EF-83FA-2133C4910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657600"/>
            <a:ext cx="868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Cash tied to June 30 accounting</a:t>
            </a:r>
          </a:p>
        </p:txBody>
      </p:sp>
      <p:sp>
        <p:nvSpPr>
          <p:cNvPr id="19" name="rule-208-432">
            <a:extLst xmlns:a="http://schemas.openxmlformats.org/drawingml/2006/main">
              <a:ext uri="{FF2B5EF4-FFF2-40B4-BE49-F238E27FC236}">
                <a16:creationId xmlns:a16="http://schemas.microsoft.com/office/drawing/2014/main" id="{370D21C3-FC87-41DB-8D6D-30D779AF5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14800"/>
            <a:ext cx="8686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20" name="num-3">
            <a:extLst xmlns:a="http://schemas.openxmlformats.org/drawingml/2006/main">
              <a:ext uri="{FF2B5EF4-FFF2-40B4-BE49-F238E27FC236}">
                <a16:creationId xmlns:a16="http://schemas.microsoft.com/office/drawing/2014/main" id="{856EB126-138E-4589-ADE8-13BAD2E2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04</a:t>
            </a:r>
          </a:p>
        </p:txBody>
      </p:sp>
      <p:sp>
        <p:nvSpPr>
          <p:cNvPr id="21" name="bullet-3">
            <a:extLst xmlns:a="http://schemas.openxmlformats.org/drawingml/2006/main">
              <a:ext uri="{FF2B5EF4-FFF2-40B4-BE49-F238E27FC236}">
                <a16:creationId xmlns:a16="http://schemas.microsoft.com/office/drawing/2014/main" id="{F321CA56-AD3D-44F4-A288-DFC1E9C6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476750"/>
            <a:ext cx="8686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Equipment proposal remains non-binding</a:t>
            </a:r>
          </a:p>
        </p:txBody>
      </p:sp>
      <p:sp>
        <p:nvSpPr>
          <p:cNvPr id="22" name="note">
            <a:extLst xmlns:a="http://schemas.openxmlformats.org/drawingml/2006/main">
              <a:ext uri="{FF2B5EF4-FFF2-40B4-BE49-F238E27FC236}">
                <a16:creationId xmlns:a16="http://schemas.microsoft.com/office/drawing/2014/main" id="{0FF8E929-3794-4054-8D89-593D61C3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67350"/>
            <a:ext cx="885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6761"/>
                </a:solidFill>
              </a:defRPr>
            </a:pPr>
            <a:r>
              <a:rPr sz="1350" b="0">
                <a:solidFill>
                  <a:srgbClr val="666761"/>
                </a:solidFill>
              </a:rPr>
              <a:t>Borrowing availability is not the same as cash and remains subject to facility terms.</a:t>
            </a:r>
          </a:p>
        </p:txBody>
      </p:sp>
    </p:spTree>
    <p:extLst>
      <p:ext uri="{BB962C8B-B14F-4D97-AF65-F5344CB8AC3E}">
        <p14:creationId xmlns:p14="http://schemas.microsoft.com/office/powerpoint/2010/main" val="210967968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eyebrow">
            <a:extLst xmlns:a="http://schemas.openxmlformats.org/drawingml/2006/main">
              <a:ext uri="{FF2B5EF4-FFF2-40B4-BE49-F238E27FC236}">
                <a16:creationId xmlns:a16="http://schemas.microsoft.com/office/drawing/2014/main" id="{21D7A0CD-A4DB-47AC-A0BF-8F57A419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73B33"/>
                </a:solidFill>
              </a:defRPr>
            </a:pPr>
            <a:r>
              <a:rPr sz="900" b="1">
                <a:solidFill>
                  <a:srgbClr val="173B33"/>
                </a:solidFill>
              </a:rPr>
              <a:t>Q2 LENDER UPDATE</a:t>
            </a:r>
          </a:p>
        </p:txBody>
      </p:sp>
      <p:sp>
        <p:nvSpPr>
          <p:cNvPr id="2" name="status">
            <a:extLst xmlns:a="http://schemas.openxmlformats.org/drawingml/2006/main">
              <a:ext uri="{FF2B5EF4-FFF2-40B4-BE49-F238E27FC236}">
                <a16:creationId xmlns:a16="http://schemas.microsoft.com/office/drawing/2014/main" id="{57606F00-DE80-48E8-A763-5CCC3298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"/>
            <a:ext cx="320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DRAFT / NOT SUBMITTED</a:t>
            </a:r>
          </a:p>
        </p:txBody>
      </p:sp>
      <p:sp>
        <p:nvSpPr>
          <p:cNvPr id="3" name="rule-64-62">
            <a:extLst xmlns:a="http://schemas.openxmlformats.org/drawingml/2006/main">
              <a:ext uri="{FF2B5EF4-FFF2-40B4-BE49-F238E27FC236}">
                <a16:creationId xmlns:a16="http://schemas.microsoft.com/office/drawing/2014/main" id="{1648D73E-0B35-441E-A61F-8A8D8086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33"/>
          </a:solidFill>
          <a:ln xmlns:a="http://schemas.openxmlformats.org/drawingml/2006/main" w="0">
            <a:solidFill>
              <a:srgbClr val="173B33"/>
            </a:solidFill>
            <a:prstDash val="solid"/>
          </a:ln>
        </p:spPr>
      </p:sp>
      <p:sp>
        <p:nvSpPr>
          <p:cNvPr id="4" name="rule-64-676">
            <a:extLst xmlns:a="http://schemas.openxmlformats.org/drawingml/2006/main">
              <a:ext uri="{FF2B5EF4-FFF2-40B4-BE49-F238E27FC236}">
                <a16:creationId xmlns:a16="http://schemas.microsoft.com/office/drawing/2014/main" id="{1FE84DF9-F7F5-4CE1-BF0E-2DFDD3D92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5" name="footer-date">
            <a:extLst xmlns:a="http://schemas.openxmlformats.org/drawingml/2006/main">
              <a:ext uri="{FF2B5EF4-FFF2-40B4-BE49-F238E27FC236}">
                <a16:creationId xmlns:a16="http://schemas.microsoft.com/office/drawing/2014/main" id="{38F397BF-119C-4A09-8606-2E7DAF69A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3810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July 2, 2026</a:t>
            </a:r>
          </a:p>
        </p:txBody>
      </p:sp>
      <p:sp>
        <p:nvSpPr>
          <p:cNvPr id="6" name="footer-number">
            <a:extLst xmlns:a="http://schemas.openxmlformats.org/drawingml/2006/main">
              <a:ext uri="{FF2B5EF4-FFF2-40B4-BE49-F238E27FC236}">
                <a16:creationId xmlns:a16="http://schemas.microsoft.com/office/drawing/2014/main" id="{6477A5FE-8E61-42FF-8CB8-C3E3485FD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6761"/>
                </a:solidFill>
              </a:defRPr>
            </a:pPr>
            <a:r>
              <a:rPr sz="825" b="0">
                <a:solidFill>
                  <a:srgbClr val="666761"/>
                </a:solidFill>
              </a:rPr>
              <a:t>5</a:t>
            </a:r>
          </a:p>
        </p:txBody>
      </p:sp>
      <p:sp>
        <p:nvSpPr>
          <p:cNvPr id="7" name="title">
            <a:extLst xmlns:a="http://schemas.openxmlformats.org/drawingml/2006/main">
              <a:ext uri="{FF2B5EF4-FFF2-40B4-BE49-F238E27FC236}">
                <a16:creationId xmlns:a16="http://schemas.microsoft.com/office/drawing/2014/main" id="{F1CE3A79-EFBA-47FB-BA50-9173FD3E4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952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3B33"/>
                </a:solidFill>
              </a:defRPr>
            </a:pPr>
            <a:r>
              <a:rPr sz="2850" b="1">
                <a:solidFill>
                  <a:srgbClr val="173B33"/>
                </a:solidFill>
              </a:rPr>
              <a:t>Covenant calculation status</a:t>
            </a:r>
          </a:p>
        </p:txBody>
      </p:sp>
      <p:sp>
        <p:nvSpPr>
          <p:cNvPr id="8" name="num-0">
            <a:extLst xmlns:a="http://schemas.openxmlformats.org/drawingml/2006/main">
              <a:ext uri="{FF2B5EF4-FFF2-40B4-BE49-F238E27FC236}">
                <a16:creationId xmlns:a16="http://schemas.microsoft.com/office/drawing/2014/main" id="{C4554C90-A4AD-4EAD-AEC4-EFF47FA5D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01</a:t>
            </a:r>
          </a:p>
        </p:txBody>
      </p:sp>
      <p:sp>
        <p:nvSpPr>
          <p:cNvPr id="9" name="bullet-0">
            <a:extLst xmlns:a="http://schemas.openxmlformats.org/drawingml/2006/main">
              <a:ext uri="{FF2B5EF4-FFF2-40B4-BE49-F238E27FC236}">
                <a16:creationId xmlns:a16="http://schemas.microsoft.com/office/drawing/2014/main" id="{9D4906ED-D7D1-4298-BD4D-699A626F5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90700"/>
            <a:ext cx="582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Leverage refresh pending</a:t>
            </a:r>
          </a:p>
        </p:txBody>
      </p:sp>
      <p:sp>
        <p:nvSpPr>
          <p:cNvPr id="10" name="rule-118-236">
            <a:extLst xmlns:a="http://schemas.openxmlformats.org/drawingml/2006/main">
              <a:ext uri="{FF2B5EF4-FFF2-40B4-BE49-F238E27FC236}">
                <a16:creationId xmlns:a16="http://schemas.microsoft.com/office/drawing/2014/main" id="{16D7448E-9696-468C-8C9A-ABDB4F7BA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247900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1" name="num-1">
            <a:extLst xmlns:a="http://schemas.openxmlformats.org/drawingml/2006/main">
              <a:ext uri="{FF2B5EF4-FFF2-40B4-BE49-F238E27FC236}">
                <a16:creationId xmlns:a16="http://schemas.microsoft.com/office/drawing/2014/main" id="{5292EBEE-E258-46D3-A3F9-3E89E4A0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336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02</a:t>
            </a:r>
          </a:p>
        </p:txBody>
      </p:sp>
      <p:sp>
        <p:nvSpPr>
          <p:cNvPr id="12" name="bullet-1">
            <a:extLst xmlns:a="http://schemas.openxmlformats.org/drawingml/2006/main">
              <a:ext uri="{FF2B5EF4-FFF2-40B4-BE49-F238E27FC236}">
                <a16:creationId xmlns:a16="http://schemas.microsoft.com/office/drawing/2014/main" id="{A99D913A-24A0-4F35-8380-7015B81F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33650"/>
            <a:ext cx="582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FCCR refresh pending</a:t>
            </a:r>
          </a:p>
        </p:txBody>
      </p:sp>
      <p:sp>
        <p:nvSpPr>
          <p:cNvPr id="13" name="rule-118-314">
            <a:extLst xmlns:a="http://schemas.openxmlformats.org/drawingml/2006/main">
              <a:ext uri="{FF2B5EF4-FFF2-40B4-BE49-F238E27FC236}">
                <a16:creationId xmlns:a16="http://schemas.microsoft.com/office/drawing/2014/main" id="{B72A07B2-94AA-48D5-85AF-6D57C4AE7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90850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4" name="num-2">
            <a:extLst xmlns:a="http://schemas.openxmlformats.org/drawingml/2006/main">
              <a:ext uri="{FF2B5EF4-FFF2-40B4-BE49-F238E27FC236}">
                <a16:creationId xmlns:a16="http://schemas.microsoft.com/office/drawing/2014/main" id="{8260966A-739B-41C4-92FA-2307407B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7660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03</a:t>
            </a:r>
          </a:p>
        </p:txBody>
      </p:sp>
      <p:sp>
        <p:nvSpPr>
          <p:cNvPr id="15" name="bullet-2">
            <a:extLst xmlns:a="http://schemas.openxmlformats.org/drawingml/2006/main">
              <a:ext uri="{FF2B5EF4-FFF2-40B4-BE49-F238E27FC236}">
                <a16:creationId xmlns:a16="http://schemas.microsoft.com/office/drawing/2014/main" id="{9124F6D9-85B5-4C08-B8CA-3EC8ADF81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76600"/>
            <a:ext cx="582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Tangible net worth refresh pending</a:t>
            </a:r>
          </a:p>
        </p:txBody>
      </p:sp>
      <p:sp>
        <p:nvSpPr>
          <p:cNvPr id="16" name="rule-118-392">
            <a:extLst xmlns:a="http://schemas.openxmlformats.org/drawingml/2006/main">
              <a:ext uri="{FF2B5EF4-FFF2-40B4-BE49-F238E27FC236}">
                <a16:creationId xmlns:a16="http://schemas.microsoft.com/office/drawing/2014/main" id="{892275E7-49F6-4AD1-85C9-F576E9A6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33800"/>
            <a:ext cx="5829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7BF"/>
          </a:solidFill>
          <a:ln xmlns:a="http://schemas.openxmlformats.org/drawingml/2006/main" w="0">
            <a:solidFill>
              <a:srgbClr val="C9C7BF"/>
            </a:solidFill>
            <a:prstDash val="solid"/>
          </a:ln>
        </p:spPr>
      </p:sp>
      <p:sp>
        <p:nvSpPr>
          <p:cNvPr id="17" name="num-3">
            <a:extLst xmlns:a="http://schemas.openxmlformats.org/drawingml/2006/main">
              <a:ext uri="{FF2B5EF4-FFF2-40B4-BE49-F238E27FC236}">
                <a16:creationId xmlns:a16="http://schemas.microsoft.com/office/drawing/2014/main" id="{7F864F08-B0DD-43D5-9FFF-A0A51AAA6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342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66761"/>
                </a:solidFill>
              </a:defRPr>
            </a:pPr>
            <a:r>
              <a:rPr sz="975" b="1">
                <a:solidFill>
                  <a:srgbClr val="666761"/>
                </a:solidFill>
              </a:rPr>
              <a:t>04</a:t>
            </a:r>
          </a:p>
        </p:txBody>
      </p:sp>
      <p:sp>
        <p:nvSpPr>
          <p:cNvPr id="18" name="bullet-3">
            <a:extLst xmlns:a="http://schemas.openxmlformats.org/drawingml/2006/main">
              <a:ext uri="{FF2B5EF4-FFF2-40B4-BE49-F238E27FC236}">
                <a16:creationId xmlns:a16="http://schemas.microsoft.com/office/drawing/2014/main" id="{B961B0E7-29C8-47AC-913F-4A6B305A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19550"/>
            <a:ext cx="5829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725"/>
                </a:solidFill>
              </a:defRPr>
            </a:pPr>
            <a:r>
              <a:rPr sz="1575" b="0">
                <a:solidFill>
                  <a:srgbClr val="252725"/>
                </a:solidFill>
              </a:rPr>
              <a:t>Posted and pro-forma columns required</a:t>
            </a:r>
          </a:p>
        </p:txBody>
      </p:sp>
      <p:sp>
        <p:nvSpPr>
          <p:cNvPr id="19" name="metric-label">
            <a:extLst xmlns:a="http://schemas.openxmlformats.org/drawingml/2006/main">
              <a:ext uri="{FF2B5EF4-FFF2-40B4-BE49-F238E27FC236}">
                <a16:creationId xmlns:a16="http://schemas.microsoft.com/office/drawing/2014/main" id="{E265A9F2-9E43-40A6-9F37-2EB876D2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859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6761"/>
                </a:solidFill>
              </a:defRPr>
            </a:pPr>
            <a:r>
              <a:rPr sz="900" b="1">
                <a:solidFill>
                  <a:srgbClr val="666761"/>
                </a:solidFill>
              </a:rPr>
              <a:t>WIP STATUS</a:t>
            </a:r>
          </a:p>
        </p:txBody>
      </p:sp>
      <p:sp>
        <p:nvSpPr>
          <p:cNvPr id="20" name="metric-value">
            <a:extLst xmlns:a="http://schemas.openxmlformats.org/drawingml/2006/main">
              <a:ext uri="{FF2B5EF4-FFF2-40B4-BE49-F238E27FC236}">
                <a16:creationId xmlns:a16="http://schemas.microsoft.com/office/drawing/2014/main" id="{3BA669DB-A8E2-4728-9CA8-EA677B63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52650"/>
            <a:ext cx="3238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73B33"/>
                </a:solidFill>
              </a:defRPr>
            </a:pPr>
            <a:r>
              <a:rPr sz="4800" b="1">
                <a:solidFill>
                  <a:srgbClr val="173B33"/>
                </a:solidFill>
              </a:rPr>
              <a:t>Proposed</a:t>
            </a:r>
          </a:p>
        </p:txBody>
      </p:sp>
      <p:sp>
        <p:nvSpPr>
          <p:cNvPr id="21" name="rule-820-320">
            <a:extLst xmlns:a="http://schemas.openxmlformats.org/drawingml/2006/main">
              <a:ext uri="{FF2B5EF4-FFF2-40B4-BE49-F238E27FC236}">
                <a16:creationId xmlns:a16="http://schemas.microsoft.com/office/drawing/2014/main" id="{10003C9A-0CB4-4EE9-8DA3-76362A46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666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4B3"/>
          </a:solidFill>
          <a:ln xmlns:a="http://schemas.openxmlformats.org/drawingml/2006/main" w="0">
            <a:solidFill>
              <a:srgbClr val="CFC4B3"/>
            </a:solidFill>
            <a:prstDash val="solid"/>
          </a:ln>
        </p:spPr>
      </p:sp>
      <p:sp>
        <p:nvSpPr>
          <p:cNvPr id="22" name="metric-note">
            <a:extLst xmlns:a="http://schemas.openxmlformats.org/drawingml/2006/main">
              <a:ext uri="{FF2B5EF4-FFF2-40B4-BE49-F238E27FC236}">
                <a16:creationId xmlns:a16="http://schemas.microsoft.com/office/drawing/2014/main" id="{B9E4FFCC-5A25-4DFA-B75F-287B773DD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276600"/>
            <a:ext cx="323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252725"/>
                </a:solidFill>
              </a:defRPr>
            </a:pPr>
            <a:r>
              <a:rPr sz="1275" b="0">
                <a:solidFill>
                  <a:srgbClr val="252725"/>
                </a:solidFill>
              </a:rPr>
              <a:t>Append one reviewed headroom slide only after workbook and executed definitions reconcile.</a:t>
            </a:r>
          </a:p>
        </p:txBody>
      </p:sp>
    </p:spTree>
    <p:extLst>
      <p:ext uri="{BB962C8B-B14F-4D97-AF65-F5344CB8AC3E}">
        <p14:creationId xmlns:p14="http://schemas.microsoft.com/office/powerpoint/2010/main" val="8227018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2026-08-25T18:14:53.9800000Z</dcterms:created>
  <dcterms:modified xsi:type="dcterms:W3CDTF">2026-08-25T18:14:53.9800000Z</dcterms:modified>
</coreProperties>
</file>