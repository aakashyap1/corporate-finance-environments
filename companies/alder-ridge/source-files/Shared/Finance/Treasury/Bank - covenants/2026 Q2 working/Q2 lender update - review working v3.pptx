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3E6B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38200" y="723900"/>
            <a:ext cx="533400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1275" b="1" dirty="0" i="0">
                <a:solidFill>
                  <a:srgbClr val="E7DED7"/>
                </a:solidFill>
              </a:rPr>
              <a:t>ALDER RIDGE MECHANICAL</a:t>
            </a:r>
            <a:endParaRPr lang="en-US" sz="1275" dirty="0"/>
          </a:p>
        </p:txBody>
      </p:sp>
      <p:sp>
        <p:nvSpPr>
          <p:cNvPr id="4" name="Text 2"/>
          <p:cNvSpPr/>
          <p:nvPr/>
        </p:nvSpPr>
        <p:spPr>
          <a:xfrm>
            <a:off x="838200" y="1524000"/>
            <a:ext cx="8572500" cy="14287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3750" b="1" dirty="0" i="0">
                <a:solidFill>
                  <a:srgbClr val="FFFFFF"/>
                </a:solidFill>
              </a:rPr>
              <a:t>Q2 Lender Update</a:t>
            </a:r>
            <a:endParaRPr lang="en-US" sz="3750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10500" cy="8096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1650" dirty="0" b="0" i="0">
                <a:solidFill>
                  <a:srgbClr val="E7DED7"/>
                </a:solidFill>
              </a:rPr>
              <a:t>Working review deck — financial position, borrowing base and covenant support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953500" y="742950"/>
            <a:ext cx="2381250" cy="2667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r" indent="0" marL="0">
              <a:buNone/>
            </a:pPr>
            <a:r>
              <a:rPr lang="en-US" sz="1125" b="1" dirty="0" i="0">
                <a:solidFill>
                  <a:srgbClr val="E7DED7"/>
                </a:solidFill>
              </a:rPr>
              <a:t>DRAFT / NOT SUBMITTED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76300" y="4857750"/>
            <a:ext cx="4095750" cy="2857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1275" dirty="0" b="0" i="0">
                <a:solidFill>
                  <a:srgbClr val="FFFFFF"/>
                </a:solidFill>
              </a:rPr>
              <a:t>July 2, 2026</a:t>
            </a:r>
            <a:endParaRPr lang="en-US" sz="12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312B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66750" y="323850"/>
            <a:ext cx="5715000" cy="2476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975" b="1" dirty="0" i="0">
                <a:solidFill>
                  <a:srgbClr val="3E6B66"/>
                </a:solidFill>
              </a:rPr>
              <a:t>Q2 2026 LENDER REVIEW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666750" y="704850"/>
            <a:ext cx="106680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2475" b="1" dirty="0" i="0">
                <a:solidFill>
                  <a:srgbClr val="312B2B"/>
                </a:solidFill>
              </a:rPr>
              <a:t>Quarter-end status</a:t>
            </a:r>
            <a:endParaRPr lang="en-US" sz="2475" dirty="0"/>
          </a:p>
        </p:txBody>
      </p:sp>
      <p:sp>
        <p:nvSpPr>
          <p:cNvPr id="5" name="Shape 3"/>
          <p:cNvSpPr/>
          <p:nvPr/>
        </p:nvSpPr>
        <p:spPr>
          <a:xfrm>
            <a:off x="666750" y="1257300"/>
            <a:ext cx="10668000" cy="19050"/>
          </a:xfrm>
          <a:prstGeom prst="rect">
            <a:avLst/>
          </a:prstGeom>
          <a:solidFill>
            <a:srgbClr val="D9CC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2950" y="1657350"/>
            <a:ext cx="6191250" cy="37147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June close remains pre-WIP</a:t>
            </a:r>
            <a:endParaRPr lang="en-US" sz="1425" dirty="0"/>
          </a:p>
          <a:p>
            <a:pPr algn="l" indent="0" marL="0">
              <a:buNone/>
            </a:pPr>
            <a:endParaRPr lang="en-US" sz="1425" dirty="0"/>
          </a:p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Posted accounting reports through June 30</a:t>
            </a:r>
            <a:endParaRPr lang="en-US" sz="1425" dirty="0"/>
          </a:p>
          <a:p>
            <a:pPr algn="l" indent="0" marL="0">
              <a:buNone/>
            </a:pPr>
            <a:endParaRPr lang="en-US" sz="1425" dirty="0"/>
          </a:p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Compliance certificate remains unsigned</a:t>
            </a:r>
            <a:endParaRPr lang="en-US" sz="1425" dirty="0"/>
          </a:p>
          <a:p>
            <a:pPr algn="l" indent="0" marL="0">
              <a:buNone/>
            </a:pPr>
            <a:endParaRPr lang="en-US" sz="1425" dirty="0"/>
          </a:p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Executed amendment controls</a:t>
            </a:r>
            <a:endParaRPr lang="en-US" sz="1425" dirty="0"/>
          </a:p>
        </p:txBody>
      </p:sp>
      <p:sp>
        <p:nvSpPr>
          <p:cNvPr id="7" name="Shape 5"/>
          <p:cNvSpPr/>
          <p:nvPr/>
        </p:nvSpPr>
        <p:spPr>
          <a:xfrm>
            <a:off x="7543800" y="1657350"/>
            <a:ext cx="3714750" cy="3714750"/>
          </a:xfrm>
          <a:prstGeom prst="rect">
            <a:avLst/>
          </a:prstGeom>
          <a:solidFill>
            <a:srgbClr val="F0E6DA"/>
          </a:solidFill>
          <a:ln w="9525">
            <a:solidFill>
              <a:srgbClr val="CDB8A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905750" y="2095500"/>
            <a:ext cx="295275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1350" b="1" dirty="0" i="0">
                <a:solidFill>
                  <a:srgbClr val="655C55"/>
                </a:solidFill>
              </a:rPr>
              <a:t>Package status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05750" y="2571750"/>
            <a:ext cx="2952750" cy="6667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3150" b="1" dirty="0" i="0">
                <a:solidFill>
                  <a:srgbClr val="3E6B66"/>
                </a:solidFill>
              </a:rPr>
              <a:t>Draft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7905750" y="3638550"/>
            <a:ext cx="2952750" cy="11906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1275" dirty="0" b="0" i="0">
                <a:solidFill>
                  <a:srgbClr val="222222"/>
                </a:solidFill>
              </a:rPr>
              <a:t>Do not represent this working deck or its calculations as lender-submitted.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666750" y="6496050"/>
            <a:ext cx="10668000" cy="1714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r" indent="0" marL="0">
              <a:buNone/>
            </a:pPr>
            <a:r>
              <a:rPr lang="en-US" sz="750" dirty="0" b="0" i="0">
                <a:solidFill>
                  <a:srgbClr val="655C55"/>
                </a:solidFill>
              </a:rPr>
              <a:t>July 2, 2026 | DRAFT / NOT SUBMITTED | 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312B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66750" y="323850"/>
            <a:ext cx="5715000" cy="2476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975" b="1" dirty="0" i="0">
                <a:solidFill>
                  <a:srgbClr val="3E6B66"/>
                </a:solidFill>
              </a:rPr>
              <a:t>Q2 2026 LENDER REVIEW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666750" y="704850"/>
            <a:ext cx="106680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2475" b="1" dirty="0" i="0">
                <a:solidFill>
                  <a:srgbClr val="312B2B"/>
                </a:solidFill>
              </a:rPr>
              <a:t>Borrowing-base workplan</a:t>
            </a:r>
            <a:endParaRPr lang="en-US" sz="2475" dirty="0"/>
          </a:p>
        </p:txBody>
      </p:sp>
      <p:sp>
        <p:nvSpPr>
          <p:cNvPr id="5" name="Shape 3"/>
          <p:cNvSpPr/>
          <p:nvPr/>
        </p:nvSpPr>
        <p:spPr>
          <a:xfrm>
            <a:off x="666750" y="1257300"/>
            <a:ext cx="10668000" cy="19050"/>
          </a:xfrm>
          <a:prstGeom prst="rect">
            <a:avLst/>
          </a:prstGeom>
          <a:solidFill>
            <a:srgbClr val="D9CC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2950" y="1657350"/>
            <a:ext cx="6191250" cy="37147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Invoice-level open AR population</a:t>
            </a:r>
            <a:endParaRPr lang="en-US" sz="1425" dirty="0"/>
          </a:p>
          <a:p>
            <a:pPr algn="l" indent="0" marL="0">
              <a:buNone/>
            </a:pPr>
            <a:endParaRPr lang="en-US" sz="1425" dirty="0"/>
          </a:p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Eligibility exclusions retained</a:t>
            </a:r>
            <a:endParaRPr lang="en-US" sz="1425" dirty="0"/>
          </a:p>
          <a:p>
            <a:pPr algn="l" indent="0" marL="0">
              <a:buNone/>
            </a:pPr>
            <a:endParaRPr lang="en-US" sz="1425" dirty="0"/>
          </a:p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25% customer concentration cap</a:t>
            </a:r>
            <a:endParaRPr lang="en-US" sz="1425" dirty="0"/>
          </a:p>
          <a:p>
            <a:pPr algn="l" indent="0" marL="0">
              <a:buNone/>
            </a:pPr>
            <a:endParaRPr lang="en-US" sz="1425" dirty="0"/>
          </a:p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80% advance applied after cap</a:t>
            </a:r>
            <a:endParaRPr lang="en-US" sz="1425" dirty="0"/>
          </a:p>
        </p:txBody>
      </p:sp>
      <p:sp>
        <p:nvSpPr>
          <p:cNvPr id="7" name="Shape 5"/>
          <p:cNvSpPr/>
          <p:nvPr/>
        </p:nvSpPr>
        <p:spPr>
          <a:xfrm>
            <a:off x="7543800" y="1657350"/>
            <a:ext cx="3714750" cy="3714750"/>
          </a:xfrm>
          <a:prstGeom prst="rect">
            <a:avLst/>
          </a:prstGeom>
          <a:solidFill>
            <a:srgbClr val="F0E6DA"/>
          </a:solidFill>
          <a:ln w="9525">
            <a:solidFill>
              <a:srgbClr val="CDB8A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905750" y="2095500"/>
            <a:ext cx="295275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1350" b="1" dirty="0" i="0">
                <a:solidFill>
                  <a:srgbClr val="655C55"/>
                </a:solidFill>
              </a:rPr>
              <a:t>Population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05750" y="2571750"/>
            <a:ext cx="2952750" cy="6667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3150" b="1" dirty="0" i="0">
                <a:solidFill>
                  <a:srgbClr val="3E6B66"/>
                </a:solidFill>
              </a:rPr>
              <a:t>1061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7905750" y="3638550"/>
            <a:ext cx="2952750" cy="11906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1275" dirty="0" b="0" i="0">
                <a:solidFill>
                  <a:srgbClr val="222222"/>
                </a:solidFill>
              </a:rPr>
              <a:t>The eligibility exhibit and executed amendment define the calculation order.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666750" y="6496050"/>
            <a:ext cx="10668000" cy="1714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r" indent="0" marL="0">
              <a:buNone/>
            </a:pPr>
            <a:r>
              <a:rPr lang="en-US" sz="750" dirty="0" b="0" i="0">
                <a:solidFill>
                  <a:srgbClr val="655C55"/>
                </a:solidFill>
              </a:rPr>
              <a:t>July 2, 2026 | DRAFT / NOT SUBMITTED | 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312B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66750" y="323850"/>
            <a:ext cx="5715000" cy="2476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975" b="1" dirty="0" i="0">
                <a:solidFill>
                  <a:srgbClr val="3E6B66"/>
                </a:solidFill>
              </a:rPr>
              <a:t>Q2 2026 LENDER REVIEW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666750" y="704850"/>
            <a:ext cx="106680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2475" b="1" dirty="0" i="0">
                <a:solidFill>
                  <a:srgbClr val="312B2B"/>
                </a:solidFill>
              </a:rPr>
              <a:t>Debt and liquidity</a:t>
            </a:r>
            <a:endParaRPr lang="en-US" sz="2475" dirty="0"/>
          </a:p>
        </p:txBody>
      </p:sp>
      <p:sp>
        <p:nvSpPr>
          <p:cNvPr id="5" name="Shape 3"/>
          <p:cNvSpPr/>
          <p:nvPr/>
        </p:nvSpPr>
        <p:spPr>
          <a:xfrm>
            <a:off x="666750" y="1257300"/>
            <a:ext cx="10668000" cy="19050"/>
          </a:xfrm>
          <a:prstGeom prst="rect">
            <a:avLst/>
          </a:prstGeom>
          <a:solidFill>
            <a:srgbClr val="D9CC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2950" y="1657350"/>
            <a:ext cx="6191250" cy="37147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Equipment notes by maturity</a:t>
            </a:r>
            <a:endParaRPr lang="en-US" sz="1425" dirty="0"/>
          </a:p>
          <a:p>
            <a:pPr algn="l" indent="0" marL="0">
              <a:buNone/>
            </a:pPr>
            <a:endParaRPr lang="en-US" sz="1425" dirty="0"/>
          </a:p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No base-case revolver draw</a:t>
            </a:r>
            <a:endParaRPr lang="en-US" sz="1425" dirty="0"/>
          </a:p>
          <a:p>
            <a:pPr algn="l" indent="0" marL="0">
              <a:buNone/>
            </a:pPr>
            <a:endParaRPr lang="en-US" sz="1425" dirty="0"/>
          </a:p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Cash tied to June 30 accounting</a:t>
            </a:r>
            <a:endParaRPr lang="en-US" sz="1425" dirty="0"/>
          </a:p>
          <a:p>
            <a:pPr algn="l" indent="0" marL="0">
              <a:buNone/>
            </a:pPr>
            <a:endParaRPr lang="en-US" sz="1425" dirty="0"/>
          </a:p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Equipment proposal remains non-binding</a:t>
            </a:r>
            <a:endParaRPr lang="en-US" sz="1425" dirty="0"/>
          </a:p>
        </p:txBody>
      </p:sp>
      <p:sp>
        <p:nvSpPr>
          <p:cNvPr id="7" name="Shape 5"/>
          <p:cNvSpPr/>
          <p:nvPr/>
        </p:nvSpPr>
        <p:spPr>
          <a:xfrm>
            <a:off x="7543800" y="1657350"/>
            <a:ext cx="3714750" cy="3714750"/>
          </a:xfrm>
          <a:prstGeom prst="rect">
            <a:avLst/>
          </a:prstGeom>
          <a:solidFill>
            <a:srgbClr val="F0E6DA"/>
          </a:solidFill>
          <a:ln w="9525">
            <a:solidFill>
              <a:srgbClr val="CDB8A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905750" y="2095500"/>
            <a:ext cx="295275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1350" b="1" dirty="0" i="0">
                <a:solidFill>
                  <a:srgbClr val="655C55"/>
                </a:solidFill>
              </a:rPr>
              <a:t>Cash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05750" y="2571750"/>
            <a:ext cx="2952750" cy="6667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3150" b="1" dirty="0" i="0">
                <a:solidFill>
                  <a:srgbClr val="3E6B66"/>
                </a:solidFill>
              </a:rPr>
              <a:t>$3.7m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7905750" y="3638550"/>
            <a:ext cx="2952750" cy="11906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1275" dirty="0" b="0" i="0">
                <a:solidFill>
                  <a:srgbClr val="222222"/>
                </a:solidFill>
              </a:rPr>
              <a:t>Borrowing availability is not the same as cash and remains subject to the facility terms.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666750" y="6496050"/>
            <a:ext cx="10668000" cy="1714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r" indent="0" marL="0">
              <a:buNone/>
            </a:pPr>
            <a:r>
              <a:rPr lang="en-US" sz="750" dirty="0" b="0" i="0">
                <a:solidFill>
                  <a:srgbClr val="655C55"/>
                </a:solidFill>
              </a:rPr>
              <a:t>July 2, 2026 | DRAFT / NOT SUBMITTED | 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312B2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66750" y="323850"/>
            <a:ext cx="5715000" cy="2476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975" b="1" dirty="0" i="0">
                <a:solidFill>
                  <a:srgbClr val="3E6B66"/>
                </a:solidFill>
              </a:rPr>
              <a:t>Q2 2026 LENDER REVIEW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666750" y="704850"/>
            <a:ext cx="106680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2475" b="1" dirty="0" i="0">
                <a:solidFill>
                  <a:srgbClr val="312B2B"/>
                </a:solidFill>
              </a:rPr>
              <a:t>Covenant calculation status</a:t>
            </a:r>
            <a:endParaRPr lang="en-US" sz="2475" dirty="0"/>
          </a:p>
        </p:txBody>
      </p:sp>
      <p:sp>
        <p:nvSpPr>
          <p:cNvPr id="5" name="Shape 3"/>
          <p:cNvSpPr/>
          <p:nvPr/>
        </p:nvSpPr>
        <p:spPr>
          <a:xfrm>
            <a:off x="666750" y="1257300"/>
            <a:ext cx="10668000" cy="19050"/>
          </a:xfrm>
          <a:prstGeom prst="rect">
            <a:avLst/>
          </a:prstGeom>
          <a:solidFill>
            <a:srgbClr val="D9CC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2950" y="1657350"/>
            <a:ext cx="6191250" cy="37147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Leverage refresh pending</a:t>
            </a:r>
            <a:endParaRPr lang="en-US" sz="1425" dirty="0"/>
          </a:p>
          <a:p>
            <a:pPr algn="l" indent="0" marL="0">
              <a:buNone/>
            </a:pPr>
            <a:endParaRPr lang="en-US" sz="1425" dirty="0"/>
          </a:p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FCCR refresh pending</a:t>
            </a:r>
            <a:endParaRPr lang="en-US" sz="1425" dirty="0"/>
          </a:p>
          <a:p>
            <a:pPr algn="l" indent="0" marL="0">
              <a:buNone/>
            </a:pPr>
            <a:endParaRPr lang="en-US" sz="1425" dirty="0"/>
          </a:p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Tangible net worth refresh pending</a:t>
            </a:r>
            <a:endParaRPr lang="en-US" sz="1425" dirty="0"/>
          </a:p>
          <a:p>
            <a:pPr algn="l" indent="0" marL="0">
              <a:buNone/>
            </a:pPr>
            <a:endParaRPr lang="en-US" sz="1425" dirty="0"/>
          </a:p>
          <a:p>
            <a:pPr algn="l" indent="0" marL="0">
              <a:buNone/>
            </a:pPr>
            <a:r>
              <a:rPr lang="en-US" sz="1425" dirty="0" b="0" i="0">
                <a:solidFill>
                  <a:srgbClr val="222222"/>
                </a:solidFill>
              </a:rPr>
              <a:t>• Posted and pro-forma columns required</a:t>
            </a:r>
            <a:endParaRPr lang="en-US" sz="1425" dirty="0"/>
          </a:p>
        </p:txBody>
      </p:sp>
      <p:sp>
        <p:nvSpPr>
          <p:cNvPr id="7" name="Shape 5"/>
          <p:cNvSpPr/>
          <p:nvPr/>
        </p:nvSpPr>
        <p:spPr>
          <a:xfrm>
            <a:off x="7543800" y="1657350"/>
            <a:ext cx="3714750" cy="3714750"/>
          </a:xfrm>
          <a:prstGeom prst="rect">
            <a:avLst/>
          </a:prstGeom>
          <a:solidFill>
            <a:srgbClr val="F0E6DA"/>
          </a:solidFill>
          <a:ln w="9525">
            <a:solidFill>
              <a:srgbClr val="CDB8A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905750" y="2095500"/>
            <a:ext cx="2952750" cy="3048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1350" b="1" dirty="0" i="0">
                <a:solidFill>
                  <a:srgbClr val="655C55"/>
                </a:solidFill>
              </a:rPr>
              <a:t>WIP status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05750" y="2571750"/>
            <a:ext cx="2952750" cy="6667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3150" b="1" dirty="0" i="0">
                <a:solidFill>
                  <a:srgbClr val="3E6B66"/>
                </a:solidFill>
              </a:rPr>
              <a:t>Proposed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7905750" y="3638550"/>
            <a:ext cx="2952750" cy="119062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l" indent="0" marL="0">
              <a:buNone/>
            </a:pPr>
            <a:r>
              <a:rPr lang="en-US" sz="1275" dirty="0" b="0" i="0">
                <a:solidFill>
                  <a:srgbClr val="222222"/>
                </a:solidFill>
              </a:rPr>
              <a:t>Append one reviewed headroom slide only after the workbook and executed definitions reconcile.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666750" y="6496050"/>
            <a:ext cx="10668000" cy="17145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rtlCol="0" anchor="t"/>
          <a:lstStyle/>
          <a:p>
            <a:pPr algn="r" indent="0" marL="0">
              <a:buNone/>
            </a:pPr>
            <a:r>
              <a:rPr lang="en-US" sz="750" dirty="0" b="0" i="0">
                <a:solidFill>
                  <a:srgbClr val="655C55"/>
                </a:solidFill>
              </a:rPr>
              <a:t>July 2, 2026 | DRAFT / NOT SUBMITTED | 5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Alder Ridge Mechanical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Finance and operating review source material</dc:subject>
  <dc:creator>Alder Ridge Finance</dc:creator>
  <cp:lastModifiedBy>Alder Ridge Finance</cp:lastModifiedBy>
  <cp:revision>1</cp:revision>
  <dcterms:created xsi:type="dcterms:W3CDTF">2026-07-28T10:45:39Z</dcterms:created>
  <dcterms:modified xsi:type="dcterms:W3CDTF">2026-07-28T10:45:39Z</dcterms:modified>
</cp:coreProperties>
</file>