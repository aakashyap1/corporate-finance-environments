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2D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3E6B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38200" y="723900"/>
            <a:ext cx="533400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275" b="1" dirty="0" i="0">
                <a:solidFill>
                  <a:srgbClr val="E8DDD6"/>
                </a:solidFill>
              </a:rPr>
              <a:t>ALDER RIDGE MECHANICAL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838200" y="1524000"/>
            <a:ext cx="8572500" cy="1428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3750" b="1" dirty="0" i="0">
                <a:solidFill>
                  <a:srgbClr val="FFFFFF"/>
                </a:solidFill>
              </a:rPr>
              <a:t>Q1 Lender &amp; Surety Update</a:t>
            </a:r>
            <a:endParaRPr lang="en-US" sz="3750" dirty="0"/>
          </a:p>
        </p:txBody>
      </p:sp>
      <p:sp>
        <p:nvSpPr>
          <p:cNvPr id="5" name="Text 3"/>
          <p:cNvSpPr/>
          <p:nvPr/>
        </p:nvSpPr>
        <p:spPr>
          <a:xfrm>
            <a:off x="876300" y="3314700"/>
            <a:ext cx="7810500" cy="8096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650" dirty="0" b="0" i="0">
                <a:solidFill>
                  <a:srgbClr val="E8DDD6"/>
                </a:solidFill>
              </a:rPr>
              <a:t>Financial performance, work-on-hand, liquidity and compliance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953500" y="742950"/>
            <a:ext cx="238125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r" indent="0" marL="0">
              <a:buNone/>
            </a:pPr>
            <a:r>
              <a:rPr lang="en-US" sz="1125" b="1" dirty="0" i="0">
                <a:solidFill>
                  <a:srgbClr val="E8DDD6"/>
                </a:solidFill>
              </a:rPr>
              <a:t>SUBMITTED COPY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876300" y="4857750"/>
            <a:ext cx="4095750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275" dirty="0" b="0" i="0">
                <a:solidFill>
                  <a:srgbClr val="FFFFFF"/>
                </a:solidFill>
              </a:rPr>
              <a:t>April 28, 2026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3B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66750" y="323850"/>
            <a:ext cx="5715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975" b="1" dirty="0" i="0">
                <a:solidFill>
                  <a:srgbClr val="3E6B66"/>
                </a:solidFill>
              </a:rPr>
              <a:t>EXTERNAL FINANCE UPDATE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66750" y="704850"/>
            <a:ext cx="106680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2475" b="1" dirty="0" i="0">
                <a:solidFill>
                  <a:srgbClr val="3B2D29"/>
                </a:solidFill>
              </a:rPr>
              <a:t>Company and quarter overview</a:t>
            </a:r>
            <a:endParaRPr lang="en-US" sz="2475" dirty="0"/>
          </a:p>
        </p:txBody>
      </p:sp>
      <p:sp>
        <p:nvSpPr>
          <p:cNvPr id="5" name="Shape 3"/>
          <p:cNvSpPr/>
          <p:nvPr/>
        </p:nvSpPr>
        <p:spPr>
          <a:xfrm>
            <a:off x="666750" y="1257300"/>
            <a:ext cx="10668000" cy="19050"/>
          </a:xfrm>
          <a:prstGeom prst="rect">
            <a:avLst/>
          </a:prstGeom>
          <a:solidFill>
            <a:srgbClr val="D9CC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2950" y="1657350"/>
            <a:ext cx="6191250" cy="3714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Specialty mechanical contractor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Construction, service and controls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Pacific Northwest footprint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Seasoned leadership team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7543800" y="1657350"/>
            <a:ext cx="3714750" cy="3714750"/>
          </a:xfrm>
          <a:prstGeom prst="rect">
            <a:avLst/>
          </a:prstGeom>
          <a:solidFill>
            <a:srgbClr val="F0E6DA"/>
          </a:solidFill>
          <a:ln w="9525">
            <a:solidFill>
              <a:srgbClr val="CDB8A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905750" y="2095500"/>
            <a:ext cx="295275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350" b="1" dirty="0" i="0">
                <a:solidFill>
                  <a:srgbClr val="655C55"/>
                </a:solidFill>
              </a:rPr>
              <a:t>Employees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05750" y="2571750"/>
            <a:ext cx="2952750" cy="666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3150" b="1" dirty="0" i="0">
                <a:solidFill>
                  <a:srgbClr val="3E6B66"/>
                </a:solidFill>
              </a:rPr>
              <a:t>110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7905750" y="3638550"/>
            <a:ext cx="2952750" cy="11906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275" dirty="0" b="0" i="0">
                <a:solidFill>
                  <a:srgbClr val="222222"/>
                </a:solidFill>
              </a:rPr>
              <a:t>Headcount and revenue are reported on the submitted quarter-end basis.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666750" y="6496050"/>
            <a:ext cx="106680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r" indent="0" marL="0">
              <a:buNone/>
            </a:pPr>
            <a:r>
              <a:rPr lang="en-US" sz="750" dirty="0" b="0" i="0">
                <a:solidFill>
                  <a:srgbClr val="655C55"/>
                </a:solidFill>
              </a:rPr>
              <a:t>April 28, 2026 | SUBMITTED COPY |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3B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66750" y="323850"/>
            <a:ext cx="5715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975" b="1" dirty="0" i="0">
                <a:solidFill>
                  <a:srgbClr val="3E6B66"/>
                </a:solidFill>
              </a:rPr>
              <a:t>EXTERNAL FINANCE UPDATE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66750" y="704850"/>
            <a:ext cx="106680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2475" b="1" dirty="0" i="0">
                <a:solidFill>
                  <a:srgbClr val="3B2D29"/>
                </a:solidFill>
              </a:rPr>
              <a:t>Financial performance</a:t>
            </a:r>
            <a:endParaRPr lang="en-US" sz="2475" dirty="0"/>
          </a:p>
        </p:txBody>
      </p:sp>
      <p:sp>
        <p:nvSpPr>
          <p:cNvPr id="5" name="Shape 3"/>
          <p:cNvSpPr/>
          <p:nvPr/>
        </p:nvSpPr>
        <p:spPr>
          <a:xfrm>
            <a:off x="666750" y="1257300"/>
            <a:ext cx="10668000" cy="19050"/>
          </a:xfrm>
          <a:prstGeom prst="rect">
            <a:avLst/>
          </a:prstGeom>
          <a:solidFill>
            <a:srgbClr val="D9CC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2950" y="1657350"/>
            <a:ext cx="6191250" cy="3714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Quarter and trailing-twelve-month results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Adjusted EBITDA bridge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Working-capital drivers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Net worth trend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7543800" y="1657350"/>
            <a:ext cx="3714750" cy="3714750"/>
          </a:xfrm>
          <a:prstGeom prst="rect">
            <a:avLst/>
          </a:prstGeom>
          <a:solidFill>
            <a:srgbClr val="F0E6DA"/>
          </a:solidFill>
          <a:ln w="9525">
            <a:solidFill>
              <a:srgbClr val="CDB8A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905750" y="2095500"/>
            <a:ext cx="295275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350" b="1" dirty="0" i="0">
                <a:solidFill>
                  <a:srgbClr val="655C55"/>
                </a:solidFill>
              </a:rPr>
              <a:t>LTM revenue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05750" y="2571750"/>
            <a:ext cx="2952750" cy="666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3150" b="1" dirty="0" i="0">
                <a:solidFill>
                  <a:srgbClr val="3E6B66"/>
                </a:solidFill>
              </a:rPr>
              <a:t>$47.4m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7905750" y="3638550"/>
            <a:ext cx="2952750" cy="11906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275" dirty="0" b="0" i="0">
                <a:solidFill>
                  <a:srgbClr val="222222"/>
                </a:solidFill>
              </a:rPr>
              <a:t>Adjustments reconcile to the compliance certificate support.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666750" y="6496050"/>
            <a:ext cx="106680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r" indent="0" marL="0">
              <a:buNone/>
            </a:pPr>
            <a:r>
              <a:rPr lang="en-US" sz="750" dirty="0" b="0" i="0">
                <a:solidFill>
                  <a:srgbClr val="655C55"/>
                </a:solidFill>
              </a:rPr>
              <a:t>April 28, 2026 | SUBMITTED COPY |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3B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66750" y="323850"/>
            <a:ext cx="5715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975" b="1" dirty="0" i="0">
                <a:solidFill>
                  <a:srgbClr val="3E6B66"/>
                </a:solidFill>
              </a:rPr>
              <a:t>EXTERNAL FINANCE UPDATE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66750" y="704850"/>
            <a:ext cx="106680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2475" b="1" dirty="0" i="0">
                <a:solidFill>
                  <a:srgbClr val="3B2D29"/>
                </a:solidFill>
              </a:rPr>
              <a:t>Work-on-hand</a:t>
            </a:r>
            <a:endParaRPr lang="en-US" sz="2475" dirty="0"/>
          </a:p>
        </p:txBody>
      </p:sp>
      <p:sp>
        <p:nvSpPr>
          <p:cNvPr id="5" name="Shape 3"/>
          <p:cNvSpPr/>
          <p:nvPr/>
        </p:nvSpPr>
        <p:spPr>
          <a:xfrm>
            <a:off x="666750" y="1257300"/>
            <a:ext cx="10668000" cy="19050"/>
          </a:xfrm>
          <a:prstGeom prst="rect">
            <a:avLst/>
          </a:prstGeom>
          <a:solidFill>
            <a:srgbClr val="D9CC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2950" y="1657350"/>
            <a:ext cx="6191250" cy="3714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Signed backlog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Largest projects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Remaining gross profit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End-market mix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7543800" y="1657350"/>
            <a:ext cx="3714750" cy="3714750"/>
          </a:xfrm>
          <a:prstGeom prst="rect">
            <a:avLst/>
          </a:prstGeom>
          <a:solidFill>
            <a:srgbClr val="F0E6DA"/>
          </a:solidFill>
          <a:ln w="9525">
            <a:solidFill>
              <a:srgbClr val="CDB8A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905750" y="2095500"/>
            <a:ext cx="295275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350" b="1" dirty="0" i="0">
                <a:solidFill>
                  <a:srgbClr val="655C55"/>
                </a:solidFill>
              </a:rPr>
              <a:t>Backlog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05750" y="2571750"/>
            <a:ext cx="2952750" cy="666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3150" b="1" dirty="0" i="0">
                <a:solidFill>
                  <a:srgbClr val="3E6B66"/>
                </a:solidFill>
              </a:rPr>
              <a:t>$42.9m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7905750" y="3638550"/>
            <a:ext cx="2952750" cy="11906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275" dirty="0" b="0" i="0">
                <a:solidFill>
                  <a:srgbClr val="222222"/>
                </a:solidFill>
              </a:rPr>
              <a:t>Pending awards and unapproved change orders are excluded.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666750" y="6496050"/>
            <a:ext cx="106680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r" indent="0" marL="0">
              <a:buNone/>
            </a:pPr>
            <a:r>
              <a:rPr lang="en-US" sz="750" dirty="0" b="0" i="0">
                <a:solidFill>
                  <a:srgbClr val="655C55"/>
                </a:solidFill>
              </a:rPr>
              <a:t>April 28, 2026 | SUBMITTED COPY | 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3B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66750" y="323850"/>
            <a:ext cx="5715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975" b="1" dirty="0" i="0">
                <a:solidFill>
                  <a:srgbClr val="3E6B66"/>
                </a:solidFill>
              </a:rPr>
              <a:t>EXTERNAL FINANCE UPDATE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66750" y="704850"/>
            <a:ext cx="106680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2475" b="1" dirty="0" i="0">
                <a:solidFill>
                  <a:srgbClr val="3B2D29"/>
                </a:solidFill>
              </a:rPr>
              <a:t>Liquidity and debt</a:t>
            </a:r>
            <a:endParaRPr lang="en-US" sz="2475" dirty="0"/>
          </a:p>
        </p:txBody>
      </p:sp>
      <p:sp>
        <p:nvSpPr>
          <p:cNvPr id="5" name="Shape 3"/>
          <p:cNvSpPr/>
          <p:nvPr/>
        </p:nvSpPr>
        <p:spPr>
          <a:xfrm>
            <a:off x="666750" y="1257300"/>
            <a:ext cx="10668000" cy="19050"/>
          </a:xfrm>
          <a:prstGeom prst="rect">
            <a:avLst/>
          </a:prstGeom>
          <a:solidFill>
            <a:srgbClr val="D9CC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2950" y="1657350"/>
            <a:ext cx="6191250" cy="3714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Cash balances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Revolver availability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Equipment debt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Thirteen-week outlook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7543800" y="1657350"/>
            <a:ext cx="3714750" cy="3714750"/>
          </a:xfrm>
          <a:prstGeom prst="rect">
            <a:avLst/>
          </a:prstGeom>
          <a:solidFill>
            <a:srgbClr val="F0E6DA"/>
          </a:solidFill>
          <a:ln w="9525">
            <a:solidFill>
              <a:srgbClr val="CDB8A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905750" y="2095500"/>
            <a:ext cx="295275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350" b="1" dirty="0" i="0">
                <a:solidFill>
                  <a:srgbClr val="655C55"/>
                </a:solidFill>
              </a:rPr>
              <a:t>Availability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05750" y="2571750"/>
            <a:ext cx="2952750" cy="666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3150" b="1" dirty="0" i="0">
                <a:solidFill>
                  <a:srgbClr val="3E6B66"/>
                </a:solidFill>
              </a:rPr>
              <a:t>$4.0m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7905750" y="3638550"/>
            <a:ext cx="2952750" cy="11906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275" dirty="0" b="0" i="0">
                <a:solidFill>
                  <a:srgbClr val="222222"/>
                </a:solidFill>
              </a:rPr>
              <a:t>Availability is subject to the borrowing base and facility terms.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666750" y="6496050"/>
            <a:ext cx="106680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r" indent="0" marL="0">
              <a:buNone/>
            </a:pPr>
            <a:r>
              <a:rPr lang="en-US" sz="750" dirty="0" b="0" i="0">
                <a:solidFill>
                  <a:srgbClr val="655C55"/>
                </a:solidFill>
              </a:rPr>
              <a:t>April 28, 2026 | SUBMITTED COPY | 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3B2D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66750" y="323850"/>
            <a:ext cx="5715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975" b="1" dirty="0" i="0">
                <a:solidFill>
                  <a:srgbClr val="3E6B66"/>
                </a:solidFill>
              </a:rPr>
              <a:t>EXTERNAL FINANCE UPDATE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66750" y="704850"/>
            <a:ext cx="106680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2475" b="1" dirty="0" i="0">
                <a:solidFill>
                  <a:srgbClr val="3B2D29"/>
                </a:solidFill>
              </a:rPr>
              <a:t>Compliance and outlook</a:t>
            </a:r>
            <a:endParaRPr lang="en-US" sz="2475" dirty="0"/>
          </a:p>
        </p:txBody>
      </p:sp>
      <p:sp>
        <p:nvSpPr>
          <p:cNvPr id="5" name="Shape 3"/>
          <p:cNvSpPr/>
          <p:nvPr/>
        </p:nvSpPr>
        <p:spPr>
          <a:xfrm>
            <a:off x="666750" y="1257300"/>
            <a:ext cx="10668000" cy="19050"/>
          </a:xfrm>
          <a:prstGeom prst="rect">
            <a:avLst/>
          </a:prstGeom>
          <a:solidFill>
            <a:srgbClr val="D9CC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2950" y="1657350"/>
            <a:ext cx="6191250" cy="3714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Covenant results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Borrowing-base support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Q2 priorities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Known commercial risks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7543800" y="1657350"/>
            <a:ext cx="3714750" cy="3714750"/>
          </a:xfrm>
          <a:prstGeom prst="rect">
            <a:avLst/>
          </a:prstGeom>
          <a:solidFill>
            <a:srgbClr val="F0E6DA"/>
          </a:solidFill>
          <a:ln w="9525">
            <a:solidFill>
              <a:srgbClr val="CDB8A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905750" y="2095500"/>
            <a:ext cx="295275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350" b="1" dirty="0" i="0">
                <a:solidFill>
                  <a:srgbClr val="655C55"/>
                </a:solidFill>
              </a:rPr>
              <a:t>Compliance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05750" y="2571750"/>
            <a:ext cx="2952750" cy="666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3150" b="1" dirty="0" i="0">
                <a:solidFill>
                  <a:srgbClr val="3E6B66"/>
                </a:solidFill>
              </a:rPr>
              <a:t>Yes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7905750" y="3638550"/>
            <a:ext cx="2952750" cy="11906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275" dirty="0" b="0" i="0">
                <a:solidFill>
                  <a:srgbClr val="222222"/>
                </a:solidFill>
              </a:rPr>
              <a:t>Executed amendment controls over convenience summaries.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666750" y="6496050"/>
            <a:ext cx="106680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r" indent="0" marL="0">
              <a:buNone/>
            </a:pPr>
            <a:r>
              <a:rPr lang="en-US" sz="750" dirty="0" b="0" i="0">
                <a:solidFill>
                  <a:srgbClr val="655C55"/>
                </a:solidFill>
              </a:rPr>
              <a:t>April 28, 2026 | SUBMITTED COPY | 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Alder Ridge Mechanical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Finance and operating review source material</dc:subject>
  <dc:creator>Alder Ridge Finance</dc:creator>
  <cp:lastModifiedBy>Alder Ridge Finance</cp:lastModifiedBy>
  <cp:revision>1</cp:revision>
  <dcterms:created xsi:type="dcterms:W3CDTF">2026-07-28T10:45:37Z</dcterms:created>
  <dcterms:modified xsi:type="dcterms:W3CDTF">2026-07-28T10:45:37Z</dcterms:modified>
</cp:coreProperties>
</file>