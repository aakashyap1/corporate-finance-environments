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fb166c9d44646" /><Relationship Type="http://schemas.openxmlformats.org/officeDocument/2006/relationships/extended-properties" Target="/docProps/app.xml" Id="R33c971d2454142de" /><Relationship Type="http://schemas.openxmlformats.org/officeDocument/2006/relationships/officeDocument" Target="/ppt/presentation.xml" Id="R6340fc468dc645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29cf2255e4328"/>
  </p:sldMasterIdLst>
  <p:notesMasterIdLst>
    <p:notesMasterId xmlns:r="http://schemas.openxmlformats.org/officeDocument/2006/relationships" r:id="Rf5f8056b49714270"/>
  </p:notesMasterIdLst>
  <p:sldIdLst>
    <p:sldId xmlns:r="http://schemas.openxmlformats.org/officeDocument/2006/relationships" id="256" r:id="R8c8341f0ba29405d"/>
    <p:sldId xmlns:r="http://schemas.openxmlformats.org/officeDocument/2006/relationships" id="257" r:id="Raf54522900c44072"/>
    <p:sldId xmlns:r="http://schemas.openxmlformats.org/officeDocument/2006/relationships" id="258" r:id="Re4eb2750bfe548e5"/>
    <p:sldId xmlns:r="http://schemas.openxmlformats.org/officeDocument/2006/relationships" id="259" r:id="R270932117cb54841"/>
    <p:sldId xmlns:r="http://schemas.openxmlformats.org/officeDocument/2006/relationships" id="260" r:id="Rebf2da9b027a47d4"/>
    <p:sldId xmlns:r="http://schemas.openxmlformats.org/officeDocument/2006/relationships" id="261" r:id="Re27b0b973447464a"/>
    <p:sldId xmlns:r="http://schemas.openxmlformats.org/officeDocument/2006/relationships" id="262" r:id="Rfcd72977f3254bd9"/>
    <p:sldId xmlns:r="http://schemas.openxmlformats.org/officeDocument/2006/relationships" id="263" r:id="R13e4c75cab9f4add"/>
    <p:sldId xmlns:r="http://schemas.openxmlformats.org/officeDocument/2006/relationships" id="264" r:id="R6ccfea770cef4a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25c793573a42f1" /><Relationship Type="http://schemas.openxmlformats.org/officeDocument/2006/relationships/slideMaster" Target="/ppt/slideMasters/slideMaster1.xml" Id="Rd5629cf2255e4328" /><Relationship Type="http://schemas.openxmlformats.org/officeDocument/2006/relationships/notesMaster" Target="/ppt/notesMasters/notesMaster1.xml" Id="Rf5f8056b49714270" /><Relationship Type="http://schemas.openxmlformats.org/officeDocument/2006/relationships/presProps" Target="/ppt/presProps.xml" Id="Rbf584d5e6b0d479d" /><Relationship Type="http://schemas.openxmlformats.org/officeDocument/2006/relationships/tableStyles" Target="/ppt/tableStyles.xml" Id="Rbe20d121bb0f48e7" /><Relationship Type="http://schemas.openxmlformats.org/officeDocument/2006/relationships/slide" Target="/ppt/slides/slide1.xml" Id="R8c8341f0ba29405d" /><Relationship Type="http://schemas.openxmlformats.org/officeDocument/2006/relationships/slide" Target="/ppt/slides/slide2.xml" Id="Raf54522900c44072" /><Relationship Type="http://schemas.openxmlformats.org/officeDocument/2006/relationships/slide" Target="/ppt/slides/slide3.xml" Id="Re4eb2750bfe548e5" /><Relationship Type="http://schemas.openxmlformats.org/officeDocument/2006/relationships/slide" Target="/ppt/slides/slide4.xml" Id="R270932117cb54841" /><Relationship Type="http://schemas.openxmlformats.org/officeDocument/2006/relationships/slide" Target="/ppt/slides/slide5.xml" Id="Rebf2da9b027a47d4" /><Relationship Type="http://schemas.openxmlformats.org/officeDocument/2006/relationships/slide" Target="/ppt/slides/slide6.xml" Id="Re27b0b973447464a" /><Relationship Type="http://schemas.openxmlformats.org/officeDocument/2006/relationships/slide" Target="/ppt/slides/slide7.xml" Id="Rfcd72977f3254bd9" /><Relationship Type="http://schemas.openxmlformats.org/officeDocument/2006/relationships/slide" Target="/ppt/slides/slide8.xml" Id="R13e4c75cab9f4add" /><Relationship Type="http://schemas.openxmlformats.org/officeDocument/2006/relationships/slide" Target="/ppt/slides/slide9.xml" Id="R6ccfea770cef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1e35e1091a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f63823c44e48fe" /><Relationship Type="http://schemas.openxmlformats.org/officeDocument/2006/relationships/notesMaster" Target="/ppt/notesMasters/notesMaster1.xml" Id="Rf3ca0ffae7e341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41d287bad84bd5" /><Relationship Type="http://schemas.openxmlformats.org/officeDocument/2006/relationships/notesMaster" Target="/ppt/notesMasters/notesMaster1.xml" Id="R72c3b67e84b74a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9e8754caf4c58" /><Relationship Type="http://schemas.openxmlformats.org/officeDocument/2006/relationships/notesMaster" Target="/ppt/notesMasters/notesMaster1.xml" Id="R1d6c310a2439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b76a43bd44fe0" /><Relationship Type="http://schemas.openxmlformats.org/officeDocument/2006/relationships/notesMaster" Target="/ppt/notesMasters/notesMaster1.xml" Id="R2afa1944383343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9c27af40946fd" /><Relationship Type="http://schemas.openxmlformats.org/officeDocument/2006/relationships/notesMaster" Target="/ppt/notesMasters/notesMaster1.xml" Id="Rbce5eaddf0464f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9269d568648b0" /><Relationship Type="http://schemas.openxmlformats.org/officeDocument/2006/relationships/notesMaster" Target="/ppt/notesMasters/notesMaster1.xml" Id="Rc63868475aee4b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724321b9d04d09" /><Relationship Type="http://schemas.openxmlformats.org/officeDocument/2006/relationships/notesMaster" Target="/ppt/notesMasters/notesMaster1.xml" Id="Rbb41273aa07f45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d5cdbdd6d04ca2" /><Relationship Type="http://schemas.openxmlformats.org/officeDocument/2006/relationships/notesMaster" Target="/ppt/notesMasters/notesMaster1.xml" Id="R601bd08a86f442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76ab99880345fb" /><Relationship Type="http://schemas.openxmlformats.org/officeDocument/2006/relationships/notesMaster" Target="/ppt/notesMasters/notesMaster1.xml" Id="R70fadc119f5b4d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77fff1e4841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9214dec4fc4949" /><Relationship Type="http://schemas.openxmlformats.org/officeDocument/2006/relationships/slideLayout" Target="/ppt/slideLayouts/slideLayout1.xml" Id="R116d8a2f02824f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6d8a2f02824f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daa8b66c44042" /><Relationship Type="http://schemas.openxmlformats.org/officeDocument/2006/relationships/notesSlide" Target="/ppt/notesSlides/notesSlide1.xml" Id="Rc114e3d929e7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756f6573a43f5" /><Relationship Type="http://schemas.openxmlformats.org/officeDocument/2006/relationships/notesSlide" Target="/ppt/notesSlides/notesSlide2.xml" Id="R951b8f593dc34b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7cbe1993948f8" /><Relationship Type="http://schemas.openxmlformats.org/officeDocument/2006/relationships/notesSlide" Target="/ppt/notesSlides/notesSlide3.xml" Id="Ra18e19d48b6648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e0e16d8ac46e6" /><Relationship Type="http://schemas.openxmlformats.org/officeDocument/2006/relationships/notesSlide" Target="/ppt/notesSlides/notesSlide4.xml" Id="R98e22a46c5f5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fd1da8e594c44" /><Relationship Type="http://schemas.openxmlformats.org/officeDocument/2006/relationships/notesSlide" Target="/ppt/notesSlides/notesSlide5.xml" Id="Re569ed9d5fc6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9df60be6d4786" /><Relationship Type="http://schemas.openxmlformats.org/officeDocument/2006/relationships/notesSlide" Target="/ppt/notesSlides/notesSlide6.xml" Id="Rfa20d2df9c6f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801ace9144c64" /><Relationship Type="http://schemas.openxmlformats.org/officeDocument/2006/relationships/notesSlide" Target="/ppt/notesSlides/notesSlide7.xml" Id="Re4eb5d48403c4c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872457a941ec" /><Relationship Type="http://schemas.openxmlformats.org/officeDocument/2006/relationships/notesSlide" Target="/ppt/notesSlides/notesSlide8.xml" Id="R4ca6d98cf9694b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11f1792ad4001" /><Relationship Type="http://schemas.openxmlformats.org/officeDocument/2006/relationships/notesSlide" Target="/ppt/notesSlides/notesSlide9.xml" Id="Rb52dd54b2f484f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8BA04A5-4F82-4449-8A1A-20C548D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DC4ACF1-22EF-4CB7-8515-88601802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INTERNAL WORKING • NOT FOR EXTERNAL DISTRIBUTION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E6BED31-48D3-411C-BAA9-593DD27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June executive</a:t>
            </a:r>
          </a:p>
          <a:p xmlns:a="http://schemas.openxmlformats.org/drawingml/2006/main">
            <a:pPr algn="l"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performance review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69CEDE42-3FDA-49D3-B95D-104C2C80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Operating performance, cash conversion, backlog, and latest FY26 outlook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0B96799-11B1-4C78-A9B0-4E1AFE4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">
            <a:extLst xmlns:a="http://schemas.openxmlformats.org/drawingml/2006/main">
              <a:ext uri="{FF2B5EF4-FFF2-40B4-BE49-F238E27FC236}">
                <a16:creationId xmlns:a16="http://schemas.microsoft.com/office/drawing/2014/main" id="{AAEEC995-FFD7-4FB7-AAC6-E08BDCD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Executive leadership meeting • July 2026</a:t>
            </a:r>
          </a:p>
        </p:txBody>
      </p:sp>
      <p:sp>
        <p:nvSpPr>
          <p:cNvPr id="7" name="status">
            <a:extLst xmlns:a="http://schemas.openxmlformats.org/drawingml/2006/main">
              <a:ext uri="{FF2B5EF4-FFF2-40B4-BE49-F238E27FC236}">
                <a16:creationId xmlns:a16="http://schemas.microsoft.com/office/drawing/2014/main" id="{77078943-4668-4D85-95B7-0DDB441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Prepared for executive leadership • Working draft</a:t>
            </a:r>
          </a:p>
        </p:txBody>
      </p:sp>
      <p:sp>
        <p:nvSpPr>
          <p:cNvPr id="8" name="title-page">
            <a:extLst xmlns:a="http://schemas.openxmlformats.org/drawingml/2006/main">
              <a:ext uri="{FF2B5EF4-FFF2-40B4-BE49-F238E27FC236}">
                <a16:creationId xmlns:a16="http://schemas.microsoft.com/office/drawing/2014/main" id="{6121D8DE-E5A4-43EA-87B6-7C18C308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3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2">
            <a:extLst xmlns:a="http://schemas.openxmlformats.org/drawingml/2006/main">
              <a:ext uri="{FF2B5EF4-FFF2-40B4-BE49-F238E27FC236}">
                <a16:creationId xmlns:a16="http://schemas.microsoft.com/office/drawing/2014/main" id="{B3B0F108-ACE8-4DE3-9121-04465ADD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7B4CC0F-F449-4253-92E4-027945FA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Executive takeaways</a:t>
            </a:r>
          </a:p>
        </p:txBody>
      </p:sp>
      <p:sp>
        <p:nvSpPr>
          <p:cNvPr id="3" name="draft-2">
            <a:extLst xmlns:a="http://schemas.openxmlformats.org/drawingml/2006/main">
              <a:ext uri="{FF2B5EF4-FFF2-40B4-BE49-F238E27FC236}">
                <a16:creationId xmlns:a16="http://schemas.microsoft.com/office/drawing/2014/main" id="{1F9CC0E0-BF48-4279-B16F-545FE6F5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A00BDA3-C8AF-4D13-A371-8C4BFC2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AE200EDD-8E3F-4E9D-B7E1-F39F1E5B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C77F6336-5C12-4D68-B7AA-85FCADC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2</a:t>
            </a:r>
          </a:p>
        </p:txBody>
      </p:sp>
      <p:sp>
        <p:nvSpPr>
          <p:cNvPr id="7" name="metric-box-2-0">
            <a:extLst xmlns:a="http://schemas.openxmlformats.org/drawingml/2006/main">
              <a:ext uri="{FF2B5EF4-FFF2-40B4-BE49-F238E27FC236}">
                <a16:creationId xmlns:a16="http://schemas.microsoft.com/office/drawing/2014/main" id="{A2BA9709-1AA8-40F5-84D6-345D8E1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2-0">
            <a:extLst xmlns:a="http://schemas.openxmlformats.org/drawingml/2006/main">
              <a:ext uri="{FF2B5EF4-FFF2-40B4-BE49-F238E27FC236}">
                <a16:creationId xmlns:a16="http://schemas.microsoft.com/office/drawing/2014/main" id="{4EC49505-06CF-4603-8CEE-E72760E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revenue</a:t>
            </a:r>
          </a:p>
        </p:txBody>
      </p:sp>
      <p:sp>
        <p:nvSpPr>
          <p:cNvPr id="9" name="metric-value-2-0">
            <a:extLst xmlns:a="http://schemas.openxmlformats.org/drawingml/2006/main">
              <a:ext uri="{FF2B5EF4-FFF2-40B4-BE49-F238E27FC236}">
                <a16:creationId xmlns:a16="http://schemas.microsoft.com/office/drawing/2014/main" id="{947FDCA5-2290-48C6-AF7B-F631DE3D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2-1">
            <a:extLst xmlns:a="http://schemas.openxmlformats.org/drawingml/2006/main">
              <a:ext uri="{FF2B5EF4-FFF2-40B4-BE49-F238E27FC236}">
                <a16:creationId xmlns:a16="http://schemas.microsoft.com/office/drawing/2014/main" id="{2060770E-CC42-47E8-B6E5-AE66DD6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2-1">
            <a:extLst xmlns:a="http://schemas.openxmlformats.org/drawingml/2006/main">
              <a:ext uri="{FF2B5EF4-FFF2-40B4-BE49-F238E27FC236}">
                <a16:creationId xmlns:a16="http://schemas.microsoft.com/office/drawing/2014/main" id="{1B7EB909-CC74-466E-9C9E-4F72C65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adjusted EBITDA</a:t>
            </a:r>
          </a:p>
        </p:txBody>
      </p:sp>
      <p:sp>
        <p:nvSpPr>
          <p:cNvPr id="12" name="metric-value-2-1">
            <a:extLst xmlns:a="http://schemas.openxmlformats.org/drawingml/2006/main">
              <a:ext uri="{FF2B5EF4-FFF2-40B4-BE49-F238E27FC236}">
                <a16:creationId xmlns:a16="http://schemas.microsoft.com/office/drawing/2014/main" id="{878C4656-23A0-4741-8999-5495BB18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2-2">
            <a:extLst xmlns:a="http://schemas.openxmlformats.org/drawingml/2006/main">
              <a:ext uri="{FF2B5EF4-FFF2-40B4-BE49-F238E27FC236}">
                <a16:creationId xmlns:a16="http://schemas.microsoft.com/office/drawing/2014/main" id="{D2F4BE89-DDFF-4402-897C-462D762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2-2">
            <a:extLst xmlns:a="http://schemas.openxmlformats.org/drawingml/2006/main">
              <a:ext uri="{FF2B5EF4-FFF2-40B4-BE49-F238E27FC236}">
                <a16:creationId xmlns:a16="http://schemas.microsoft.com/office/drawing/2014/main" id="{0F6B8FC3-B32F-415F-9E69-5066D4F2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free cash flow</a:t>
            </a:r>
          </a:p>
        </p:txBody>
      </p:sp>
      <p:sp>
        <p:nvSpPr>
          <p:cNvPr id="15" name="metric-value-2-2">
            <a:extLst xmlns:a="http://schemas.openxmlformats.org/drawingml/2006/main">
              <a:ext uri="{FF2B5EF4-FFF2-40B4-BE49-F238E27FC236}">
                <a16:creationId xmlns:a16="http://schemas.microsoft.com/office/drawing/2014/main" id="{F6FB8DE8-4C22-4F46-9A85-89FC0BDA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2-3">
            <a:extLst xmlns:a="http://schemas.openxmlformats.org/drawingml/2006/main">
              <a:ext uri="{FF2B5EF4-FFF2-40B4-BE49-F238E27FC236}">
                <a16:creationId xmlns:a16="http://schemas.microsoft.com/office/drawing/2014/main" id="{FECC2B2D-ED0B-4505-ACB1-ADE94CEE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2-3">
            <a:extLst xmlns:a="http://schemas.openxmlformats.org/drawingml/2006/main">
              <a:ext uri="{FF2B5EF4-FFF2-40B4-BE49-F238E27FC236}">
                <a16:creationId xmlns:a16="http://schemas.microsoft.com/office/drawing/2014/main" id="{5ED40B40-A8D9-4F34-8556-981B44F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FY26 revenue outlook</a:t>
            </a:r>
          </a:p>
        </p:txBody>
      </p:sp>
      <p:sp>
        <p:nvSpPr>
          <p:cNvPr id="18" name="metric-value-2-3">
            <a:extLst xmlns:a="http://schemas.openxmlformats.org/drawingml/2006/main">
              <a:ext uri="{FF2B5EF4-FFF2-40B4-BE49-F238E27FC236}">
                <a16:creationId xmlns:a16="http://schemas.microsoft.com/office/drawing/2014/main" id="{968D7E90-50A9-4139-90B0-EA7F614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exec-prompt">
            <a:extLst xmlns:a="http://schemas.openxmlformats.org/drawingml/2006/main">
              <a:ext uri="{FF2B5EF4-FFF2-40B4-BE49-F238E27FC236}">
                <a16:creationId xmlns:a16="http://schemas.microsoft.com/office/drawing/2014/main" id="{5A6FC720-9D7A-4DCF-8E61-C10F6979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Close the loop from performance to action</a:t>
            </a:r>
          </a:p>
        </p:txBody>
      </p:sp>
      <p:sp>
        <p:nvSpPr>
          <p:cNvPr id="20" name="exec-number-0">
            <a:extLst xmlns:a="http://schemas.openxmlformats.org/drawingml/2006/main">
              <a:ext uri="{FF2B5EF4-FFF2-40B4-BE49-F238E27FC236}">
                <a16:creationId xmlns:a16="http://schemas.microsoft.com/office/drawing/2014/main" id="{B45CC436-D456-4C37-A8EF-46826F8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xec-num-text-0">
            <a:extLst xmlns:a="http://schemas.openxmlformats.org/drawingml/2006/main">
              <a:ext uri="{FF2B5EF4-FFF2-40B4-BE49-F238E27FC236}">
                <a16:creationId xmlns:a16="http://schemas.microsoft.com/office/drawing/2014/main" id="{5BAE31A1-1A29-4CC3-8C99-7120301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exec-item-0">
            <a:extLst xmlns:a="http://schemas.openxmlformats.org/drawingml/2006/main">
              <a:ext uri="{FF2B5EF4-FFF2-40B4-BE49-F238E27FC236}">
                <a16:creationId xmlns:a16="http://schemas.microsoft.com/office/drawing/2014/main" id="{4CEB59DD-16B6-45FC-9FB0-2A695E15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Performance versus plan and prior year</a:t>
            </a:r>
          </a:p>
        </p:txBody>
      </p:sp>
      <p:sp>
        <p:nvSpPr>
          <p:cNvPr id="23" name="exec-blank-0">
            <a:extLst xmlns:a="http://schemas.openxmlformats.org/drawingml/2006/main">
              <a:ext uri="{FF2B5EF4-FFF2-40B4-BE49-F238E27FC236}">
                <a16:creationId xmlns:a16="http://schemas.microsoft.com/office/drawing/2014/main" id="{38FB57A8-794F-4C69-AECB-0B8A257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9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Complete with supported conclusion</a:t>
            </a:r>
          </a:p>
        </p:txBody>
      </p:sp>
      <p:sp>
        <p:nvSpPr>
          <p:cNvPr id="24" name="exec-number-1">
            <a:extLst xmlns:a="http://schemas.openxmlformats.org/drawingml/2006/main">
              <a:ext uri="{FF2B5EF4-FFF2-40B4-BE49-F238E27FC236}">
                <a16:creationId xmlns:a16="http://schemas.microsoft.com/office/drawing/2014/main" id="{7B49B163-032E-4261-B6F6-C15752EF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xec-num-text-1">
            <a:extLst xmlns:a="http://schemas.openxmlformats.org/drawingml/2006/main">
              <a:ext uri="{FF2B5EF4-FFF2-40B4-BE49-F238E27FC236}">
                <a16:creationId xmlns:a16="http://schemas.microsoft.com/office/drawing/2014/main" id="{37990085-A869-4AD5-AFE4-7E266B9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exec-item-1">
            <a:extLst xmlns:a="http://schemas.openxmlformats.org/drawingml/2006/main">
              <a:ext uri="{FF2B5EF4-FFF2-40B4-BE49-F238E27FC236}">
                <a16:creationId xmlns:a16="http://schemas.microsoft.com/office/drawing/2014/main" id="{AD183438-C96E-4332-968E-0431753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Primary operating causes</a:t>
            </a:r>
          </a:p>
        </p:txBody>
      </p:sp>
      <p:sp>
        <p:nvSpPr>
          <p:cNvPr id="27" name="exec-blank-1">
            <a:extLst xmlns:a="http://schemas.openxmlformats.org/drawingml/2006/main">
              <a:ext uri="{FF2B5EF4-FFF2-40B4-BE49-F238E27FC236}">
                <a16:creationId xmlns:a16="http://schemas.microsoft.com/office/drawing/2014/main" id="{34D49C69-B730-4096-8566-04F2947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76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Complete with supported conclusion</a:t>
            </a:r>
          </a:p>
        </p:txBody>
      </p:sp>
      <p:sp>
        <p:nvSpPr>
          <p:cNvPr id="28" name="exec-number-2">
            <a:extLst xmlns:a="http://schemas.openxmlformats.org/drawingml/2006/main">
              <a:ext uri="{FF2B5EF4-FFF2-40B4-BE49-F238E27FC236}">
                <a16:creationId xmlns:a16="http://schemas.microsoft.com/office/drawing/2014/main" id="{1970495A-A456-4672-9EE1-DB5E3FAA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xec-num-text-2">
            <a:extLst xmlns:a="http://schemas.openxmlformats.org/drawingml/2006/main">
              <a:ext uri="{FF2B5EF4-FFF2-40B4-BE49-F238E27FC236}">
                <a16:creationId xmlns:a16="http://schemas.microsoft.com/office/drawing/2014/main" id="{D2CF4ADE-22D0-4D87-97A4-D10B1245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exec-item-2">
            <a:extLst xmlns:a="http://schemas.openxmlformats.org/drawingml/2006/main">
              <a:ext uri="{FF2B5EF4-FFF2-40B4-BE49-F238E27FC236}">
                <a16:creationId xmlns:a16="http://schemas.microsoft.com/office/drawing/2014/main" id="{7854ABDA-92F8-493D-96FB-79CFB88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Liquidity and covenant posture</a:t>
            </a:r>
          </a:p>
        </p:txBody>
      </p:sp>
      <p:sp>
        <p:nvSpPr>
          <p:cNvPr id="31" name="exec-blank-2">
            <a:extLst xmlns:a="http://schemas.openxmlformats.org/drawingml/2006/main">
              <a:ext uri="{FF2B5EF4-FFF2-40B4-BE49-F238E27FC236}">
                <a16:creationId xmlns:a16="http://schemas.microsoft.com/office/drawing/2014/main" id="{2E63EAFA-C36D-4619-9873-E227526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43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Complete with supported conclusion</a:t>
            </a:r>
          </a:p>
        </p:txBody>
      </p:sp>
      <p:sp>
        <p:nvSpPr>
          <p:cNvPr id="32" name="exec-number-3">
            <a:extLst xmlns:a="http://schemas.openxmlformats.org/drawingml/2006/main">
              <a:ext uri="{FF2B5EF4-FFF2-40B4-BE49-F238E27FC236}">
                <a16:creationId xmlns:a16="http://schemas.microsoft.com/office/drawing/2014/main" id="{26095DFF-01B9-4A0A-9D13-CA34B36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xec-num-text-3">
            <a:extLst xmlns:a="http://schemas.openxmlformats.org/drawingml/2006/main">
              <a:ext uri="{FF2B5EF4-FFF2-40B4-BE49-F238E27FC236}">
                <a16:creationId xmlns:a16="http://schemas.microsoft.com/office/drawing/2014/main" id="{446EFEBF-C4A0-4DED-B916-CAEC9270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exec-item-3">
            <a:extLst xmlns:a="http://schemas.openxmlformats.org/drawingml/2006/main">
              <a:ext uri="{FF2B5EF4-FFF2-40B4-BE49-F238E27FC236}">
                <a16:creationId xmlns:a16="http://schemas.microsoft.com/office/drawing/2014/main" id="{05632DB7-01F4-4A04-951E-5F0D25F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Actions, owners, and decision dates</a:t>
            </a:r>
          </a:p>
        </p:txBody>
      </p:sp>
      <p:sp>
        <p:nvSpPr>
          <p:cNvPr id="35" name="exec-blank-3">
            <a:extLst xmlns:a="http://schemas.openxmlformats.org/drawingml/2006/main">
              <a:ext uri="{FF2B5EF4-FFF2-40B4-BE49-F238E27FC236}">
                <a16:creationId xmlns:a16="http://schemas.microsoft.com/office/drawing/2014/main" id="{2F1D30D5-58A0-4141-8EDD-A3B87FAF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0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Complete with supported conclusion</a:t>
            </a:r>
          </a:p>
        </p:txBody>
      </p:sp>
    </p:spTree>
    <p:extLst>
      <p:ext uri="{BB962C8B-B14F-4D97-AF65-F5344CB8AC3E}">
        <p14:creationId xmlns:p14="http://schemas.microsoft.com/office/powerpoint/2010/main" val="1030088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3">
            <a:extLst xmlns:a="http://schemas.openxmlformats.org/drawingml/2006/main">
              <a:ext uri="{FF2B5EF4-FFF2-40B4-BE49-F238E27FC236}">
                <a16:creationId xmlns:a16="http://schemas.microsoft.com/office/drawing/2014/main" id="{27F9500E-ADFC-47C2-9685-BC06E22C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75F643C-6E49-4B49-9221-8DD915D9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Revenue: bridge plan to actual before resetting the outlook</a:t>
            </a:r>
          </a:p>
        </p:txBody>
      </p:sp>
      <p:sp>
        <p:nvSpPr>
          <p:cNvPr id="3" name="draft-3">
            <a:extLst xmlns:a="http://schemas.openxmlformats.org/drawingml/2006/main">
              <a:ext uri="{FF2B5EF4-FFF2-40B4-BE49-F238E27FC236}">
                <a16:creationId xmlns:a16="http://schemas.microsoft.com/office/drawing/2014/main" id="{D0140804-47FD-47CB-B060-893B260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A31F116-6CB5-4480-831E-7A14EB8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8A6C0060-61CF-46BB-952D-CD2F679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AEEAEC4C-B680-41D7-A697-42710115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3</a:t>
            </a:r>
          </a:p>
        </p:txBody>
      </p:sp>
      <p:sp>
        <p:nvSpPr>
          <p:cNvPr id="7" name="metric-box-3-0">
            <a:extLst xmlns:a="http://schemas.openxmlformats.org/drawingml/2006/main">
              <a:ext uri="{FF2B5EF4-FFF2-40B4-BE49-F238E27FC236}">
                <a16:creationId xmlns:a16="http://schemas.microsoft.com/office/drawing/2014/main" id="{E4DEF904-0401-467A-A7E5-CF1F2A0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3-0">
            <a:extLst xmlns:a="http://schemas.openxmlformats.org/drawingml/2006/main">
              <a:ext uri="{FF2B5EF4-FFF2-40B4-BE49-F238E27FC236}">
                <a16:creationId xmlns:a16="http://schemas.microsoft.com/office/drawing/2014/main" id="{33A246B8-2FE3-458F-8627-6077083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June actual</a:t>
            </a:r>
          </a:p>
        </p:txBody>
      </p:sp>
      <p:sp>
        <p:nvSpPr>
          <p:cNvPr id="9" name="metric-value-3-0">
            <a:extLst xmlns:a="http://schemas.openxmlformats.org/drawingml/2006/main">
              <a:ext uri="{FF2B5EF4-FFF2-40B4-BE49-F238E27FC236}">
                <a16:creationId xmlns:a16="http://schemas.microsoft.com/office/drawing/2014/main" id="{0CCA2826-1F4A-4B8F-B30C-95F0E49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3-1">
            <a:extLst xmlns:a="http://schemas.openxmlformats.org/drawingml/2006/main">
              <a:ext uri="{FF2B5EF4-FFF2-40B4-BE49-F238E27FC236}">
                <a16:creationId xmlns:a16="http://schemas.microsoft.com/office/drawing/2014/main" id="{C70AF669-EC4E-4D57-B79B-EDEC3C9E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3-1">
            <a:extLst xmlns:a="http://schemas.openxmlformats.org/drawingml/2006/main">
              <a:ext uri="{FF2B5EF4-FFF2-40B4-BE49-F238E27FC236}">
                <a16:creationId xmlns:a16="http://schemas.microsoft.com/office/drawing/2014/main" id="{122E06A4-AD73-4CB5-B28D-38973955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June vs plan</a:t>
            </a:r>
          </a:p>
        </p:txBody>
      </p:sp>
      <p:sp>
        <p:nvSpPr>
          <p:cNvPr id="12" name="metric-value-3-1">
            <a:extLst xmlns:a="http://schemas.openxmlformats.org/drawingml/2006/main">
              <a:ext uri="{FF2B5EF4-FFF2-40B4-BE49-F238E27FC236}">
                <a16:creationId xmlns:a16="http://schemas.microsoft.com/office/drawing/2014/main" id="{7E2284AD-37C7-4BBC-9167-8E3F8139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3-2">
            <a:extLst xmlns:a="http://schemas.openxmlformats.org/drawingml/2006/main">
              <a:ext uri="{FF2B5EF4-FFF2-40B4-BE49-F238E27FC236}">
                <a16:creationId xmlns:a16="http://schemas.microsoft.com/office/drawing/2014/main" id="{36EEC870-C145-420B-9E60-231C354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3-2">
            <a:extLst xmlns:a="http://schemas.openxmlformats.org/drawingml/2006/main">
              <a:ext uri="{FF2B5EF4-FFF2-40B4-BE49-F238E27FC236}">
                <a16:creationId xmlns:a16="http://schemas.microsoft.com/office/drawing/2014/main" id="{E023E4EE-7C74-4945-A6BE-2CC50400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actual</a:t>
            </a:r>
          </a:p>
        </p:txBody>
      </p:sp>
      <p:sp>
        <p:nvSpPr>
          <p:cNvPr id="15" name="metric-value-3-2">
            <a:extLst xmlns:a="http://schemas.openxmlformats.org/drawingml/2006/main">
              <a:ext uri="{FF2B5EF4-FFF2-40B4-BE49-F238E27FC236}">
                <a16:creationId xmlns:a16="http://schemas.microsoft.com/office/drawing/2014/main" id="{225BBBD8-D2A8-4A68-9490-3F4C771D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3-3">
            <a:extLst xmlns:a="http://schemas.openxmlformats.org/drawingml/2006/main">
              <a:ext uri="{FF2B5EF4-FFF2-40B4-BE49-F238E27FC236}">
                <a16:creationId xmlns:a16="http://schemas.microsoft.com/office/drawing/2014/main" id="{3D87FEE8-8244-4652-B4A9-5175FCF1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3-3">
            <a:extLst xmlns:a="http://schemas.openxmlformats.org/drawingml/2006/main">
              <a:ext uri="{FF2B5EF4-FFF2-40B4-BE49-F238E27FC236}">
                <a16:creationId xmlns:a16="http://schemas.microsoft.com/office/drawing/2014/main" id="{6D2705B4-B1B7-4C66-8155-7A7C127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FY26 outlook</a:t>
            </a:r>
          </a:p>
        </p:txBody>
      </p:sp>
      <p:sp>
        <p:nvSpPr>
          <p:cNvPr id="18" name="metric-value-3-3">
            <a:extLst xmlns:a="http://schemas.openxmlformats.org/drawingml/2006/main">
              <a:ext uri="{FF2B5EF4-FFF2-40B4-BE49-F238E27FC236}">
                <a16:creationId xmlns:a16="http://schemas.microsoft.com/office/drawing/2014/main" id="{09E52176-E442-41A4-A923-A0590712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revenue-bridge-heading">
            <a:extLst xmlns:a="http://schemas.openxmlformats.org/drawingml/2006/main">
              <a:ext uri="{FF2B5EF4-FFF2-40B4-BE49-F238E27FC236}">
                <a16:creationId xmlns:a16="http://schemas.microsoft.com/office/drawing/2014/main" id="{90F6A758-84C6-4B86-BA2C-642A0662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Q2 revenue bridge ($ millions)</a:t>
            </a:r>
          </a:p>
        </p:txBody>
      </p:sp>
      <p:sp>
        <p:nvSpPr>
          <p:cNvPr id="20" name="rev-bar-0">
            <a:extLst xmlns:a="http://schemas.openxmlformats.org/drawingml/2006/main">
              <a:ext uri="{FF2B5EF4-FFF2-40B4-BE49-F238E27FC236}">
                <a16:creationId xmlns:a16="http://schemas.microsoft.com/office/drawing/2014/main" id="{D7B5116D-65B0-4AF9-A3E5-471F97B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1" name="rev-cat-0">
            <a:extLst xmlns:a="http://schemas.openxmlformats.org/drawingml/2006/main">
              <a:ext uri="{FF2B5EF4-FFF2-40B4-BE49-F238E27FC236}">
                <a16:creationId xmlns:a16="http://schemas.microsoft.com/office/drawing/2014/main" id="{00ED68B2-3F7F-45D9-B5E7-8E92A16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Plan</a:t>
            </a:r>
          </a:p>
        </p:txBody>
      </p:sp>
      <p:sp>
        <p:nvSpPr>
          <p:cNvPr id="22" name="rev-val-0">
            <a:extLst xmlns:a="http://schemas.openxmlformats.org/drawingml/2006/main">
              <a:ext uri="{FF2B5EF4-FFF2-40B4-BE49-F238E27FC236}">
                <a16:creationId xmlns:a16="http://schemas.microsoft.com/office/drawing/2014/main" id="{D72F549C-E134-4EF3-AD00-0D12486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3" name="rev-bar-1">
            <a:extLst xmlns:a="http://schemas.openxmlformats.org/drawingml/2006/main">
              <a:ext uri="{FF2B5EF4-FFF2-40B4-BE49-F238E27FC236}">
                <a16:creationId xmlns:a16="http://schemas.microsoft.com/office/drawing/2014/main" id="{086598CE-D3BB-4180-B030-45BBD47F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4" name="rev-cat-1">
            <a:extLst xmlns:a="http://schemas.openxmlformats.org/drawingml/2006/main">
              <a:ext uri="{FF2B5EF4-FFF2-40B4-BE49-F238E27FC236}">
                <a16:creationId xmlns:a16="http://schemas.microsoft.com/office/drawing/2014/main" id="{3FECDE82-4E00-41AB-BF57-869ED08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Volume</a:t>
            </a:r>
          </a:p>
        </p:txBody>
      </p:sp>
      <p:sp>
        <p:nvSpPr>
          <p:cNvPr id="25" name="rev-val-1">
            <a:extLst xmlns:a="http://schemas.openxmlformats.org/drawingml/2006/main">
              <a:ext uri="{FF2B5EF4-FFF2-40B4-BE49-F238E27FC236}">
                <a16:creationId xmlns:a16="http://schemas.microsoft.com/office/drawing/2014/main" id="{BC27F253-CFA3-4AEA-AE01-07341D7A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6" name="rev-bar-2">
            <a:extLst xmlns:a="http://schemas.openxmlformats.org/drawingml/2006/main">
              <a:ext uri="{FF2B5EF4-FFF2-40B4-BE49-F238E27FC236}">
                <a16:creationId xmlns:a16="http://schemas.microsoft.com/office/drawing/2014/main" id="{5192CAA6-1372-4BDB-A8F6-63BE151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7" name="rev-cat-2">
            <a:extLst xmlns:a="http://schemas.openxmlformats.org/drawingml/2006/main">
              <a:ext uri="{FF2B5EF4-FFF2-40B4-BE49-F238E27FC236}">
                <a16:creationId xmlns:a16="http://schemas.microsoft.com/office/drawing/2014/main" id="{C97D17E1-BBBF-45B7-8295-576048D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Price</a:t>
            </a:r>
          </a:p>
        </p:txBody>
      </p:sp>
      <p:sp>
        <p:nvSpPr>
          <p:cNvPr id="28" name="rev-val-2">
            <a:extLst xmlns:a="http://schemas.openxmlformats.org/drawingml/2006/main">
              <a:ext uri="{FF2B5EF4-FFF2-40B4-BE49-F238E27FC236}">
                <a16:creationId xmlns:a16="http://schemas.microsoft.com/office/drawing/2014/main" id="{168517D7-8A74-4EF2-AEB3-05DBCC9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rev-bar-3">
            <a:extLst xmlns:a="http://schemas.openxmlformats.org/drawingml/2006/main">
              <a:ext uri="{FF2B5EF4-FFF2-40B4-BE49-F238E27FC236}">
                <a16:creationId xmlns:a16="http://schemas.microsoft.com/office/drawing/2014/main" id="{E15DD930-F5CA-41AC-91B8-13833749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0" name="rev-cat-3">
            <a:extLst xmlns:a="http://schemas.openxmlformats.org/drawingml/2006/main">
              <a:ext uri="{FF2B5EF4-FFF2-40B4-BE49-F238E27FC236}">
                <a16:creationId xmlns:a16="http://schemas.microsoft.com/office/drawing/2014/main" id="{E54C4151-EBB4-4BBC-8C9A-5B503C4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Mix</a:t>
            </a:r>
          </a:p>
        </p:txBody>
      </p:sp>
      <p:sp>
        <p:nvSpPr>
          <p:cNvPr id="31" name="rev-val-3">
            <a:extLst xmlns:a="http://schemas.openxmlformats.org/drawingml/2006/main">
              <a:ext uri="{FF2B5EF4-FFF2-40B4-BE49-F238E27FC236}">
                <a16:creationId xmlns:a16="http://schemas.microsoft.com/office/drawing/2014/main" id="{62A7533F-D08E-41FE-BEA7-00B7B2CD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2" name="rev-bar-4">
            <a:extLst xmlns:a="http://schemas.openxmlformats.org/drawingml/2006/main">
              <a:ext uri="{FF2B5EF4-FFF2-40B4-BE49-F238E27FC236}">
                <a16:creationId xmlns:a16="http://schemas.microsoft.com/office/drawing/2014/main" id="{D09EE1A0-1F16-4076-A58C-23522844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3" name="rev-cat-4">
            <a:extLst xmlns:a="http://schemas.openxmlformats.org/drawingml/2006/main">
              <a:ext uri="{FF2B5EF4-FFF2-40B4-BE49-F238E27FC236}">
                <a16:creationId xmlns:a16="http://schemas.microsoft.com/office/drawing/2014/main" id="{9F479FA0-02B3-4F65-A736-0A01012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Backlog timing</a:t>
            </a:r>
          </a:p>
        </p:txBody>
      </p:sp>
      <p:sp>
        <p:nvSpPr>
          <p:cNvPr id="34" name="rev-val-4">
            <a:extLst xmlns:a="http://schemas.openxmlformats.org/drawingml/2006/main">
              <a:ext uri="{FF2B5EF4-FFF2-40B4-BE49-F238E27FC236}">
                <a16:creationId xmlns:a16="http://schemas.microsoft.com/office/drawing/2014/main" id="{35DD6DB9-4756-44F7-855F-571D9394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rev-bar-5">
            <a:extLst xmlns:a="http://schemas.openxmlformats.org/drawingml/2006/main">
              <a:ext uri="{FF2B5EF4-FFF2-40B4-BE49-F238E27FC236}">
                <a16:creationId xmlns:a16="http://schemas.microsoft.com/office/drawing/2014/main" id="{6792E287-A416-4106-95C8-B59B8C10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6" name="rev-cat-5">
            <a:extLst xmlns:a="http://schemas.openxmlformats.org/drawingml/2006/main">
              <a:ext uri="{FF2B5EF4-FFF2-40B4-BE49-F238E27FC236}">
                <a16:creationId xmlns:a16="http://schemas.microsoft.com/office/drawing/2014/main" id="{E397269F-28A3-40F9-A787-77630FA0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Actual</a:t>
            </a:r>
          </a:p>
        </p:txBody>
      </p:sp>
      <p:sp>
        <p:nvSpPr>
          <p:cNvPr id="37" name="rev-val-5">
            <a:extLst xmlns:a="http://schemas.openxmlformats.org/drawingml/2006/main">
              <a:ext uri="{FF2B5EF4-FFF2-40B4-BE49-F238E27FC236}">
                <a16:creationId xmlns:a16="http://schemas.microsoft.com/office/drawing/2014/main" id="{1C234878-E0C2-48F0-BBAB-34B1001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8" name="rev-source">
            <a:extLst xmlns:a="http://schemas.openxmlformats.org/drawingml/2006/main">
              <a:ext uri="{FF2B5EF4-FFF2-40B4-BE49-F238E27FC236}">
                <a16:creationId xmlns:a16="http://schemas.microsoft.com/office/drawing/2014/main" id="{07CD938A-6835-4105-9032-32FF28B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Source: controller-reviewed reporting schedules, management correspondence, and Vista ERP</a:t>
            </a:r>
          </a:p>
        </p:txBody>
      </p:sp>
    </p:spTree>
    <p:extLst>
      <p:ext uri="{BB962C8B-B14F-4D97-AF65-F5344CB8AC3E}">
        <p14:creationId xmlns:p14="http://schemas.microsoft.com/office/powerpoint/2010/main" val="233720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4">
            <a:extLst xmlns:a="http://schemas.openxmlformats.org/drawingml/2006/main">
              <a:ext uri="{FF2B5EF4-FFF2-40B4-BE49-F238E27FC236}">
                <a16:creationId xmlns:a16="http://schemas.microsoft.com/office/drawing/2014/main" id="{1DB38802-DF8F-4D11-AFC0-84B0F037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B1C638E-65B5-4F1D-9684-CDB07A8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EBITDA: isolate operational drivers from one-time items</a:t>
            </a:r>
          </a:p>
        </p:txBody>
      </p:sp>
      <p:sp>
        <p:nvSpPr>
          <p:cNvPr id="3" name="draft-4">
            <a:extLst xmlns:a="http://schemas.openxmlformats.org/drawingml/2006/main">
              <a:ext uri="{FF2B5EF4-FFF2-40B4-BE49-F238E27FC236}">
                <a16:creationId xmlns:a16="http://schemas.microsoft.com/office/drawing/2014/main" id="{C703CC8B-4DAB-4BFA-A478-0EB614E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46C362B-1441-4F89-846B-0B8D8BEC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8A1C9D95-8BBD-470E-9801-54ABEB5F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B755EB57-C880-48B8-9439-E66FBB6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4</a:t>
            </a:r>
          </a:p>
        </p:txBody>
      </p:sp>
      <p:sp>
        <p:nvSpPr>
          <p:cNvPr id="7" name="metric-box-4-0">
            <a:extLst xmlns:a="http://schemas.openxmlformats.org/drawingml/2006/main">
              <a:ext uri="{FF2B5EF4-FFF2-40B4-BE49-F238E27FC236}">
                <a16:creationId xmlns:a16="http://schemas.microsoft.com/office/drawing/2014/main" id="{B3E13AB8-80FF-4570-B8BE-9203ADD9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4-0">
            <a:extLst xmlns:a="http://schemas.openxmlformats.org/drawingml/2006/main">
              <a:ext uri="{FF2B5EF4-FFF2-40B4-BE49-F238E27FC236}">
                <a16:creationId xmlns:a16="http://schemas.microsoft.com/office/drawing/2014/main" id="{2A5E4BF3-7786-4100-A83C-336C2FD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adjusted EBITDA</a:t>
            </a:r>
          </a:p>
        </p:txBody>
      </p:sp>
      <p:sp>
        <p:nvSpPr>
          <p:cNvPr id="9" name="metric-value-4-0">
            <a:extLst xmlns:a="http://schemas.openxmlformats.org/drawingml/2006/main">
              <a:ext uri="{FF2B5EF4-FFF2-40B4-BE49-F238E27FC236}">
                <a16:creationId xmlns:a16="http://schemas.microsoft.com/office/drawing/2014/main" id="{D7DE5625-9B88-4BCE-B4A8-727893B0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4-1">
            <a:extLst xmlns:a="http://schemas.openxmlformats.org/drawingml/2006/main">
              <a:ext uri="{FF2B5EF4-FFF2-40B4-BE49-F238E27FC236}">
                <a16:creationId xmlns:a16="http://schemas.microsoft.com/office/drawing/2014/main" id="{FC133832-B19D-4168-9E77-652216C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4-1">
            <a:extLst xmlns:a="http://schemas.openxmlformats.org/drawingml/2006/main">
              <a:ext uri="{FF2B5EF4-FFF2-40B4-BE49-F238E27FC236}">
                <a16:creationId xmlns:a16="http://schemas.microsoft.com/office/drawing/2014/main" id="{5EC69583-0892-40C0-A0C3-977985D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margin</a:t>
            </a:r>
          </a:p>
        </p:txBody>
      </p:sp>
      <p:sp>
        <p:nvSpPr>
          <p:cNvPr id="12" name="metric-value-4-1">
            <a:extLst xmlns:a="http://schemas.openxmlformats.org/drawingml/2006/main">
              <a:ext uri="{FF2B5EF4-FFF2-40B4-BE49-F238E27FC236}">
                <a16:creationId xmlns:a16="http://schemas.microsoft.com/office/drawing/2014/main" id="{29F58760-459B-4C54-9B2B-41F3B41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4-2">
            <a:extLst xmlns:a="http://schemas.openxmlformats.org/drawingml/2006/main">
              <a:ext uri="{FF2B5EF4-FFF2-40B4-BE49-F238E27FC236}">
                <a16:creationId xmlns:a16="http://schemas.microsoft.com/office/drawing/2014/main" id="{8EE2A716-36D3-4A29-9F99-A2709EE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4-2">
            <a:extLst xmlns:a="http://schemas.openxmlformats.org/drawingml/2006/main">
              <a:ext uri="{FF2B5EF4-FFF2-40B4-BE49-F238E27FC236}">
                <a16:creationId xmlns:a16="http://schemas.microsoft.com/office/drawing/2014/main" id="{03D84150-5171-426D-BB36-48000C49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Variance to plan</a:t>
            </a:r>
          </a:p>
        </p:txBody>
      </p:sp>
      <p:sp>
        <p:nvSpPr>
          <p:cNvPr id="15" name="metric-value-4-2">
            <a:extLst xmlns:a="http://schemas.openxmlformats.org/drawingml/2006/main">
              <a:ext uri="{FF2B5EF4-FFF2-40B4-BE49-F238E27FC236}">
                <a16:creationId xmlns:a16="http://schemas.microsoft.com/office/drawing/2014/main" id="{81BCF515-0065-4E32-ADFC-E066490A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4-3">
            <a:extLst xmlns:a="http://schemas.openxmlformats.org/drawingml/2006/main">
              <a:ext uri="{FF2B5EF4-FFF2-40B4-BE49-F238E27FC236}">
                <a16:creationId xmlns:a16="http://schemas.microsoft.com/office/drawing/2014/main" id="{9D5973E7-C3ED-43FD-A723-9DFDDBD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4-3">
            <a:extLst xmlns:a="http://schemas.openxmlformats.org/drawingml/2006/main">
              <a:ext uri="{FF2B5EF4-FFF2-40B4-BE49-F238E27FC236}">
                <a16:creationId xmlns:a16="http://schemas.microsoft.com/office/drawing/2014/main" id="{44AF49EB-A980-461D-9F4B-18045280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Variance to prior year</a:t>
            </a:r>
          </a:p>
        </p:txBody>
      </p:sp>
      <p:sp>
        <p:nvSpPr>
          <p:cNvPr id="18" name="metric-value-4-3">
            <a:extLst xmlns:a="http://schemas.openxmlformats.org/drawingml/2006/main">
              <a:ext uri="{FF2B5EF4-FFF2-40B4-BE49-F238E27FC236}">
                <a16:creationId xmlns:a16="http://schemas.microsoft.com/office/drawing/2014/main" id="{BEE28E7B-55DB-49C9-BE6E-422301C8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ebitda-bridge-heading">
            <a:extLst xmlns:a="http://schemas.openxmlformats.org/drawingml/2006/main">
              <a:ext uri="{FF2B5EF4-FFF2-40B4-BE49-F238E27FC236}">
                <a16:creationId xmlns:a16="http://schemas.microsoft.com/office/drawing/2014/main" id="{71323DB3-6773-4585-8D9B-D5D01B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Q2 adjusted EBITDA bridge ($ millions)</a:t>
            </a:r>
          </a:p>
        </p:txBody>
      </p:sp>
      <p:sp>
        <p:nvSpPr>
          <p:cNvPr id="20" name="ebitda-bar-0">
            <a:extLst xmlns:a="http://schemas.openxmlformats.org/drawingml/2006/main">
              <a:ext uri="{FF2B5EF4-FFF2-40B4-BE49-F238E27FC236}">
                <a16:creationId xmlns:a16="http://schemas.microsoft.com/office/drawing/2014/main" id="{E2EBD298-9647-4F42-B611-088BDDA7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1" name="ebitda-driver-0">
            <a:extLst xmlns:a="http://schemas.openxmlformats.org/drawingml/2006/main">
              <a:ext uri="{FF2B5EF4-FFF2-40B4-BE49-F238E27FC236}">
                <a16:creationId xmlns:a16="http://schemas.microsoft.com/office/drawing/2014/main" id="{8E949355-A514-47CC-A2EF-8C10B02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</a:defRPr>
            </a:pPr>
            <a:r>
              <a:rPr sz="1125" b="1">
                <a:solidFill>
                  <a:srgbClr val="1F2937"/>
                </a:solidFill>
              </a:rPr>
              <a:t>Plan</a:t>
            </a:r>
          </a:p>
        </p:txBody>
      </p:sp>
      <p:sp>
        <p:nvSpPr>
          <p:cNvPr id="22" name="ebitda-val-0">
            <a:extLst xmlns:a="http://schemas.openxmlformats.org/drawingml/2006/main">
              <a:ext uri="{FF2B5EF4-FFF2-40B4-BE49-F238E27FC236}">
                <a16:creationId xmlns:a16="http://schemas.microsoft.com/office/drawing/2014/main" id="{4480D935-86CA-4B68-811E-F6E9474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3" name="ebitda-bar-1">
            <a:extLst xmlns:a="http://schemas.openxmlformats.org/drawingml/2006/main">
              <a:ext uri="{FF2B5EF4-FFF2-40B4-BE49-F238E27FC236}">
                <a16:creationId xmlns:a16="http://schemas.microsoft.com/office/drawing/2014/main" id="{BB21D530-A700-4052-894A-56DCB404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4" name="ebitda-driver-1">
            <a:extLst xmlns:a="http://schemas.openxmlformats.org/drawingml/2006/main">
              <a:ext uri="{FF2B5EF4-FFF2-40B4-BE49-F238E27FC236}">
                <a16:creationId xmlns:a16="http://schemas.microsoft.com/office/drawing/2014/main" id="{E62F3A50-DB9D-4130-BDEE-95E91A96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Revenue / mix</a:t>
            </a:r>
          </a:p>
        </p:txBody>
      </p:sp>
      <p:sp>
        <p:nvSpPr>
          <p:cNvPr id="25" name="ebitda-val-1">
            <a:extLst xmlns:a="http://schemas.openxmlformats.org/drawingml/2006/main">
              <a:ext uri="{FF2B5EF4-FFF2-40B4-BE49-F238E27FC236}">
                <a16:creationId xmlns:a16="http://schemas.microsoft.com/office/drawing/2014/main" id="{38230A8F-C5B0-4C7F-BD14-9C894D73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6" name="ebitda-bar-2">
            <a:extLst xmlns:a="http://schemas.openxmlformats.org/drawingml/2006/main">
              <a:ext uri="{FF2B5EF4-FFF2-40B4-BE49-F238E27FC236}">
                <a16:creationId xmlns:a16="http://schemas.microsoft.com/office/drawing/2014/main" id="{0E36DE39-DED3-47C0-A04B-27171455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7" name="ebitda-driver-2">
            <a:extLst xmlns:a="http://schemas.openxmlformats.org/drawingml/2006/main">
              <a:ext uri="{FF2B5EF4-FFF2-40B4-BE49-F238E27FC236}">
                <a16:creationId xmlns:a16="http://schemas.microsoft.com/office/drawing/2014/main" id="{B3C3C158-A426-4B91-B7E3-EE91ED2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Field labor</a:t>
            </a:r>
          </a:p>
        </p:txBody>
      </p:sp>
      <p:sp>
        <p:nvSpPr>
          <p:cNvPr id="28" name="ebitda-val-2">
            <a:extLst xmlns:a="http://schemas.openxmlformats.org/drawingml/2006/main">
              <a:ext uri="{FF2B5EF4-FFF2-40B4-BE49-F238E27FC236}">
                <a16:creationId xmlns:a16="http://schemas.microsoft.com/office/drawing/2014/main" id="{52304942-3E56-4CB9-896D-40779A4A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ebitda-bar-3">
            <a:extLst xmlns:a="http://schemas.openxmlformats.org/drawingml/2006/main">
              <a:ext uri="{FF2B5EF4-FFF2-40B4-BE49-F238E27FC236}">
                <a16:creationId xmlns:a16="http://schemas.microsoft.com/office/drawing/2014/main" id="{6CCC8D75-1E36-40F2-B6DE-C6DDA4E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0" name="ebitda-driver-3">
            <a:extLst xmlns:a="http://schemas.openxmlformats.org/drawingml/2006/main">
              <a:ext uri="{FF2B5EF4-FFF2-40B4-BE49-F238E27FC236}">
                <a16:creationId xmlns:a16="http://schemas.microsoft.com/office/drawing/2014/main" id="{222DEFAC-ECD2-464D-839E-68844B7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Materials</a:t>
            </a:r>
          </a:p>
        </p:txBody>
      </p:sp>
      <p:sp>
        <p:nvSpPr>
          <p:cNvPr id="31" name="ebitda-val-3">
            <a:extLst xmlns:a="http://schemas.openxmlformats.org/drawingml/2006/main">
              <a:ext uri="{FF2B5EF4-FFF2-40B4-BE49-F238E27FC236}">
                <a16:creationId xmlns:a16="http://schemas.microsoft.com/office/drawing/2014/main" id="{8B7550BA-AE85-44C1-83C0-D5502106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2" name="ebitda-bar-4">
            <a:extLst xmlns:a="http://schemas.openxmlformats.org/drawingml/2006/main">
              <a:ext uri="{FF2B5EF4-FFF2-40B4-BE49-F238E27FC236}">
                <a16:creationId xmlns:a16="http://schemas.microsoft.com/office/drawing/2014/main" id="{0F9433E3-A453-47B5-A882-CAC9AA9E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3" name="ebitda-driver-4">
            <a:extLst xmlns:a="http://schemas.openxmlformats.org/drawingml/2006/main">
              <a:ext uri="{FF2B5EF4-FFF2-40B4-BE49-F238E27FC236}">
                <a16:creationId xmlns:a16="http://schemas.microsoft.com/office/drawing/2014/main" id="{2BFA8571-51B2-4666-BE56-993BEA7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Overhead</a:t>
            </a:r>
          </a:p>
        </p:txBody>
      </p:sp>
      <p:sp>
        <p:nvSpPr>
          <p:cNvPr id="34" name="ebitda-val-4">
            <a:extLst xmlns:a="http://schemas.openxmlformats.org/drawingml/2006/main">
              <a:ext uri="{FF2B5EF4-FFF2-40B4-BE49-F238E27FC236}">
                <a16:creationId xmlns:a16="http://schemas.microsoft.com/office/drawing/2014/main" id="{F8C6CD2C-6D83-4021-960E-36A1931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ebitda-bar-5">
            <a:extLst xmlns:a="http://schemas.openxmlformats.org/drawingml/2006/main">
              <a:ext uri="{FF2B5EF4-FFF2-40B4-BE49-F238E27FC236}">
                <a16:creationId xmlns:a16="http://schemas.microsoft.com/office/drawing/2014/main" id="{620AACAA-ECE6-4D9C-B67A-4FE4DE5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6" name="ebitda-driver-5">
            <a:extLst xmlns:a="http://schemas.openxmlformats.org/drawingml/2006/main">
              <a:ext uri="{FF2B5EF4-FFF2-40B4-BE49-F238E27FC236}">
                <a16:creationId xmlns:a16="http://schemas.microsoft.com/office/drawing/2014/main" id="{EF1C53FB-6633-4868-8C1B-A705F9A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</a:defRPr>
            </a:pPr>
            <a:r>
              <a:rPr sz="1125" b="1">
                <a:solidFill>
                  <a:srgbClr val="1F2937"/>
                </a:solidFill>
              </a:rPr>
              <a:t>Actual</a:t>
            </a:r>
          </a:p>
        </p:txBody>
      </p:sp>
      <p:sp>
        <p:nvSpPr>
          <p:cNvPr id="37" name="ebitda-val-5">
            <a:extLst xmlns:a="http://schemas.openxmlformats.org/drawingml/2006/main">
              <a:ext uri="{FF2B5EF4-FFF2-40B4-BE49-F238E27FC236}">
                <a16:creationId xmlns:a16="http://schemas.microsoft.com/office/drawing/2014/main" id="{313F4649-FBA1-4D3E-B31C-3358630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246589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5">
            <a:extLst xmlns:a="http://schemas.openxmlformats.org/drawingml/2006/main">
              <a:ext uri="{FF2B5EF4-FFF2-40B4-BE49-F238E27FC236}">
                <a16:creationId xmlns:a16="http://schemas.microsoft.com/office/drawing/2014/main" id="{77AF888A-DF0B-4D88-AB51-D16FE9D3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83ED785-8337-4870-9DFC-BB93569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Business-unit scorecard: make the misses and owners explicit</a:t>
            </a:r>
          </a:p>
        </p:txBody>
      </p:sp>
      <p:sp>
        <p:nvSpPr>
          <p:cNvPr id="3" name="draft-5">
            <a:extLst xmlns:a="http://schemas.openxmlformats.org/drawingml/2006/main">
              <a:ext uri="{FF2B5EF4-FFF2-40B4-BE49-F238E27FC236}">
                <a16:creationId xmlns:a16="http://schemas.microsoft.com/office/drawing/2014/main" id="{495C058D-643C-484F-BFE5-AE5A6902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5E1F8E41-B7C5-4D12-8C7D-758F1661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F5529049-C7ED-4DA3-AA8E-F753793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87B85138-8A6D-4488-B3AA-ECB40588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5</a:t>
            </a:r>
          </a:p>
        </p:txBody>
      </p:sp>
      <p:sp>
        <p:nvSpPr>
          <p:cNvPr id="7" name="score-head-0">
            <a:extLst xmlns:a="http://schemas.openxmlformats.org/drawingml/2006/main">
              <a:ext uri="{FF2B5EF4-FFF2-40B4-BE49-F238E27FC236}">
                <a16:creationId xmlns:a16="http://schemas.microsoft.com/office/drawing/2014/main" id="{AC985336-BA9C-4356-8492-72C7E0F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core-head-text-0">
            <a:extLst xmlns:a="http://schemas.openxmlformats.org/drawingml/2006/main">
              <a:ext uri="{FF2B5EF4-FFF2-40B4-BE49-F238E27FC236}">
                <a16:creationId xmlns:a16="http://schemas.microsoft.com/office/drawing/2014/main" id="{3711934B-A56B-4696-84EE-6EB1936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Business unit</a:t>
            </a:r>
          </a:p>
        </p:txBody>
      </p:sp>
      <p:sp>
        <p:nvSpPr>
          <p:cNvPr id="9" name="score-head-1">
            <a:extLst xmlns:a="http://schemas.openxmlformats.org/drawingml/2006/main">
              <a:ext uri="{FF2B5EF4-FFF2-40B4-BE49-F238E27FC236}">
                <a16:creationId xmlns:a16="http://schemas.microsoft.com/office/drawing/2014/main" id="{E53E8F94-D4A0-419C-BF94-4C86705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382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score-head-text-1">
            <a:extLst xmlns:a="http://schemas.openxmlformats.org/drawingml/2006/main">
              <a:ext uri="{FF2B5EF4-FFF2-40B4-BE49-F238E27FC236}">
                <a16:creationId xmlns:a16="http://schemas.microsoft.com/office/drawing/2014/main" id="{ACB24AB3-9307-4E7B-AA25-FE74F38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38250"/>
            <a:ext cx="1133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1" name="score-head-2">
            <a:extLst xmlns:a="http://schemas.openxmlformats.org/drawingml/2006/main">
              <a:ext uri="{FF2B5EF4-FFF2-40B4-BE49-F238E27FC236}">
                <a16:creationId xmlns:a16="http://schemas.microsoft.com/office/drawing/2014/main" id="{19D05A69-0165-459E-B12D-84BCF705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2382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score-head-text-2">
            <a:extLst xmlns:a="http://schemas.openxmlformats.org/drawingml/2006/main">
              <a:ext uri="{FF2B5EF4-FFF2-40B4-BE49-F238E27FC236}">
                <a16:creationId xmlns:a16="http://schemas.microsoft.com/office/drawing/2014/main" id="{BD020F57-E924-4865-B9A6-C0596D1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238250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vs plan</a:t>
            </a:r>
          </a:p>
        </p:txBody>
      </p:sp>
      <p:sp>
        <p:nvSpPr>
          <p:cNvPr id="13" name="score-head-3">
            <a:extLst xmlns:a="http://schemas.openxmlformats.org/drawingml/2006/main">
              <a:ext uri="{FF2B5EF4-FFF2-40B4-BE49-F238E27FC236}">
                <a16:creationId xmlns:a16="http://schemas.microsoft.com/office/drawing/2014/main" id="{DF1021C8-B3B5-4AB9-AB73-A51ACF0C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38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core-head-text-3">
            <a:extLst xmlns:a="http://schemas.openxmlformats.org/drawingml/2006/main">
              <a:ext uri="{FF2B5EF4-FFF2-40B4-BE49-F238E27FC236}">
                <a16:creationId xmlns:a16="http://schemas.microsoft.com/office/drawing/2014/main" id="{5129C547-9515-4B12-900D-076C666A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382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15" name="score-head-4">
            <a:extLst xmlns:a="http://schemas.openxmlformats.org/drawingml/2006/main">
              <a:ext uri="{FF2B5EF4-FFF2-40B4-BE49-F238E27FC236}">
                <a16:creationId xmlns:a16="http://schemas.microsoft.com/office/drawing/2014/main" id="{14AC789D-01B0-4CD1-B16F-D4DC30A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382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score-head-text-4">
            <a:extLst xmlns:a="http://schemas.openxmlformats.org/drawingml/2006/main">
              <a:ext uri="{FF2B5EF4-FFF2-40B4-BE49-F238E27FC236}">
                <a16:creationId xmlns:a16="http://schemas.microsoft.com/office/drawing/2014/main" id="{25B69EBB-54AC-48A9-99D0-BEA16596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38250"/>
            <a:ext cx="1133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EBITDA</a:t>
            </a:r>
          </a:p>
        </p:txBody>
      </p:sp>
      <p:sp>
        <p:nvSpPr>
          <p:cNvPr id="17" name="score-head-5">
            <a:extLst xmlns:a="http://schemas.openxmlformats.org/drawingml/2006/main">
              <a:ext uri="{FF2B5EF4-FFF2-40B4-BE49-F238E27FC236}">
                <a16:creationId xmlns:a16="http://schemas.microsoft.com/office/drawing/2014/main" id="{4EC31AB3-C67D-416A-B240-41BDB9B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238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score-head-text-5">
            <a:extLst xmlns:a="http://schemas.openxmlformats.org/drawingml/2006/main">
              <a:ext uri="{FF2B5EF4-FFF2-40B4-BE49-F238E27FC236}">
                <a16:creationId xmlns:a16="http://schemas.microsoft.com/office/drawing/2014/main" id="{F7420B79-1F58-42F0-96CA-4918C8BB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2382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Outlook</a:t>
            </a:r>
          </a:p>
        </p:txBody>
      </p:sp>
      <p:sp>
        <p:nvSpPr>
          <p:cNvPr id="19" name="score-head-6">
            <a:extLst xmlns:a="http://schemas.openxmlformats.org/drawingml/2006/main">
              <a:ext uri="{FF2B5EF4-FFF2-40B4-BE49-F238E27FC236}">
                <a16:creationId xmlns:a16="http://schemas.microsoft.com/office/drawing/2014/main" id="{03A5C276-2704-43A6-B406-AD133A4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2382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score-head-text-6">
            <a:extLst xmlns:a="http://schemas.openxmlformats.org/drawingml/2006/main">
              <a:ext uri="{FF2B5EF4-FFF2-40B4-BE49-F238E27FC236}">
                <a16:creationId xmlns:a16="http://schemas.microsoft.com/office/drawing/2014/main" id="{FD300921-C12C-425F-81BC-2216569B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2382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 action</a:t>
            </a:r>
          </a:p>
        </p:txBody>
      </p:sp>
      <p:sp>
        <p:nvSpPr>
          <p:cNvPr id="21" name="score-0-0">
            <a:extLst xmlns:a="http://schemas.openxmlformats.org/drawingml/2006/main">
              <a:ext uri="{FF2B5EF4-FFF2-40B4-BE49-F238E27FC236}">
                <a16:creationId xmlns:a16="http://schemas.microsoft.com/office/drawing/2014/main" id="{03BE9784-13E9-4050-BC74-7EB1D983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score-text-0-0">
            <a:extLst xmlns:a="http://schemas.openxmlformats.org/drawingml/2006/main">
              <a:ext uri="{FF2B5EF4-FFF2-40B4-BE49-F238E27FC236}">
                <a16:creationId xmlns:a16="http://schemas.microsoft.com/office/drawing/2014/main" id="{2C0134C3-76E7-41B0-9682-C0BEE05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Construction</a:t>
            </a:r>
          </a:p>
        </p:txBody>
      </p:sp>
      <p:sp>
        <p:nvSpPr>
          <p:cNvPr id="23" name="score-0-1">
            <a:extLst xmlns:a="http://schemas.openxmlformats.org/drawingml/2006/main">
              <a:ext uri="{FF2B5EF4-FFF2-40B4-BE49-F238E27FC236}">
                <a16:creationId xmlns:a16="http://schemas.microsoft.com/office/drawing/2014/main" id="{47D95281-042B-45FE-A0DA-ECE03B0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954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score-text-0-1">
            <a:extLst xmlns:a="http://schemas.openxmlformats.org/drawingml/2006/main">
              <a:ext uri="{FF2B5EF4-FFF2-40B4-BE49-F238E27FC236}">
                <a16:creationId xmlns:a16="http://schemas.microsoft.com/office/drawing/2014/main" id="{2149A7C2-E4EF-48FB-BC1D-E61A202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5" name="score-0-2">
            <a:extLst xmlns:a="http://schemas.openxmlformats.org/drawingml/2006/main">
              <a:ext uri="{FF2B5EF4-FFF2-40B4-BE49-F238E27FC236}">
                <a16:creationId xmlns:a16="http://schemas.microsoft.com/office/drawing/2014/main" id="{F98A7E9D-DDE2-46DD-BA09-78BBF4F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69545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score-text-0-2">
            <a:extLst xmlns:a="http://schemas.openxmlformats.org/drawingml/2006/main">
              <a:ext uri="{FF2B5EF4-FFF2-40B4-BE49-F238E27FC236}">
                <a16:creationId xmlns:a16="http://schemas.microsoft.com/office/drawing/2014/main" id="{1F00D303-3A9D-4385-81B2-E99B12A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7" name="score-0-3">
            <a:extLst xmlns:a="http://schemas.openxmlformats.org/drawingml/2006/main">
              <a:ext uri="{FF2B5EF4-FFF2-40B4-BE49-F238E27FC236}">
                <a16:creationId xmlns:a16="http://schemas.microsoft.com/office/drawing/2014/main" id="{47C5C0FD-80A4-47CA-B5A6-B99242B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score-text-0-3">
            <a:extLst xmlns:a="http://schemas.openxmlformats.org/drawingml/2006/main">
              <a:ext uri="{FF2B5EF4-FFF2-40B4-BE49-F238E27FC236}">
                <a16:creationId xmlns:a16="http://schemas.microsoft.com/office/drawing/2014/main" id="{EC7DEF67-693C-4830-AE03-5CA177A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954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score-0-4">
            <a:extLst xmlns:a="http://schemas.openxmlformats.org/drawingml/2006/main">
              <a:ext uri="{FF2B5EF4-FFF2-40B4-BE49-F238E27FC236}">
                <a16:creationId xmlns:a16="http://schemas.microsoft.com/office/drawing/2014/main" id="{D29DA093-1184-4086-8288-DDC6C1C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score-text-0-4">
            <a:extLst xmlns:a="http://schemas.openxmlformats.org/drawingml/2006/main">
              <a:ext uri="{FF2B5EF4-FFF2-40B4-BE49-F238E27FC236}">
                <a16:creationId xmlns:a16="http://schemas.microsoft.com/office/drawing/2014/main" id="{7BD45601-181D-4F41-8F49-077463DB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954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1" name="score-0-5">
            <a:extLst xmlns:a="http://schemas.openxmlformats.org/drawingml/2006/main">
              <a:ext uri="{FF2B5EF4-FFF2-40B4-BE49-F238E27FC236}">
                <a16:creationId xmlns:a16="http://schemas.microsoft.com/office/drawing/2014/main" id="{6949ABF6-3166-48B2-B6E0-28D5EFC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954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score-text-0-5">
            <a:extLst xmlns:a="http://schemas.openxmlformats.org/drawingml/2006/main">
              <a:ext uri="{FF2B5EF4-FFF2-40B4-BE49-F238E27FC236}">
                <a16:creationId xmlns:a16="http://schemas.microsoft.com/office/drawing/2014/main" id="{0E03C974-0A44-4EEC-B79A-26C0667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954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3" name="score-0-6">
            <a:extLst xmlns:a="http://schemas.openxmlformats.org/drawingml/2006/main">
              <a:ext uri="{FF2B5EF4-FFF2-40B4-BE49-F238E27FC236}">
                <a16:creationId xmlns:a16="http://schemas.microsoft.com/office/drawing/2014/main" id="{C8BF5447-06B3-48FF-B3F5-504A379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954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score-text-0-6">
            <a:extLst xmlns:a="http://schemas.openxmlformats.org/drawingml/2006/main">
              <a:ext uri="{FF2B5EF4-FFF2-40B4-BE49-F238E27FC236}">
                <a16:creationId xmlns:a16="http://schemas.microsoft.com/office/drawing/2014/main" id="{AEAC8807-CEBA-4AD9-A2ED-EDC89197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69545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score-1-0">
            <a:extLst xmlns:a="http://schemas.openxmlformats.org/drawingml/2006/main">
              <a:ext uri="{FF2B5EF4-FFF2-40B4-BE49-F238E27FC236}">
                <a16:creationId xmlns:a16="http://schemas.microsoft.com/office/drawing/2014/main" id="{53B6569C-C883-4203-B262-DF98FBE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score-text-1-0">
            <a:extLst xmlns:a="http://schemas.openxmlformats.org/drawingml/2006/main">
              <a:ext uri="{FF2B5EF4-FFF2-40B4-BE49-F238E27FC236}">
                <a16:creationId xmlns:a16="http://schemas.microsoft.com/office/drawing/2014/main" id="{4F09800D-EFB0-419A-A5DD-9C5AE177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Service</a:t>
            </a:r>
          </a:p>
        </p:txBody>
      </p:sp>
      <p:sp>
        <p:nvSpPr>
          <p:cNvPr id="37" name="score-1-1">
            <a:extLst xmlns:a="http://schemas.openxmlformats.org/drawingml/2006/main">
              <a:ext uri="{FF2B5EF4-FFF2-40B4-BE49-F238E27FC236}">
                <a16:creationId xmlns:a16="http://schemas.microsoft.com/office/drawing/2014/main" id="{B99ED8B7-52DC-4C56-B23F-C202E2F8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score-text-1-1">
            <a:extLst xmlns:a="http://schemas.openxmlformats.org/drawingml/2006/main">
              <a:ext uri="{FF2B5EF4-FFF2-40B4-BE49-F238E27FC236}">
                <a16:creationId xmlns:a16="http://schemas.microsoft.com/office/drawing/2014/main" id="{6AD7DBCA-97CF-4F5B-B2A3-998EAE17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9" name="score-1-2">
            <a:extLst xmlns:a="http://schemas.openxmlformats.org/drawingml/2006/main">
              <a:ext uri="{FF2B5EF4-FFF2-40B4-BE49-F238E27FC236}">
                <a16:creationId xmlns:a16="http://schemas.microsoft.com/office/drawing/2014/main" id="{346CB715-D0CE-4C05-BB0F-6B381EC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0030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score-text-1-2">
            <a:extLst xmlns:a="http://schemas.openxmlformats.org/drawingml/2006/main">
              <a:ext uri="{FF2B5EF4-FFF2-40B4-BE49-F238E27FC236}">
                <a16:creationId xmlns:a16="http://schemas.microsoft.com/office/drawing/2014/main" id="{A1384C7F-BBFB-4365-8E7C-59C90AB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0030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1" name="score-1-3">
            <a:extLst xmlns:a="http://schemas.openxmlformats.org/drawingml/2006/main">
              <a:ext uri="{FF2B5EF4-FFF2-40B4-BE49-F238E27FC236}">
                <a16:creationId xmlns:a16="http://schemas.microsoft.com/office/drawing/2014/main" id="{C1846D3B-B390-4076-A63D-A70EB98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score-text-1-3">
            <a:extLst xmlns:a="http://schemas.openxmlformats.org/drawingml/2006/main">
              <a:ext uri="{FF2B5EF4-FFF2-40B4-BE49-F238E27FC236}">
                <a16:creationId xmlns:a16="http://schemas.microsoft.com/office/drawing/2014/main" id="{D1539249-3D86-4FFF-B81C-E0870E50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3" name="score-1-4">
            <a:extLst xmlns:a="http://schemas.openxmlformats.org/drawingml/2006/main">
              <a:ext uri="{FF2B5EF4-FFF2-40B4-BE49-F238E27FC236}">
                <a16:creationId xmlns:a16="http://schemas.microsoft.com/office/drawing/2014/main" id="{2F409B7B-EA89-4430-96C9-4D4F00C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score-text-1-4">
            <a:extLst xmlns:a="http://schemas.openxmlformats.org/drawingml/2006/main">
              <a:ext uri="{FF2B5EF4-FFF2-40B4-BE49-F238E27FC236}">
                <a16:creationId xmlns:a16="http://schemas.microsoft.com/office/drawing/2014/main" id="{5A5C079F-127D-4FEA-BDCD-9874F2A5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5" name="score-1-5">
            <a:extLst xmlns:a="http://schemas.openxmlformats.org/drawingml/2006/main">
              <a:ext uri="{FF2B5EF4-FFF2-40B4-BE49-F238E27FC236}">
                <a16:creationId xmlns:a16="http://schemas.microsoft.com/office/drawing/2014/main" id="{69C8443F-7AA9-4929-A4BE-7121F4B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003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score-text-1-5">
            <a:extLst xmlns:a="http://schemas.openxmlformats.org/drawingml/2006/main">
              <a:ext uri="{FF2B5EF4-FFF2-40B4-BE49-F238E27FC236}">
                <a16:creationId xmlns:a16="http://schemas.microsoft.com/office/drawing/2014/main" id="{319E1568-A2C4-4EE1-9315-8E2FC2CB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003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7" name="score-1-6">
            <a:extLst xmlns:a="http://schemas.openxmlformats.org/drawingml/2006/main">
              <a:ext uri="{FF2B5EF4-FFF2-40B4-BE49-F238E27FC236}">
                <a16:creationId xmlns:a16="http://schemas.microsoft.com/office/drawing/2014/main" id="{2515FB02-FD01-4E01-898A-447F6671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003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score-text-1-6">
            <a:extLst xmlns:a="http://schemas.openxmlformats.org/drawingml/2006/main">
              <a:ext uri="{FF2B5EF4-FFF2-40B4-BE49-F238E27FC236}">
                <a16:creationId xmlns:a16="http://schemas.microsoft.com/office/drawing/2014/main" id="{2B0F93C7-0389-4BDD-B09D-296AD09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0030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9" name="score-2-0">
            <a:extLst xmlns:a="http://schemas.openxmlformats.org/drawingml/2006/main">
              <a:ext uri="{FF2B5EF4-FFF2-40B4-BE49-F238E27FC236}">
                <a16:creationId xmlns:a16="http://schemas.microsoft.com/office/drawing/2014/main" id="{2D806BBA-88C8-4A74-948D-6B6BCE6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score-text-2-0">
            <a:extLst xmlns:a="http://schemas.openxmlformats.org/drawingml/2006/main">
              <a:ext uri="{FF2B5EF4-FFF2-40B4-BE49-F238E27FC236}">
                <a16:creationId xmlns:a16="http://schemas.microsoft.com/office/drawing/2014/main" id="{1A34172E-5BF4-4CA6-8BD4-AB84F803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Building Controls</a:t>
            </a:r>
          </a:p>
        </p:txBody>
      </p:sp>
      <p:sp>
        <p:nvSpPr>
          <p:cNvPr id="51" name="score-2-1">
            <a:extLst xmlns:a="http://schemas.openxmlformats.org/drawingml/2006/main">
              <a:ext uri="{FF2B5EF4-FFF2-40B4-BE49-F238E27FC236}">
                <a16:creationId xmlns:a16="http://schemas.microsoft.com/office/drawing/2014/main" id="{57BA4D49-AFAA-440A-AFAD-E8B542DC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score-text-2-1">
            <a:extLst xmlns:a="http://schemas.openxmlformats.org/drawingml/2006/main">
              <a:ext uri="{FF2B5EF4-FFF2-40B4-BE49-F238E27FC236}">
                <a16:creationId xmlns:a16="http://schemas.microsoft.com/office/drawing/2014/main" id="{E51CF170-1718-46E8-83B1-AC0F9DC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3" name="score-2-2">
            <a:extLst xmlns:a="http://schemas.openxmlformats.org/drawingml/2006/main">
              <a:ext uri="{FF2B5EF4-FFF2-40B4-BE49-F238E27FC236}">
                <a16:creationId xmlns:a16="http://schemas.microsoft.com/office/drawing/2014/main" id="{401F2E6C-6481-4B8F-A13D-6D69C17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score-text-2-2">
            <a:extLst xmlns:a="http://schemas.openxmlformats.org/drawingml/2006/main">
              <a:ext uri="{FF2B5EF4-FFF2-40B4-BE49-F238E27FC236}">
                <a16:creationId xmlns:a16="http://schemas.microsoft.com/office/drawing/2014/main" id="{A7CCF2DF-5860-48B4-B74B-528B541F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0515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5" name="score-2-3">
            <a:extLst xmlns:a="http://schemas.openxmlformats.org/drawingml/2006/main">
              <a:ext uri="{FF2B5EF4-FFF2-40B4-BE49-F238E27FC236}">
                <a16:creationId xmlns:a16="http://schemas.microsoft.com/office/drawing/2014/main" id="{5BFBF039-B7A9-495F-BC21-EF181BA0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score-text-2-3">
            <a:extLst xmlns:a="http://schemas.openxmlformats.org/drawingml/2006/main">
              <a:ext uri="{FF2B5EF4-FFF2-40B4-BE49-F238E27FC236}">
                <a16:creationId xmlns:a16="http://schemas.microsoft.com/office/drawing/2014/main" id="{DD4DAD60-8958-4770-931A-03E940C7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7" name="score-2-4">
            <a:extLst xmlns:a="http://schemas.openxmlformats.org/drawingml/2006/main">
              <a:ext uri="{FF2B5EF4-FFF2-40B4-BE49-F238E27FC236}">
                <a16:creationId xmlns:a16="http://schemas.microsoft.com/office/drawing/2014/main" id="{AF5178FC-42DF-4A3F-9CA3-2913837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score-text-2-4">
            <a:extLst xmlns:a="http://schemas.openxmlformats.org/drawingml/2006/main">
              <a:ext uri="{FF2B5EF4-FFF2-40B4-BE49-F238E27FC236}">
                <a16:creationId xmlns:a16="http://schemas.microsoft.com/office/drawing/2014/main" id="{5005B5AD-44DD-4095-AAC8-56E2EBD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9" name="score-2-5">
            <a:extLst xmlns:a="http://schemas.openxmlformats.org/drawingml/2006/main">
              <a:ext uri="{FF2B5EF4-FFF2-40B4-BE49-F238E27FC236}">
                <a16:creationId xmlns:a16="http://schemas.microsoft.com/office/drawing/2014/main" id="{9AA171D5-9EFC-418E-884E-B0365A7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score-text-2-5">
            <a:extLst xmlns:a="http://schemas.openxmlformats.org/drawingml/2006/main">
              <a:ext uri="{FF2B5EF4-FFF2-40B4-BE49-F238E27FC236}">
                <a16:creationId xmlns:a16="http://schemas.microsoft.com/office/drawing/2014/main" id="{3D155CF8-AE9E-4BFC-A771-14D30CB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051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1" name="score-2-6">
            <a:extLst xmlns:a="http://schemas.openxmlformats.org/drawingml/2006/main">
              <a:ext uri="{FF2B5EF4-FFF2-40B4-BE49-F238E27FC236}">
                <a16:creationId xmlns:a16="http://schemas.microsoft.com/office/drawing/2014/main" id="{FF2496A5-9CFE-4B09-9057-140B00A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051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score-text-2-6">
            <a:extLst xmlns:a="http://schemas.openxmlformats.org/drawingml/2006/main">
              <a:ext uri="{FF2B5EF4-FFF2-40B4-BE49-F238E27FC236}">
                <a16:creationId xmlns:a16="http://schemas.microsoft.com/office/drawing/2014/main" id="{28A5EC2F-7185-479C-A64D-C3791DD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0515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3" name="score-3-0">
            <a:extLst xmlns:a="http://schemas.openxmlformats.org/drawingml/2006/main">
              <a:ext uri="{FF2B5EF4-FFF2-40B4-BE49-F238E27FC236}">
                <a16:creationId xmlns:a16="http://schemas.microsoft.com/office/drawing/2014/main" id="{38AA6A53-AF8B-49F8-8CE7-6F1B8B6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score-text-3-0">
            <a:extLst xmlns:a="http://schemas.openxmlformats.org/drawingml/2006/main">
              <a:ext uri="{FF2B5EF4-FFF2-40B4-BE49-F238E27FC236}">
                <a16:creationId xmlns:a16="http://schemas.microsoft.com/office/drawing/2014/main" id="{F5AE8266-FC72-46E3-82B8-AF1A05C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Corporate / other</a:t>
            </a:r>
          </a:p>
        </p:txBody>
      </p:sp>
      <p:sp>
        <p:nvSpPr>
          <p:cNvPr id="65" name="score-3-1">
            <a:extLst xmlns:a="http://schemas.openxmlformats.org/drawingml/2006/main">
              <a:ext uri="{FF2B5EF4-FFF2-40B4-BE49-F238E27FC236}">
                <a16:creationId xmlns:a16="http://schemas.microsoft.com/office/drawing/2014/main" id="{B0A3D626-F809-45A5-944A-AFC5E13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100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score-text-3-1">
            <a:extLst xmlns:a="http://schemas.openxmlformats.org/drawingml/2006/main">
              <a:ext uri="{FF2B5EF4-FFF2-40B4-BE49-F238E27FC236}">
                <a16:creationId xmlns:a16="http://schemas.microsoft.com/office/drawing/2014/main" id="{4E2B9B69-724E-4063-8010-94D95130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7" name="score-3-2">
            <a:extLst xmlns:a="http://schemas.openxmlformats.org/drawingml/2006/main">
              <a:ext uri="{FF2B5EF4-FFF2-40B4-BE49-F238E27FC236}">
                <a16:creationId xmlns:a16="http://schemas.microsoft.com/office/drawing/2014/main" id="{DBF52170-FDF0-4C4D-977B-37653B7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score-text-3-2">
            <a:extLst xmlns:a="http://schemas.openxmlformats.org/drawingml/2006/main">
              <a:ext uri="{FF2B5EF4-FFF2-40B4-BE49-F238E27FC236}">
                <a16:creationId xmlns:a16="http://schemas.microsoft.com/office/drawing/2014/main" id="{448E3DB9-BAA0-4D96-A350-88922DDD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1000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9" name="score-3-3">
            <a:extLst xmlns:a="http://schemas.openxmlformats.org/drawingml/2006/main">
              <a:ext uri="{FF2B5EF4-FFF2-40B4-BE49-F238E27FC236}">
                <a16:creationId xmlns:a16="http://schemas.microsoft.com/office/drawing/2014/main" id="{F978C696-E8F2-4A23-B9DB-9E2B3FF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score-text-3-3">
            <a:extLst xmlns:a="http://schemas.openxmlformats.org/drawingml/2006/main">
              <a:ext uri="{FF2B5EF4-FFF2-40B4-BE49-F238E27FC236}">
                <a16:creationId xmlns:a16="http://schemas.microsoft.com/office/drawing/2014/main" id="{8E2B231B-0CEF-4311-901D-EADECE04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00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1" name="score-3-4">
            <a:extLst xmlns:a="http://schemas.openxmlformats.org/drawingml/2006/main">
              <a:ext uri="{FF2B5EF4-FFF2-40B4-BE49-F238E27FC236}">
                <a16:creationId xmlns:a16="http://schemas.microsoft.com/office/drawing/2014/main" id="{00D41633-4587-4FF5-B5FB-1BF3B68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score-text-3-4">
            <a:extLst xmlns:a="http://schemas.openxmlformats.org/drawingml/2006/main">
              <a:ext uri="{FF2B5EF4-FFF2-40B4-BE49-F238E27FC236}">
                <a16:creationId xmlns:a16="http://schemas.microsoft.com/office/drawing/2014/main" id="{AED37AE2-876A-4C1E-8F77-71F98372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3" name="score-3-5">
            <a:extLst xmlns:a="http://schemas.openxmlformats.org/drawingml/2006/main">
              <a:ext uri="{FF2B5EF4-FFF2-40B4-BE49-F238E27FC236}">
                <a16:creationId xmlns:a16="http://schemas.microsoft.com/office/drawing/2014/main" id="{7EACF560-586F-4FA7-9272-76B2362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100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4" name="score-text-3-5">
            <a:extLst xmlns:a="http://schemas.openxmlformats.org/drawingml/2006/main">
              <a:ext uri="{FF2B5EF4-FFF2-40B4-BE49-F238E27FC236}">
                <a16:creationId xmlns:a16="http://schemas.microsoft.com/office/drawing/2014/main" id="{3D6E1B6B-2792-4362-96F4-BDBBE2D4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5" name="score-3-6">
            <a:extLst xmlns:a="http://schemas.openxmlformats.org/drawingml/2006/main">
              <a:ext uri="{FF2B5EF4-FFF2-40B4-BE49-F238E27FC236}">
                <a16:creationId xmlns:a16="http://schemas.microsoft.com/office/drawing/2014/main" id="{14CCA042-674D-4E31-9354-1D616096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00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score-text-3-6">
            <a:extLst xmlns:a="http://schemas.openxmlformats.org/drawingml/2006/main">
              <a:ext uri="{FF2B5EF4-FFF2-40B4-BE49-F238E27FC236}">
                <a16:creationId xmlns:a16="http://schemas.microsoft.com/office/drawing/2014/main" id="{AAFCEDC6-77C8-4304-89B0-1A37EAC1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81000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7" name="score-4-0">
            <a:extLst xmlns:a="http://schemas.openxmlformats.org/drawingml/2006/main">
              <a:ext uri="{FF2B5EF4-FFF2-40B4-BE49-F238E27FC236}">
                <a16:creationId xmlns:a16="http://schemas.microsoft.com/office/drawing/2014/main" id="{FC7A7BED-5148-4F1C-A17A-EE04BB5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8" name="score-text-4-0">
            <a:extLst xmlns:a="http://schemas.openxmlformats.org/drawingml/2006/main">
              <a:ext uri="{FF2B5EF4-FFF2-40B4-BE49-F238E27FC236}">
                <a16:creationId xmlns:a16="http://schemas.microsoft.com/office/drawing/2014/main" id="{D5635743-8938-42B0-BD17-220E5C6C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Consolidated</a:t>
            </a:r>
          </a:p>
        </p:txBody>
      </p:sp>
      <p:sp>
        <p:nvSpPr>
          <p:cNvPr id="79" name="score-4-1">
            <a:extLst xmlns:a="http://schemas.openxmlformats.org/drawingml/2006/main">
              <a:ext uri="{FF2B5EF4-FFF2-40B4-BE49-F238E27FC236}">
                <a16:creationId xmlns:a16="http://schemas.microsoft.com/office/drawing/2014/main" id="{3F22204B-5FF7-41E2-914A-E408B77E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148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score-text-4-1">
            <a:extLst xmlns:a="http://schemas.openxmlformats.org/drawingml/2006/main">
              <a:ext uri="{FF2B5EF4-FFF2-40B4-BE49-F238E27FC236}">
                <a16:creationId xmlns:a16="http://schemas.microsoft.com/office/drawing/2014/main" id="{5A2B2245-6B5E-4CF2-A7ED-F1DADD9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148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1" name="score-4-2">
            <a:extLst xmlns:a="http://schemas.openxmlformats.org/drawingml/2006/main">
              <a:ext uri="{FF2B5EF4-FFF2-40B4-BE49-F238E27FC236}">
                <a16:creationId xmlns:a16="http://schemas.microsoft.com/office/drawing/2014/main" id="{8876DD67-F55F-4290-AE20-97144210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1485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score-text-4-2">
            <a:extLst xmlns:a="http://schemas.openxmlformats.org/drawingml/2006/main">
              <a:ext uri="{FF2B5EF4-FFF2-40B4-BE49-F238E27FC236}">
                <a16:creationId xmlns:a16="http://schemas.microsoft.com/office/drawing/2014/main" id="{09612609-4C51-4F09-BFDF-F93BDE96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1485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3" name="score-4-3">
            <a:extLst xmlns:a="http://schemas.openxmlformats.org/drawingml/2006/main">
              <a:ext uri="{FF2B5EF4-FFF2-40B4-BE49-F238E27FC236}">
                <a16:creationId xmlns:a16="http://schemas.microsoft.com/office/drawing/2014/main" id="{CDBD1AB2-6756-4E13-9A9B-71B20DF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4" name="score-text-4-3">
            <a:extLst xmlns:a="http://schemas.openxmlformats.org/drawingml/2006/main">
              <a:ext uri="{FF2B5EF4-FFF2-40B4-BE49-F238E27FC236}">
                <a16:creationId xmlns:a16="http://schemas.microsoft.com/office/drawing/2014/main" id="{16976554-EDF4-4625-BD6D-23E8AD79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148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5" name="score-4-4">
            <a:extLst xmlns:a="http://schemas.openxmlformats.org/drawingml/2006/main">
              <a:ext uri="{FF2B5EF4-FFF2-40B4-BE49-F238E27FC236}">
                <a16:creationId xmlns:a16="http://schemas.microsoft.com/office/drawing/2014/main" id="{7BCB99F3-41DF-4932-94D3-0E65194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6" name="score-text-4-4">
            <a:extLst xmlns:a="http://schemas.openxmlformats.org/drawingml/2006/main">
              <a:ext uri="{FF2B5EF4-FFF2-40B4-BE49-F238E27FC236}">
                <a16:creationId xmlns:a16="http://schemas.microsoft.com/office/drawing/2014/main" id="{D93E1D32-859C-411C-91AF-7B81D666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7" name="score-4-5">
            <a:extLst xmlns:a="http://schemas.openxmlformats.org/drawingml/2006/main">
              <a:ext uri="{FF2B5EF4-FFF2-40B4-BE49-F238E27FC236}">
                <a16:creationId xmlns:a16="http://schemas.microsoft.com/office/drawing/2014/main" id="{D50C8B7F-4464-4AD5-8727-35872E37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148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8" name="score-text-4-5">
            <a:extLst xmlns:a="http://schemas.openxmlformats.org/drawingml/2006/main">
              <a:ext uri="{FF2B5EF4-FFF2-40B4-BE49-F238E27FC236}">
                <a16:creationId xmlns:a16="http://schemas.microsoft.com/office/drawing/2014/main" id="{C1746C5B-5384-4060-A64F-891A34A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148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9" name="score-4-6">
            <a:extLst xmlns:a="http://schemas.openxmlformats.org/drawingml/2006/main">
              <a:ext uri="{FF2B5EF4-FFF2-40B4-BE49-F238E27FC236}">
                <a16:creationId xmlns:a16="http://schemas.microsoft.com/office/drawing/2014/main" id="{390A142D-2804-42F6-886A-D6DD0DE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148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0" name="score-text-4-6">
            <a:extLst xmlns:a="http://schemas.openxmlformats.org/drawingml/2006/main">
              <a:ext uri="{FF2B5EF4-FFF2-40B4-BE49-F238E27FC236}">
                <a16:creationId xmlns:a16="http://schemas.microsoft.com/office/drawing/2014/main" id="{94EA4280-31D2-499A-8AF5-0AAB569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1485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2102554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6">
            <a:extLst xmlns:a="http://schemas.openxmlformats.org/drawingml/2006/main">
              <a:ext uri="{FF2B5EF4-FFF2-40B4-BE49-F238E27FC236}">
                <a16:creationId xmlns:a16="http://schemas.microsoft.com/office/drawing/2014/main" id="{CD51639A-39AB-432F-B1C8-562700D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A1DE4DF-C974-48E9-8D39-CACA021B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Cash conversion: separate operating performance from timing</a:t>
            </a:r>
          </a:p>
        </p:txBody>
      </p:sp>
      <p:sp>
        <p:nvSpPr>
          <p:cNvPr id="3" name="draft-6">
            <a:extLst xmlns:a="http://schemas.openxmlformats.org/drawingml/2006/main">
              <a:ext uri="{FF2B5EF4-FFF2-40B4-BE49-F238E27FC236}">
                <a16:creationId xmlns:a16="http://schemas.microsoft.com/office/drawing/2014/main" id="{2AC786B3-5E69-4C8D-8AC6-D7177C3D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0375FF2-E4D5-4EFB-AF2D-E40DD10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B502E6AF-FDD2-4026-9C90-58256D9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39A9C090-BB9E-455A-BFA3-798DFDE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6</a:t>
            </a:r>
          </a:p>
        </p:txBody>
      </p:sp>
      <p:sp>
        <p:nvSpPr>
          <p:cNvPr id="7" name="metric-box-6-0">
            <a:extLst xmlns:a="http://schemas.openxmlformats.org/drawingml/2006/main">
              <a:ext uri="{FF2B5EF4-FFF2-40B4-BE49-F238E27FC236}">
                <a16:creationId xmlns:a16="http://schemas.microsoft.com/office/drawing/2014/main" id="{05E5B5BD-109E-4B0C-911E-56D22D1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6-0">
            <a:extLst xmlns:a="http://schemas.openxmlformats.org/drawingml/2006/main">
              <a:ext uri="{FF2B5EF4-FFF2-40B4-BE49-F238E27FC236}">
                <a16:creationId xmlns:a16="http://schemas.microsoft.com/office/drawing/2014/main" id="{1A0333FC-5A43-4FDF-94F5-ED8C247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free cash flow</a:t>
            </a:r>
          </a:p>
        </p:txBody>
      </p:sp>
      <p:sp>
        <p:nvSpPr>
          <p:cNvPr id="9" name="metric-value-6-0">
            <a:extLst xmlns:a="http://schemas.openxmlformats.org/drawingml/2006/main">
              <a:ext uri="{FF2B5EF4-FFF2-40B4-BE49-F238E27FC236}">
                <a16:creationId xmlns:a16="http://schemas.microsoft.com/office/drawing/2014/main" id="{8D30B251-0C3D-4AFB-AFE1-48F00667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6-1">
            <a:extLst xmlns:a="http://schemas.openxmlformats.org/drawingml/2006/main">
              <a:ext uri="{FF2B5EF4-FFF2-40B4-BE49-F238E27FC236}">
                <a16:creationId xmlns:a16="http://schemas.microsoft.com/office/drawing/2014/main" id="{8DDB018C-8390-4A9C-A138-8D6EE70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6-1">
            <a:extLst xmlns:a="http://schemas.openxmlformats.org/drawingml/2006/main">
              <a:ext uri="{FF2B5EF4-FFF2-40B4-BE49-F238E27FC236}">
                <a16:creationId xmlns:a16="http://schemas.microsoft.com/office/drawing/2014/main" id="{DEC213E9-798F-4DAB-AB1E-1906CC56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Ending available cash</a:t>
            </a:r>
          </a:p>
        </p:txBody>
      </p:sp>
      <p:sp>
        <p:nvSpPr>
          <p:cNvPr id="12" name="metric-value-6-1">
            <a:extLst xmlns:a="http://schemas.openxmlformats.org/drawingml/2006/main">
              <a:ext uri="{FF2B5EF4-FFF2-40B4-BE49-F238E27FC236}">
                <a16:creationId xmlns:a16="http://schemas.microsoft.com/office/drawing/2014/main" id="{7C853DFA-AD87-451B-BA9E-4BD291DE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6-2">
            <a:extLst xmlns:a="http://schemas.openxmlformats.org/drawingml/2006/main">
              <a:ext uri="{FF2B5EF4-FFF2-40B4-BE49-F238E27FC236}">
                <a16:creationId xmlns:a16="http://schemas.microsoft.com/office/drawing/2014/main" id="{4FE4BA7A-F5C0-433D-8387-C2A47C1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6-2">
            <a:extLst xmlns:a="http://schemas.openxmlformats.org/drawingml/2006/main">
              <a:ext uri="{FF2B5EF4-FFF2-40B4-BE49-F238E27FC236}">
                <a16:creationId xmlns:a16="http://schemas.microsoft.com/office/drawing/2014/main" id="{17A550F9-E156-4B63-9D94-167A310E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Maximum revolver</a:t>
            </a:r>
          </a:p>
        </p:txBody>
      </p:sp>
      <p:sp>
        <p:nvSpPr>
          <p:cNvPr id="15" name="metric-value-6-2">
            <a:extLst xmlns:a="http://schemas.openxmlformats.org/drawingml/2006/main">
              <a:ext uri="{FF2B5EF4-FFF2-40B4-BE49-F238E27FC236}">
                <a16:creationId xmlns:a16="http://schemas.microsoft.com/office/drawing/2014/main" id="{C68E917A-1AC7-4DE3-ABC9-1986C00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6-3">
            <a:extLst xmlns:a="http://schemas.openxmlformats.org/drawingml/2006/main">
              <a:ext uri="{FF2B5EF4-FFF2-40B4-BE49-F238E27FC236}">
                <a16:creationId xmlns:a16="http://schemas.microsoft.com/office/drawing/2014/main" id="{22019609-A83B-4DC2-A72C-42D8D62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6-3">
            <a:extLst xmlns:a="http://schemas.openxmlformats.org/drawingml/2006/main">
              <a:ext uri="{FF2B5EF4-FFF2-40B4-BE49-F238E27FC236}">
                <a16:creationId xmlns:a16="http://schemas.microsoft.com/office/drawing/2014/main" id="{495F49A6-0295-4748-9956-674691E6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Cash conversion</a:t>
            </a:r>
          </a:p>
        </p:txBody>
      </p:sp>
      <p:sp>
        <p:nvSpPr>
          <p:cNvPr id="18" name="metric-value-6-3">
            <a:extLst xmlns:a="http://schemas.openxmlformats.org/drawingml/2006/main">
              <a:ext uri="{FF2B5EF4-FFF2-40B4-BE49-F238E27FC236}">
                <a16:creationId xmlns:a16="http://schemas.microsoft.com/office/drawing/2014/main" id="{4A75A80D-6440-4CDF-A001-192CC6B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cash-heading">
            <a:extLst xmlns:a="http://schemas.openxmlformats.org/drawingml/2006/main">
              <a:ext uri="{FF2B5EF4-FFF2-40B4-BE49-F238E27FC236}">
                <a16:creationId xmlns:a16="http://schemas.microsoft.com/office/drawing/2014/main" id="{F761100C-F677-4E6B-9C11-A6C18B74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Working-capital movements ($ millions)</a:t>
            </a:r>
          </a:p>
        </p:txBody>
      </p:sp>
      <p:sp>
        <p:nvSpPr>
          <p:cNvPr id="20" name="cash-row-0">
            <a:extLst xmlns:a="http://schemas.openxmlformats.org/drawingml/2006/main">
              <a:ext uri="{FF2B5EF4-FFF2-40B4-BE49-F238E27FC236}">
                <a16:creationId xmlns:a16="http://schemas.microsoft.com/office/drawing/2014/main" id="{0AE51CB7-8540-4A7B-A58C-40DC6148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cash-label-0">
            <a:extLst xmlns:a="http://schemas.openxmlformats.org/drawingml/2006/main">
              <a:ext uri="{FF2B5EF4-FFF2-40B4-BE49-F238E27FC236}">
                <a16:creationId xmlns:a16="http://schemas.microsoft.com/office/drawing/2014/main" id="{B8A7F75A-C9DE-4B5B-8E1B-BCD4672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Accounts receivable</a:t>
            </a:r>
          </a:p>
        </p:txBody>
      </p:sp>
      <p:sp>
        <p:nvSpPr>
          <p:cNvPr id="22" name="cash-actual-0">
            <a:extLst xmlns:a="http://schemas.openxmlformats.org/drawingml/2006/main">
              <a:ext uri="{FF2B5EF4-FFF2-40B4-BE49-F238E27FC236}">
                <a16:creationId xmlns:a16="http://schemas.microsoft.com/office/drawing/2014/main" id="{5F4580D0-4959-4D32-89E9-14C89B0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23" name="cash-plan-0">
            <a:extLst xmlns:a="http://schemas.openxmlformats.org/drawingml/2006/main">
              <a:ext uri="{FF2B5EF4-FFF2-40B4-BE49-F238E27FC236}">
                <a16:creationId xmlns:a16="http://schemas.microsoft.com/office/drawing/2014/main" id="{1DDB1159-C722-4E25-B3E3-DB44B93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24" name="cash-row-1">
            <a:extLst xmlns:a="http://schemas.openxmlformats.org/drawingml/2006/main">
              <a:ext uri="{FF2B5EF4-FFF2-40B4-BE49-F238E27FC236}">
                <a16:creationId xmlns:a16="http://schemas.microsoft.com/office/drawing/2014/main" id="{CEEC6636-F972-4B9C-A697-D419C8A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cash-label-1">
            <a:extLst xmlns:a="http://schemas.openxmlformats.org/drawingml/2006/main">
              <a:ext uri="{FF2B5EF4-FFF2-40B4-BE49-F238E27FC236}">
                <a16:creationId xmlns:a16="http://schemas.microsoft.com/office/drawing/2014/main" id="{A2FD01E1-1747-4F31-AF39-F189A00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Retainage</a:t>
            </a:r>
          </a:p>
        </p:txBody>
      </p:sp>
      <p:sp>
        <p:nvSpPr>
          <p:cNvPr id="26" name="cash-actual-1">
            <a:extLst xmlns:a="http://schemas.openxmlformats.org/drawingml/2006/main">
              <a:ext uri="{FF2B5EF4-FFF2-40B4-BE49-F238E27FC236}">
                <a16:creationId xmlns:a16="http://schemas.microsoft.com/office/drawing/2014/main" id="{1892CB7C-E7C6-460E-B99A-79C7F213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27" name="cash-plan-1">
            <a:extLst xmlns:a="http://schemas.openxmlformats.org/drawingml/2006/main">
              <a:ext uri="{FF2B5EF4-FFF2-40B4-BE49-F238E27FC236}">
                <a16:creationId xmlns:a16="http://schemas.microsoft.com/office/drawing/2014/main" id="{A73D921D-7335-4B2C-9248-4BAD06E6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28" name="cash-row-2">
            <a:extLst xmlns:a="http://schemas.openxmlformats.org/drawingml/2006/main">
              <a:ext uri="{FF2B5EF4-FFF2-40B4-BE49-F238E27FC236}">
                <a16:creationId xmlns:a16="http://schemas.microsoft.com/office/drawing/2014/main" id="{0AA8D857-9577-419F-AA5C-13E22BB9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cash-label-2">
            <a:extLst xmlns:a="http://schemas.openxmlformats.org/drawingml/2006/main">
              <a:ext uri="{FF2B5EF4-FFF2-40B4-BE49-F238E27FC236}">
                <a16:creationId xmlns:a16="http://schemas.microsoft.com/office/drawing/2014/main" id="{1C59AFE0-F92F-4959-98F0-7747108B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Inventory</a:t>
            </a:r>
          </a:p>
        </p:txBody>
      </p:sp>
      <p:sp>
        <p:nvSpPr>
          <p:cNvPr id="30" name="cash-actual-2">
            <a:extLst xmlns:a="http://schemas.openxmlformats.org/drawingml/2006/main">
              <a:ext uri="{FF2B5EF4-FFF2-40B4-BE49-F238E27FC236}">
                <a16:creationId xmlns:a16="http://schemas.microsoft.com/office/drawing/2014/main" id="{09258D69-0A5F-4BA2-BFA8-312F833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624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31" name="cash-plan-2">
            <a:extLst xmlns:a="http://schemas.openxmlformats.org/drawingml/2006/main">
              <a:ext uri="{FF2B5EF4-FFF2-40B4-BE49-F238E27FC236}">
                <a16:creationId xmlns:a16="http://schemas.microsoft.com/office/drawing/2014/main" id="{85B36AC2-8A79-4DDD-9F9B-4569CE7E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32" name="cash-row-3">
            <a:extLst xmlns:a="http://schemas.openxmlformats.org/drawingml/2006/main">
              <a:ext uri="{FF2B5EF4-FFF2-40B4-BE49-F238E27FC236}">
                <a16:creationId xmlns:a16="http://schemas.microsoft.com/office/drawing/2014/main" id="{B5D53424-721A-4F39-A71A-557B4D0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cash-label-3">
            <a:extLst xmlns:a="http://schemas.openxmlformats.org/drawingml/2006/main">
              <a:ext uri="{FF2B5EF4-FFF2-40B4-BE49-F238E27FC236}">
                <a16:creationId xmlns:a16="http://schemas.microsoft.com/office/drawing/2014/main" id="{C1995108-620E-4959-97FE-020E7AA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Accounts payable</a:t>
            </a:r>
          </a:p>
        </p:txBody>
      </p:sp>
      <p:sp>
        <p:nvSpPr>
          <p:cNvPr id="34" name="cash-actual-3">
            <a:extLst xmlns:a="http://schemas.openxmlformats.org/drawingml/2006/main">
              <a:ext uri="{FF2B5EF4-FFF2-40B4-BE49-F238E27FC236}">
                <a16:creationId xmlns:a16="http://schemas.microsoft.com/office/drawing/2014/main" id="{EAB99067-A2C8-4B3B-9AFE-401AB5B8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19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35" name="cash-plan-3">
            <a:extLst xmlns:a="http://schemas.openxmlformats.org/drawingml/2006/main">
              <a:ext uri="{FF2B5EF4-FFF2-40B4-BE49-F238E27FC236}">
                <a16:creationId xmlns:a16="http://schemas.microsoft.com/office/drawing/2014/main" id="{3B1DEE83-78CD-49EA-8ED0-186EC1B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36" name="cash-row-4">
            <a:extLst xmlns:a="http://schemas.openxmlformats.org/drawingml/2006/main">
              <a:ext uri="{FF2B5EF4-FFF2-40B4-BE49-F238E27FC236}">
                <a16:creationId xmlns:a16="http://schemas.microsoft.com/office/drawing/2014/main" id="{E3827BE6-6ACA-4105-B05A-5674CBE8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cash-label-4">
            <a:extLst xmlns:a="http://schemas.openxmlformats.org/drawingml/2006/main">
              <a:ext uri="{FF2B5EF4-FFF2-40B4-BE49-F238E27FC236}">
                <a16:creationId xmlns:a16="http://schemas.microsoft.com/office/drawing/2014/main" id="{2253523C-477A-49CC-99FD-41DCC2E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Customer deposits</a:t>
            </a:r>
          </a:p>
        </p:txBody>
      </p:sp>
      <p:sp>
        <p:nvSpPr>
          <p:cNvPr id="38" name="cash-actual-4">
            <a:extLst xmlns:a="http://schemas.openxmlformats.org/drawingml/2006/main">
              <a:ext uri="{FF2B5EF4-FFF2-40B4-BE49-F238E27FC236}">
                <a16:creationId xmlns:a16="http://schemas.microsoft.com/office/drawing/2014/main" id="{6AC283E5-2D90-41E6-860D-A59F8BF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39" name="cash-plan-4">
            <a:extLst xmlns:a="http://schemas.openxmlformats.org/drawingml/2006/main">
              <a:ext uri="{FF2B5EF4-FFF2-40B4-BE49-F238E27FC236}">
                <a16:creationId xmlns:a16="http://schemas.microsoft.com/office/drawing/2014/main" id="{7981C070-BD64-4D9B-96E9-775B6FC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40" name="cash-row-5">
            <a:extLst xmlns:a="http://schemas.openxmlformats.org/drawingml/2006/main">
              <a:ext uri="{FF2B5EF4-FFF2-40B4-BE49-F238E27FC236}">
                <a16:creationId xmlns:a16="http://schemas.microsoft.com/office/drawing/2014/main" id="{3035286C-12BB-4F4B-BEB4-A21AFA26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cash-label-5">
            <a:extLst xmlns:a="http://schemas.openxmlformats.org/drawingml/2006/main">
              <a:ext uri="{FF2B5EF4-FFF2-40B4-BE49-F238E27FC236}">
                <a16:creationId xmlns:a16="http://schemas.microsoft.com/office/drawing/2014/main" id="{B8E0B699-EFCB-4760-B519-4C8CCD2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Net working capital</a:t>
            </a:r>
          </a:p>
        </p:txBody>
      </p:sp>
      <p:sp>
        <p:nvSpPr>
          <p:cNvPr id="42" name="cash-actual-5">
            <a:extLst xmlns:a="http://schemas.openxmlformats.org/drawingml/2006/main">
              <a:ext uri="{FF2B5EF4-FFF2-40B4-BE49-F238E27FC236}">
                <a16:creationId xmlns:a16="http://schemas.microsoft.com/office/drawing/2014/main" id="{6596353A-6ACE-453A-B501-BAFFC4F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34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43" name="cash-plan-5">
            <a:extLst xmlns:a="http://schemas.openxmlformats.org/drawingml/2006/main">
              <a:ext uri="{FF2B5EF4-FFF2-40B4-BE49-F238E27FC236}">
                <a16:creationId xmlns:a16="http://schemas.microsoft.com/office/drawing/2014/main" id="{A9706ED5-B404-400D-B923-E63CB72E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44" name="cash-callout">
            <a:extLst xmlns:a="http://schemas.openxmlformats.org/drawingml/2006/main">
              <a:ext uri="{FF2B5EF4-FFF2-40B4-BE49-F238E27FC236}">
                <a16:creationId xmlns:a16="http://schemas.microsoft.com/office/drawing/2014/main" id="{6DDBF4D9-15BC-4342-BD6A-1ED4C3C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956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45" name="cash-callout-title">
            <a:extLst xmlns:a="http://schemas.openxmlformats.org/drawingml/2006/main">
              <a:ext uri="{FF2B5EF4-FFF2-40B4-BE49-F238E27FC236}">
                <a16:creationId xmlns:a16="http://schemas.microsoft.com/office/drawing/2014/main" id="{9C33D5E6-6472-43E6-AD13-A5194ED3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Management focus</a:t>
            </a:r>
          </a:p>
        </p:txBody>
      </p:sp>
      <p:sp>
        <p:nvSpPr>
          <p:cNvPr id="46" name="cash-callout-body">
            <a:extLst xmlns:a="http://schemas.openxmlformats.org/drawingml/2006/main">
              <a:ext uri="{FF2B5EF4-FFF2-40B4-BE49-F238E27FC236}">
                <a16:creationId xmlns:a16="http://schemas.microsoft.com/office/drawing/2014/main" id="{8A20F6D1-EC5C-46D3-996C-633C8AE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72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Quantify the timing issue, owner, next decision date, and effect on minimum liquidity.</a:t>
            </a:r>
          </a:p>
        </p:txBody>
      </p:sp>
    </p:spTree>
    <p:extLst>
      <p:ext uri="{BB962C8B-B14F-4D97-AF65-F5344CB8AC3E}">
        <p14:creationId xmlns:p14="http://schemas.microsoft.com/office/powerpoint/2010/main" val="1409201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7">
            <a:extLst xmlns:a="http://schemas.openxmlformats.org/drawingml/2006/main">
              <a:ext uri="{FF2B5EF4-FFF2-40B4-BE49-F238E27FC236}">
                <a16:creationId xmlns:a16="http://schemas.microsoft.com/office/drawing/2014/main" id="{5FF2D5B5-1C79-4720-B98E-182CB4D5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A2A7B1A-7BAD-41BC-A20E-12832873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Backlog and outlook: show where coverage becomes capacity risk</a:t>
            </a:r>
          </a:p>
        </p:txBody>
      </p:sp>
      <p:sp>
        <p:nvSpPr>
          <p:cNvPr id="3" name="draft-7">
            <a:extLst xmlns:a="http://schemas.openxmlformats.org/drawingml/2006/main">
              <a:ext uri="{FF2B5EF4-FFF2-40B4-BE49-F238E27FC236}">
                <a16:creationId xmlns:a16="http://schemas.microsoft.com/office/drawing/2014/main" id="{90DDBBEE-8D37-4E41-91A0-D72CC233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C9712D2-20A6-4BC5-9386-14E2315A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A840AFC2-BDA6-4A36-BCEE-EEE96F64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0DFFDB8C-C7F0-442D-8877-6765B3A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7</a:t>
            </a:r>
          </a:p>
        </p:txBody>
      </p:sp>
      <p:sp>
        <p:nvSpPr>
          <p:cNvPr id="7" name="metric-box-7-0">
            <a:extLst xmlns:a="http://schemas.openxmlformats.org/drawingml/2006/main">
              <a:ext uri="{FF2B5EF4-FFF2-40B4-BE49-F238E27FC236}">
                <a16:creationId xmlns:a16="http://schemas.microsoft.com/office/drawing/2014/main" id="{808126A8-A8C8-4626-B816-9DC80C3D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7-0">
            <a:extLst xmlns:a="http://schemas.openxmlformats.org/drawingml/2006/main">
              <a:ext uri="{FF2B5EF4-FFF2-40B4-BE49-F238E27FC236}">
                <a16:creationId xmlns:a16="http://schemas.microsoft.com/office/drawing/2014/main" id="{08360AD6-B4B8-45F8-AEC4-DD17CF42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Signed backlog</a:t>
            </a:r>
          </a:p>
        </p:txBody>
      </p:sp>
      <p:sp>
        <p:nvSpPr>
          <p:cNvPr id="9" name="metric-value-7-0">
            <a:extLst xmlns:a="http://schemas.openxmlformats.org/drawingml/2006/main">
              <a:ext uri="{FF2B5EF4-FFF2-40B4-BE49-F238E27FC236}">
                <a16:creationId xmlns:a16="http://schemas.microsoft.com/office/drawing/2014/main" id="{BC6C831A-6D2A-4FA4-9872-E2E40510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7-1">
            <a:extLst xmlns:a="http://schemas.openxmlformats.org/drawingml/2006/main">
              <a:ext uri="{FF2B5EF4-FFF2-40B4-BE49-F238E27FC236}">
                <a16:creationId xmlns:a16="http://schemas.microsoft.com/office/drawing/2014/main" id="{48207EFF-9C6F-4621-8165-1B9A67A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7-1">
            <a:extLst xmlns:a="http://schemas.openxmlformats.org/drawingml/2006/main">
              <a:ext uri="{FF2B5EF4-FFF2-40B4-BE49-F238E27FC236}">
                <a16:creationId xmlns:a16="http://schemas.microsoft.com/office/drawing/2014/main" id="{A156382C-06D6-4988-AA34-C07104A1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FY26 coverage</a:t>
            </a:r>
          </a:p>
        </p:txBody>
      </p:sp>
      <p:sp>
        <p:nvSpPr>
          <p:cNvPr id="12" name="metric-value-7-1">
            <a:extLst xmlns:a="http://schemas.openxmlformats.org/drawingml/2006/main">
              <a:ext uri="{FF2B5EF4-FFF2-40B4-BE49-F238E27FC236}">
                <a16:creationId xmlns:a16="http://schemas.microsoft.com/office/drawing/2014/main" id="{C4BB371F-1EDA-4213-ACE2-8F1AD45C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7-2">
            <a:extLst xmlns:a="http://schemas.openxmlformats.org/drawingml/2006/main">
              <a:ext uri="{FF2B5EF4-FFF2-40B4-BE49-F238E27FC236}">
                <a16:creationId xmlns:a16="http://schemas.microsoft.com/office/drawing/2014/main" id="{51F25ED1-01A8-46FA-8803-A8EA8B5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7-2">
            <a:extLst xmlns:a="http://schemas.openxmlformats.org/drawingml/2006/main">
              <a:ext uri="{FF2B5EF4-FFF2-40B4-BE49-F238E27FC236}">
                <a16:creationId xmlns:a16="http://schemas.microsoft.com/office/drawing/2014/main" id="{1B536646-7477-46C3-BE0E-8BA075E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FY27 coverage</a:t>
            </a:r>
          </a:p>
        </p:txBody>
      </p:sp>
      <p:sp>
        <p:nvSpPr>
          <p:cNvPr id="15" name="metric-value-7-2">
            <a:extLst xmlns:a="http://schemas.openxmlformats.org/drawingml/2006/main">
              <a:ext uri="{FF2B5EF4-FFF2-40B4-BE49-F238E27FC236}">
                <a16:creationId xmlns:a16="http://schemas.microsoft.com/office/drawing/2014/main" id="{5F3861B5-8C2F-4FBA-96BC-DFDD2F03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7-3">
            <a:extLst xmlns:a="http://schemas.openxmlformats.org/drawingml/2006/main">
              <a:ext uri="{FF2B5EF4-FFF2-40B4-BE49-F238E27FC236}">
                <a16:creationId xmlns:a16="http://schemas.microsoft.com/office/drawing/2014/main" id="{1883EACD-36EE-4567-9E81-F40BF760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7-3">
            <a:extLst xmlns:a="http://schemas.openxmlformats.org/drawingml/2006/main">
              <a:ext uri="{FF2B5EF4-FFF2-40B4-BE49-F238E27FC236}">
                <a16:creationId xmlns:a16="http://schemas.microsoft.com/office/drawing/2014/main" id="{1FFEE980-3AA4-47D6-972C-079F6FE5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First constrained month</a:t>
            </a:r>
          </a:p>
        </p:txBody>
      </p:sp>
      <p:sp>
        <p:nvSpPr>
          <p:cNvPr id="18" name="metric-value-7-3">
            <a:extLst xmlns:a="http://schemas.openxmlformats.org/drawingml/2006/main">
              <a:ext uri="{FF2B5EF4-FFF2-40B4-BE49-F238E27FC236}">
                <a16:creationId xmlns:a16="http://schemas.microsoft.com/office/drawing/2014/main" id="{46DACC4F-7550-438C-97B3-81929F0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outlook-heading">
            <a:extLst xmlns:a="http://schemas.openxmlformats.org/drawingml/2006/main">
              <a:ext uri="{FF2B5EF4-FFF2-40B4-BE49-F238E27FC236}">
                <a16:creationId xmlns:a16="http://schemas.microsoft.com/office/drawing/2014/main" id="{A1E5F696-9821-481D-BD7F-C454B25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Revenue coverage by business unit</a:t>
            </a:r>
          </a:p>
        </p:txBody>
      </p:sp>
      <p:sp>
        <p:nvSpPr>
          <p:cNvPr id="20" name="outlook-name-0">
            <a:extLst xmlns:a="http://schemas.openxmlformats.org/drawingml/2006/main">
              <a:ext uri="{FF2B5EF4-FFF2-40B4-BE49-F238E27FC236}">
                <a16:creationId xmlns:a16="http://schemas.microsoft.com/office/drawing/2014/main" id="{34C3DAC1-6285-4858-97CA-8F8E827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Construction</a:t>
            </a:r>
          </a:p>
        </p:txBody>
      </p:sp>
      <p:sp>
        <p:nvSpPr>
          <p:cNvPr id="21" name="outlook-track-0">
            <a:extLst xmlns:a="http://schemas.openxmlformats.org/drawingml/2006/main">
              <a:ext uri="{FF2B5EF4-FFF2-40B4-BE49-F238E27FC236}">
                <a16:creationId xmlns:a16="http://schemas.microsoft.com/office/drawing/2014/main" id="{B8B2A63B-0FD8-4166-AFBF-14769A3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utlook-fill-0">
            <a:extLst xmlns:a="http://schemas.openxmlformats.org/drawingml/2006/main">
              <a:ext uri="{FF2B5EF4-FFF2-40B4-BE49-F238E27FC236}">
                <a16:creationId xmlns:a16="http://schemas.microsoft.com/office/drawing/2014/main" id="{07186658-9890-4F39-9EAC-0F425BE8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look-val-0">
            <a:extLst xmlns:a="http://schemas.openxmlformats.org/drawingml/2006/main">
              <a:ext uri="{FF2B5EF4-FFF2-40B4-BE49-F238E27FC236}">
                <a16:creationId xmlns:a16="http://schemas.microsoft.com/office/drawing/2014/main" id="{22C92B52-6953-4627-A206-403D0CA1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Refresh coverage</a:t>
            </a:r>
          </a:p>
        </p:txBody>
      </p:sp>
      <p:sp>
        <p:nvSpPr>
          <p:cNvPr id="24" name="outlook-name-1">
            <a:extLst xmlns:a="http://schemas.openxmlformats.org/drawingml/2006/main">
              <a:ext uri="{FF2B5EF4-FFF2-40B4-BE49-F238E27FC236}">
                <a16:creationId xmlns:a16="http://schemas.microsoft.com/office/drawing/2014/main" id="{609FAC70-55B5-4D31-9965-5200750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Service</a:t>
            </a:r>
          </a:p>
        </p:txBody>
      </p:sp>
      <p:sp>
        <p:nvSpPr>
          <p:cNvPr id="25" name="outlook-track-1">
            <a:extLst xmlns:a="http://schemas.openxmlformats.org/drawingml/2006/main">
              <a:ext uri="{FF2B5EF4-FFF2-40B4-BE49-F238E27FC236}">
                <a16:creationId xmlns:a16="http://schemas.microsoft.com/office/drawing/2014/main" id="{B2CC55CB-F2B0-4496-9FFA-E5D3D03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utlook-fill-1">
            <a:extLst xmlns:a="http://schemas.openxmlformats.org/drawingml/2006/main">
              <a:ext uri="{FF2B5EF4-FFF2-40B4-BE49-F238E27FC236}">
                <a16:creationId xmlns:a16="http://schemas.microsoft.com/office/drawing/2014/main" id="{A31CEBF3-4963-4CD6-A4D9-2EA09755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utlook-val-1">
            <a:extLst xmlns:a="http://schemas.openxmlformats.org/drawingml/2006/main">
              <a:ext uri="{FF2B5EF4-FFF2-40B4-BE49-F238E27FC236}">
                <a16:creationId xmlns:a16="http://schemas.microsoft.com/office/drawing/2014/main" id="{29A57D76-968F-4AEC-90BB-9827B60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Refresh coverage</a:t>
            </a:r>
          </a:p>
        </p:txBody>
      </p:sp>
      <p:sp>
        <p:nvSpPr>
          <p:cNvPr id="28" name="outlook-name-2">
            <a:extLst xmlns:a="http://schemas.openxmlformats.org/drawingml/2006/main">
              <a:ext uri="{FF2B5EF4-FFF2-40B4-BE49-F238E27FC236}">
                <a16:creationId xmlns:a16="http://schemas.microsoft.com/office/drawing/2014/main" id="{206CD824-C1E3-4217-87AA-DF59D093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Building Controls</a:t>
            </a:r>
          </a:p>
        </p:txBody>
      </p:sp>
      <p:sp>
        <p:nvSpPr>
          <p:cNvPr id="29" name="outlook-track-2">
            <a:extLst xmlns:a="http://schemas.openxmlformats.org/drawingml/2006/main">
              <a:ext uri="{FF2B5EF4-FFF2-40B4-BE49-F238E27FC236}">
                <a16:creationId xmlns:a16="http://schemas.microsoft.com/office/drawing/2014/main" id="{A0F850E4-99FA-4E93-9639-73E35C9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utlook-fill-2">
            <a:extLst xmlns:a="http://schemas.openxmlformats.org/drawingml/2006/main">
              <a:ext uri="{FF2B5EF4-FFF2-40B4-BE49-F238E27FC236}">
                <a16:creationId xmlns:a16="http://schemas.microsoft.com/office/drawing/2014/main" id="{077A7F1C-F82D-48FB-9D1D-95F1256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utlook-val-2">
            <a:extLst xmlns:a="http://schemas.openxmlformats.org/drawingml/2006/main">
              <a:ext uri="{FF2B5EF4-FFF2-40B4-BE49-F238E27FC236}">
                <a16:creationId xmlns:a16="http://schemas.microsoft.com/office/drawing/2014/main" id="{5E74FCD9-9CFF-454B-B07A-190F5FA0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Refresh coverage</a:t>
            </a:r>
          </a:p>
        </p:txBody>
      </p:sp>
      <p:sp>
        <p:nvSpPr>
          <p:cNvPr id="32" name="outlook-callout">
            <a:extLst xmlns:a="http://schemas.openxmlformats.org/drawingml/2006/main">
              <a:ext uri="{FF2B5EF4-FFF2-40B4-BE49-F238E27FC236}">
                <a16:creationId xmlns:a16="http://schemas.microsoft.com/office/drawing/2014/main" id="{496DE45C-7D4A-41C2-9CDD-06C122DA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utlook-callout-text">
            <a:extLst xmlns:a="http://schemas.openxmlformats.org/drawingml/2006/main">
              <a:ext uri="{FF2B5EF4-FFF2-40B4-BE49-F238E27FC236}">
                <a16:creationId xmlns:a16="http://schemas.microsoft.com/office/drawing/2014/main" id="{B9D88DB9-B9A3-4B75-8182-44EE402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946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State the latest outlook, quantified risks and opportunities, and capacity response without converting pipeline into backlog.</a:t>
            </a:r>
          </a:p>
        </p:txBody>
      </p:sp>
    </p:spTree>
    <p:extLst>
      <p:ext uri="{BB962C8B-B14F-4D97-AF65-F5344CB8AC3E}">
        <p14:creationId xmlns:p14="http://schemas.microsoft.com/office/powerpoint/2010/main" val="1126007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8">
            <a:extLst xmlns:a="http://schemas.openxmlformats.org/drawingml/2006/main">
              <a:ext uri="{FF2B5EF4-FFF2-40B4-BE49-F238E27FC236}">
                <a16:creationId xmlns:a16="http://schemas.microsoft.com/office/drawing/2014/main" id="{A1A24CE7-D019-4ED0-96CD-413E0E1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C0CEF9A-5AD5-48BE-808E-6B7544CC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Risks and opportunities: convert the forecast into owned actions</a:t>
            </a:r>
          </a:p>
        </p:txBody>
      </p:sp>
      <p:sp>
        <p:nvSpPr>
          <p:cNvPr id="3" name="draft-8">
            <a:extLst xmlns:a="http://schemas.openxmlformats.org/drawingml/2006/main">
              <a:ext uri="{FF2B5EF4-FFF2-40B4-BE49-F238E27FC236}">
                <a16:creationId xmlns:a16="http://schemas.microsoft.com/office/drawing/2014/main" id="{79EA5B8A-2B1E-4D22-B8F9-6BFBD5CA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E9E0C0D-91AD-4656-8169-E0F979C3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DF5B5A6B-9283-4222-8235-16F997EC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97ABB035-2CAA-4807-BDBA-EAC8BA5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8</a:t>
            </a:r>
          </a:p>
        </p:txBody>
      </p:sp>
      <p:sp>
        <p:nvSpPr>
          <p:cNvPr id="7" name="risk-head-0">
            <a:extLst xmlns:a="http://schemas.openxmlformats.org/drawingml/2006/main">
              <a:ext uri="{FF2B5EF4-FFF2-40B4-BE49-F238E27FC236}">
                <a16:creationId xmlns:a16="http://schemas.microsoft.com/office/drawing/2014/main" id="{3F458CB2-09A4-4B6A-8E5F-139B91C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risk-head-text-0">
            <a:extLst xmlns:a="http://schemas.openxmlformats.org/drawingml/2006/main">
              <a:ext uri="{FF2B5EF4-FFF2-40B4-BE49-F238E27FC236}">
                <a16:creationId xmlns:a16="http://schemas.microsoft.com/office/drawing/2014/main" id="{5A275FC4-CB3F-48ED-A2EA-427DA2F8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9" name="risk-head-1">
            <a:extLst xmlns:a="http://schemas.openxmlformats.org/drawingml/2006/main">
              <a:ext uri="{FF2B5EF4-FFF2-40B4-BE49-F238E27FC236}">
                <a16:creationId xmlns:a16="http://schemas.microsoft.com/office/drawing/2014/main" id="{C1855E32-B27F-4B4A-AE1E-ACD8C0A3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573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risk-head-text-1">
            <a:extLst xmlns:a="http://schemas.openxmlformats.org/drawingml/2006/main">
              <a:ext uri="{FF2B5EF4-FFF2-40B4-BE49-F238E27FC236}">
                <a16:creationId xmlns:a16="http://schemas.microsoft.com/office/drawing/2014/main" id="{6F9E99F8-A2AE-4D70-8806-17B57FDC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257300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isk-head-2">
            <a:extLst xmlns:a="http://schemas.openxmlformats.org/drawingml/2006/main">
              <a:ext uri="{FF2B5EF4-FFF2-40B4-BE49-F238E27FC236}">
                <a16:creationId xmlns:a16="http://schemas.microsoft.com/office/drawing/2014/main" id="{2DD76FB3-B52B-4F1F-A423-FCE0DFF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2573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risk-head-text-2">
            <a:extLst xmlns:a="http://schemas.openxmlformats.org/drawingml/2006/main">
              <a:ext uri="{FF2B5EF4-FFF2-40B4-BE49-F238E27FC236}">
                <a16:creationId xmlns:a16="http://schemas.microsoft.com/office/drawing/2014/main" id="{18CE8F3E-2B66-461B-86C9-A5FADB2B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573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FY26 impact</a:t>
            </a:r>
          </a:p>
        </p:txBody>
      </p:sp>
      <p:sp>
        <p:nvSpPr>
          <p:cNvPr id="13" name="risk-head-3">
            <a:extLst xmlns:a="http://schemas.openxmlformats.org/drawingml/2006/main">
              <a:ext uri="{FF2B5EF4-FFF2-40B4-BE49-F238E27FC236}">
                <a16:creationId xmlns:a16="http://schemas.microsoft.com/office/drawing/2014/main" id="{6EE68C38-55E5-40D9-A5CC-B3E5033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257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risk-head-text-3">
            <a:extLst xmlns:a="http://schemas.openxmlformats.org/drawingml/2006/main">
              <a:ext uri="{FF2B5EF4-FFF2-40B4-BE49-F238E27FC236}">
                <a16:creationId xmlns:a16="http://schemas.microsoft.com/office/drawing/2014/main" id="{85908A3F-BDD1-4801-80CE-497CEF4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2573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Probability</a:t>
            </a:r>
          </a:p>
        </p:txBody>
      </p:sp>
      <p:sp>
        <p:nvSpPr>
          <p:cNvPr id="15" name="risk-head-4">
            <a:extLst xmlns:a="http://schemas.openxmlformats.org/drawingml/2006/main">
              <a:ext uri="{FF2B5EF4-FFF2-40B4-BE49-F238E27FC236}">
                <a16:creationId xmlns:a16="http://schemas.microsoft.com/office/drawing/2014/main" id="{EF10DAB4-4958-4A3A-8F86-814237D3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2573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risk-head-text-4">
            <a:extLst xmlns:a="http://schemas.openxmlformats.org/drawingml/2006/main">
              <a:ext uri="{FF2B5EF4-FFF2-40B4-BE49-F238E27FC236}">
                <a16:creationId xmlns:a16="http://schemas.microsoft.com/office/drawing/2014/main" id="{26A27A5B-D763-4246-94B4-912C428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2573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7" name="risk-head-5">
            <a:extLst xmlns:a="http://schemas.openxmlformats.org/drawingml/2006/main">
              <a:ext uri="{FF2B5EF4-FFF2-40B4-BE49-F238E27FC236}">
                <a16:creationId xmlns:a16="http://schemas.microsoft.com/office/drawing/2014/main" id="{AA9DCB5D-7A31-4143-B60C-21037A2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257300"/>
            <a:ext cx="2352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risk-head-text-5">
            <a:extLst xmlns:a="http://schemas.openxmlformats.org/drawingml/2006/main">
              <a:ext uri="{FF2B5EF4-FFF2-40B4-BE49-F238E27FC236}">
                <a16:creationId xmlns:a16="http://schemas.microsoft.com/office/drawing/2014/main" id="{31554609-EF9F-4522-BE23-B18B1AA0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57300"/>
            <a:ext cx="2200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Next gate / date</a:t>
            </a:r>
          </a:p>
        </p:txBody>
      </p:sp>
      <p:sp>
        <p:nvSpPr>
          <p:cNvPr id="19" name="risk-0-0">
            <a:extLst xmlns:a="http://schemas.openxmlformats.org/drawingml/2006/main">
              <a:ext uri="{FF2B5EF4-FFF2-40B4-BE49-F238E27FC236}">
                <a16:creationId xmlns:a16="http://schemas.microsoft.com/office/drawing/2014/main" id="{27D2F1EC-9EBE-4B78-BC13-AA43298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isk-text-0-0">
            <a:extLst xmlns:a="http://schemas.openxmlformats.org/drawingml/2006/main">
              <a:ext uri="{FF2B5EF4-FFF2-40B4-BE49-F238E27FC236}">
                <a16:creationId xmlns:a16="http://schemas.microsoft.com/office/drawing/2014/main" id="{C6393329-5CCD-4319-BAD7-0A6C74C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Supported risk or opportunity</a:t>
            </a:r>
          </a:p>
        </p:txBody>
      </p:sp>
      <p:sp>
        <p:nvSpPr>
          <p:cNvPr id="21" name="risk-0-1">
            <a:extLst xmlns:a="http://schemas.openxmlformats.org/drawingml/2006/main">
              <a:ext uri="{FF2B5EF4-FFF2-40B4-BE49-F238E27FC236}">
                <a16:creationId xmlns:a16="http://schemas.microsoft.com/office/drawing/2014/main" id="{309A0FDE-207F-474A-91C4-DA63922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risk-text-0-1">
            <a:extLst xmlns:a="http://schemas.openxmlformats.org/drawingml/2006/main">
              <a:ext uri="{FF2B5EF4-FFF2-40B4-BE49-F238E27FC236}">
                <a16:creationId xmlns:a16="http://schemas.microsoft.com/office/drawing/2014/main" id="{EE7151E8-C786-4DF2-B565-7A6B3AF7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3" name="risk-0-2">
            <a:extLst xmlns:a="http://schemas.openxmlformats.org/drawingml/2006/main">
              <a:ext uri="{FF2B5EF4-FFF2-40B4-BE49-F238E27FC236}">
                <a16:creationId xmlns:a16="http://schemas.microsoft.com/office/drawing/2014/main" id="{6E4E1018-F556-4E5C-A23E-96F3903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14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risk-text-0-2">
            <a:extLst xmlns:a="http://schemas.openxmlformats.org/drawingml/2006/main">
              <a:ext uri="{FF2B5EF4-FFF2-40B4-BE49-F238E27FC236}">
                <a16:creationId xmlns:a16="http://schemas.microsoft.com/office/drawing/2014/main" id="{5C641E22-9D1E-4E0B-A395-0F34BDF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14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5" name="risk-0-3">
            <a:extLst xmlns:a="http://schemas.openxmlformats.org/drawingml/2006/main">
              <a:ext uri="{FF2B5EF4-FFF2-40B4-BE49-F238E27FC236}">
                <a16:creationId xmlns:a16="http://schemas.microsoft.com/office/drawing/2014/main" id="{6F33C278-C8F5-4E56-9CD4-B31550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14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risk-text-0-3">
            <a:extLst xmlns:a="http://schemas.openxmlformats.org/drawingml/2006/main">
              <a:ext uri="{FF2B5EF4-FFF2-40B4-BE49-F238E27FC236}">
                <a16:creationId xmlns:a16="http://schemas.microsoft.com/office/drawing/2014/main" id="{68B05B3E-0E96-4BA1-84E0-E4F7696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1450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7" name="risk-0-4">
            <a:extLst xmlns:a="http://schemas.openxmlformats.org/drawingml/2006/main">
              <a:ext uri="{FF2B5EF4-FFF2-40B4-BE49-F238E27FC236}">
                <a16:creationId xmlns:a16="http://schemas.microsoft.com/office/drawing/2014/main" id="{8A112F72-6B7C-4C19-BCF3-D834A1A0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14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risk-text-0-4">
            <a:extLst xmlns:a="http://schemas.openxmlformats.org/drawingml/2006/main">
              <a:ext uri="{FF2B5EF4-FFF2-40B4-BE49-F238E27FC236}">
                <a16:creationId xmlns:a16="http://schemas.microsoft.com/office/drawing/2014/main" id="{2256378D-4E35-4F5A-813F-7730E49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14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risk-0-5">
            <a:extLst xmlns:a="http://schemas.openxmlformats.org/drawingml/2006/main">
              <a:ext uri="{FF2B5EF4-FFF2-40B4-BE49-F238E27FC236}">
                <a16:creationId xmlns:a16="http://schemas.microsoft.com/office/drawing/2014/main" id="{7211BDC1-1266-4D64-8AC8-6B2CDF99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risk-text-0-5">
            <a:extLst xmlns:a="http://schemas.openxmlformats.org/drawingml/2006/main">
              <a:ext uri="{FF2B5EF4-FFF2-40B4-BE49-F238E27FC236}">
                <a16:creationId xmlns:a16="http://schemas.microsoft.com/office/drawing/2014/main" id="{9F0219C1-AED7-4F59-85DB-0784C81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145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1" name="risk-1-0">
            <a:extLst xmlns:a="http://schemas.openxmlformats.org/drawingml/2006/main">
              <a:ext uri="{FF2B5EF4-FFF2-40B4-BE49-F238E27FC236}">
                <a16:creationId xmlns:a16="http://schemas.microsoft.com/office/drawing/2014/main" id="{D0D519B7-63EA-4D2B-8FD8-63F1EA1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risk-text-1-0">
            <a:extLst xmlns:a="http://schemas.openxmlformats.org/drawingml/2006/main">
              <a:ext uri="{FF2B5EF4-FFF2-40B4-BE49-F238E27FC236}">
                <a16:creationId xmlns:a16="http://schemas.microsoft.com/office/drawing/2014/main" id="{BF9F2C75-3ABB-4414-8E14-32F1B7B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Supported risk or opportunity</a:t>
            </a:r>
          </a:p>
        </p:txBody>
      </p:sp>
      <p:sp>
        <p:nvSpPr>
          <p:cNvPr id="33" name="risk-1-1">
            <a:extLst xmlns:a="http://schemas.openxmlformats.org/drawingml/2006/main">
              <a:ext uri="{FF2B5EF4-FFF2-40B4-BE49-F238E27FC236}">
                <a16:creationId xmlns:a16="http://schemas.microsoft.com/office/drawing/2014/main" id="{98E8939E-976A-4BD7-927A-FC5E95E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risk-text-1-1">
            <a:extLst xmlns:a="http://schemas.openxmlformats.org/drawingml/2006/main">
              <a:ext uri="{FF2B5EF4-FFF2-40B4-BE49-F238E27FC236}">
                <a16:creationId xmlns:a16="http://schemas.microsoft.com/office/drawing/2014/main" id="{F6B8C2FB-506F-40F5-9782-7E5F211A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risk-1-2">
            <a:extLst xmlns:a="http://schemas.openxmlformats.org/drawingml/2006/main">
              <a:ext uri="{FF2B5EF4-FFF2-40B4-BE49-F238E27FC236}">
                <a16:creationId xmlns:a16="http://schemas.microsoft.com/office/drawing/2014/main" id="{FC96ADDA-55F6-4BC6-93A8-32CF8CC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81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risk-text-1-2">
            <a:extLst xmlns:a="http://schemas.openxmlformats.org/drawingml/2006/main">
              <a:ext uri="{FF2B5EF4-FFF2-40B4-BE49-F238E27FC236}">
                <a16:creationId xmlns:a16="http://schemas.microsoft.com/office/drawing/2014/main" id="{3675F510-F52A-4046-98F0-A51A4C5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7" name="risk-1-3">
            <a:extLst xmlns:a="http://schemas.openxmlformats.org/drawingml/2006/main">
              <a:ext uri="{FF2B5EF4-FFF2-40B4-BE49-F238E27FC236}">
                <a16:creationId xmlns:a16="http://schemas.microsoft.com/office/drawing/2014/main" id="{F0973815-748B-4B6E-A0DF-6A892D6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risk-text-1-3">
            <a:extLst xmlns:a="http://schemas.openxmlformats.org/drawingml/2006/main">
              <a:ext uri="{FF2B5EF4-FFF2-40B4-BE49-F238E27FC236}">
                <a16:creationId xmlns:a16="http://schemas.microsoft.com/office/drawing/2014/main" id="{D67E52CA-EA0A-46A7-A127-BB110B5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9" name="risk-1-4">
            <a:extLst xmlns:a="http://schemas.openxmlformats.org/drawingml/2006/main">
              <a:ext uri="{FF2B5EF4-FFF2-40B4-BE49-F238E27FC236}">
                <a16:creationId xmlns:a16="http://schemas.microsoft.com/office/drawing/2014/main" id="{BCF6471D-2DA6-490D-94EE-50D2AC78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risk-text-1-4">
            <a:extLst xmlns:a="http://schemas.openxmlformats.org/drawingml/2006/main">
              <a:ext uri="{FF2B5EF4-FFF2-40B4-BE49-F238E27FC236}">
                <a16:creationId xmlns:a16="http://schemas.microsoft.com/office/drawing/2014/main" id="{7827C73F-9C3A-48A1-B3D0-9AC6757F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81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1" name="risk-1-5">
            <a:extLst xmlns:a="http://schemas.openxmlformats.org/drawingml/2006/main">
              <a:ext uri="{FF2B5EF4-FFF2-40B4-BE49-F238E27FC236}">
                <a16:creationId xmlns:a16="http://schemas.microsoft.com/office/drawing/2014/main" id="{506094CF-9AEB-4214-9E46-0CA8F75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8125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risk-text-1-5">
            <a:extLst xmlns:a="http://schemas.openxmlformats.org/drawingml/2006/main">
              <a:ext uri="{FF2B5EF4-FFF2-40B4-BE49-F238E27FC236}">
                <a16:creationId xmlns:a16="http://schemas.microsoft.com/office/drawing/2014/main" id="{718C7173-7C90-41B1-B066-BDC4AB4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12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3" name="risk-2-0">
            <a:extLst xmlns:a="http://schemas.openxmlformats.org/drawingml/2006/main">
              <a:ext uri="{FF2B5EF4-FFF2-40B4-BE49-F238E27FC236}">
                <a16:creationId xmlns:a16="http://schemas.microsoft.com/office/drawing/2014/main" id="{B3DA0706-1190-4AB6-8357-63B7402E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risk-text-2-0">
            <a:extLst xmlns:a="http://schemas.openxmlformats.org/drawingml/2006/main">
              <a:ext uri="{FF2B5EF4-FFF2-40B4-BE49-F238E27FC236}">
                <a16:creationId xmlns:a16="http://schemas.microsoft.com/office/drawing/2014/main" id="{648C2EAB-2EBC-47EC-ABF0-232D100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Supported risk or opportunity</a:t>
            </a:r>
          </a:p>
        </p:txBody>
      </p:sp>
      <p:sp>
        <p:nvSpPr>
          <p:cNvPr id="45" name="risk-2-1">
            <a:extLst xmlns:a="http://schemas.openxmlformats.org/drawingml/2006/main">
              <a:ext uri="{FF2B5EF4-FFF2-40B4-BE49-F238E27FC236}">
                <a16:creationId xmlns:a16="http://schemas.microsoft.com/office/drawing/2014/main" id="{A270C142-A5A2-4E60-A56C-18F07636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risk-text-2-1">
            <a:extLst xmlns:a="http://schemas.openxmlformats.org/drawingml/2006/main">
              <a:ext uri="{FF2B5EF4-FFF2-40B4-BE49-F238E27FC236}">
                <a16:creationId xmlns:a16="http://schemas.microsoft.com/office/drawing/2014/main" id="{8164B252-AA01-469A-8C1E-DEE8ACE2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7" name="risk-2-2">
            <a:extLst xmlns:a="http://schemas.openxmlformats.org/drawingml/2006/main">
              <a:ext uri="{FF2B5EF4-FFF2-40B4-BE49-F238E27FC236}">
                <a16:creationId xmlns:a16="http://schemas.microsoft.com/office/drawing/2014/main" id="{BC3A63B1-F274-4F1D-A911-34640DE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48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risk-text-2-2">
            <a:extLst xmlns:a="http://schemas.openxmlformats.org/drawingml/2006/main">
              <a:ext uri="{FF2B5EF4-FFF2-40B4-BE49-F238E27FC236}">
                <a16:creationId xmlns:a16="http://schemas.microsoft.com/office/drawing/2014/main" id="{4BFF3E28-897F-4339-B2F7-00976B4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48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9" name="risk-2-3">
            <a:extLst xmlns:a="http://schemas.openxmlformats.org/drawingml/2006/main">
              <a:ext uri="{FF2B5EF4-FFF2-40B4-BE49-F238E27FC236}">
                <a16:creationId xmlns:a16="http://schemas.microsoft.com/office/drawing/2014/main" id="{76468EC3-A27D-4854-906E-8C35086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48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risk-text-2-3">
            <a:extLst xmlns:a="http://schemas.openxmlformats.org/drawingml/2006/main">
              <a:ext uri="{FF2B5EF4-FFF2-40B4-BE49-F238E27FC236}">
                <a16:creationId xmlns:a16="http://schemas.microsoft.com/office/drawing/2014/main" id="{6BA0B836-1ED9-473E-96B3-F7AE3FF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4800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1" name="risk-2-4">
            <a:extLst xmlns:a="http://schemas.openxmlformats.org/drawingml/2006/main">
              <a:ext uri="{FF2B5EF4-FFF2-40B4-BE49-F238E27FC236}">
                <a16:creationId xmlns:a16="http://schemas.microsoft.com/office/drawing/2014/main" id="{6E7730E8-B5B7-492D-B410-D725E26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48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risk-text-2-4">
            <a:extLst xmlns:a="http://schemas.openxmlformats.org/drawingml/2006/main">
              <a:ext uri="{FF2B5EF4-FFF2-40B4-BE49-F238E27FC236}">
                <a16:creationId xmlns:a16="http://schemas.microsoft.com/office/drawing/2014/main" id="{02B79047-C261-4320-BF5E-78AA2AA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48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3" name="risk-2-5">
            <a:extLst xmlns:a="http://schemas.openxmlformats.org/drawingml/2006/main">
              <a:ext uri="{FF2B5EF4-FFF2-40B4-BE49-F238E27FC236}">
                <a16:creationId xmlns:a16="http://schemas.microsoft.com/office/drawing/2014/main" id="{75FBD7BF-7FDB-4C9F-8A68-28CE9C9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4800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risk-text-2-5">
            <a:extLst xmlns:a="http://schemas.openxmlformats.org/drawingml/2006/main">
              <a:ext uri="{FF2B5EF4-FFF2-40B4-BE49-F238E27FC236}">
                <a16:creationId xmlns:a16="http://schemas.microsoft.com/office/drawing/2014/main" id="{45EB2CFF-4334-4FBB-92A5-43167E0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480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5" name="risk-3-0">
            <a:extLst xmlns:a="http://schemas.openxmlformats.org/drawingml/2006/main">
              <a:ext uri="{FF2B5EF4-FFF2-40B4-BE49-F238E27FC236}">
                <a16:creationId xmlns:a16="http://schemas.microsoft.com/office/drawing/2014/main" id="{41CBCFEC-4CA4-4786-ACCD-D156631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risk-text-3-0">
            <a:extLst xmlns:a="http://schemas.openxmlformats.org/drawingml/2006/main">
              <a:ext uri="{FF2B5EF4-FFF2-40B4-BE49-F238E27FC236}">
                <a16:creationId xmlns:a16="http://schemas.microsoft.com/office/drawing/2014/main" id="{A66A34B1-EEB0-40EF-81FB-7188F5F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Supported risk or opportunity</a:t>
            </a:r>
          </a:p>
        </p:txBody>
      </p:sp>
      <p:sp>
        <p:nvSpPr>
          <p:cNvPr id="57" name="risk-3-1">
            <a:extLst xmlns:a="http://schemas.openxmlformats.org/drawingml/2006/main">
              <a:ext uri="{FF2B5EF4-FFF2-40B4-BE49-F238E27FC236}">
                <a16:creationId xmlns:a16="http://schemas.microsoft.com/office/drawing/2014/main" id="{0B55CC91-2501-4AD8-AF2D-3454B237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risk-text-3-1">
            <a:extLst xmlns:a="http://schemas.openxmlformats.org/drawingml/2006/main">
              <a:ext uri="{FF2B5EF4-FFF2-40B4-BE49-F238E27FC236}">
                <a16:creationId xmlns:a16="http://schemas.microsoft.com/office/drawing/2014/main" id="{FD3C65ED-DE5E-4642-840B-147249F8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9" name="risk-3-2">
            <a:extLst xmlns:a="http://schemas.openxmlformats.org/drawingml/2006/main">
              <a:ext uri="{FF2B5EF4-FFF2-40B4-BE49-F238E27FC236}">
                <a16:creationId xmlns:a16="http://schemas.microsoft.com/office/drawing/2014/main" id="{4B9C5566-EB86-4FB2-8F9F-9248D3C5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14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risk-text-3-2">
            <a:extLst xmlns:a="http://schemas.openxmlformats.org/drawingml/2006/main">
              <a:ext uri="{FF2B5EF4-FFF2-40B4-BE49-F238E27FC236}">
                <a16:creationId xmlns:a16="http://schemas.microsoft.com/office/drawing/2014/main" id="{882C4B90-13FE-42C6-B093-12ECE09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14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1" name="risk-3-3">
            <a:extLst xmlns:a="http://schemas.openxmlformats.org/drawingml/2006/main">
              <a:ext uri="{FF2B5EF4-FFF2-40B4-BE49-F238E27FC236}">
                <a16:creationId xmlns:a16="http://schemas.microsoft.com/office/drawing/2014/main" id="{744E5D7B-C335-4431-B35D-AEB4DF4E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14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risk-text-3-3">
            <a:extLst xmlns:a="http://schemas.openxmlformats.org/drawingml/2006/main">
              <a:ext uri="{FF2B5EF4-FFF2-40B4-BE49-F238E27FC236}">
                <a16:creationId xmlns:a16="http://schemas.microsoft.com/office/drawing/2014/main" id="{14F8EAD4-05DA-48DE-9289-D9FE1FC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1475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3" name="risk-3-4">
            <a:extLst xmlns:a="http://schemas.openxmlformats.org/drawingml/2006/main">
              <a:ext uri="{FF2B5EF4-FFF2-40B4-BE49-F238E27FC236}">
                <a16:creationId xmlns:a16="http://schemas.microsoft.com/office/drawing/2014/main" id="{C4F856DB-1A68-48CC-87E3-CD2D25F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14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risk-text-3-4">
            <a:extLst xmlns:a="http://schemas.openxmlformats.org/drawingml/2006/main">
              <a:ext uri="{FF2B5EF4-FFF2-40B4-BE49-F238E27FC236}">
                <a16:creationId xmlns:a16="http://schemas.microsoft.com/office/drawing/2014/main" id="{37116C68-09BD-4119-9771-FD90595A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14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5" name="risk-3-5">
            <a:extLst xmlns:a="http://schemas.openxmlformats.org/drawingml/2006/main">
              <a:ext uri="{FF2B5EF4-FFF2-40B4-BE49-F238E27FC236}">
                <a16:creationId xmlns:a16="http://schemas.microsoft.com/office/drawing/2014/main" id="{A54D13B1-1A58-4BA5-943E-61082CF2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1475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risk-text-3-5">
            <a:extLst xmlns:a="http://schemas.openxmlformats.org/drawingml/2006/main">
              <a:ext uri="{FF2B5EF4-FFF2-40B4-BE49-F238E27FC236}">
                <a16:creationId xmlns:a16="http://schemas.microsoft.com/office/drawing/2014/main" id="{EF0F99ED-1E54-486A-8045-2A3BDC76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147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7" name="risk-4-0">
            <a:extLst xmlns:a="http://schemas.openxmlformats.org/drawingml/2006/main">
              <a:ext uri="{FF2B5EF4-FFF2-40B4-BE49-F238E27FC236}">
                <a16:creationId xmlns:a16="http://schemas.microsoft.com/office/drawing/2014/main" id="{C40CF8E2-F250-4F6E-8E51-FB7BE4F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risk-text-4-0">
            <a:extLst xmlns:a="http://schemas.openxmlformats.org/drawingml/2006/main">
              <a:ext uri="{FF2B5EF4-FFF2-40B4-BE49-F238E27FC236}">
                <a16:creationId xmlns:a16="http://schemas.microsoft.com/office/drawing/2014/main" id="{5AF36AB9-2BB1-4CDD-A803-BDF31EF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Supported risk or opportunity</a:t>
            </a:r>
          </a:p>
        </p:txBody>
      </p:sp>
      <p:sp>
        <p:nvSpPr>
          <p:cNvPr id="69" name="risk-4-1">
            <a:extLst xmlns:a="http://schemas.openxmlformats.org/drawingml/2006/main">
              <a:ext uri="{FF2B5EF4-FFF2-40B4-BE49-F238E27FC236}">
                <a16:creationId xmlns:a16="http://schemas.microsoft.com/office/drawing/2014/main" id="{EEF1297A-E9D8-49AE-AE1D-16133C2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risk-text-4-1">
            <a:extLst xmlns:a="http://schemas.openxmlformats.org/drawingml/2006/main">
              <a:ext uri="{FF2B5EF4-FFF2-40B4-BE49-F238E27FC236}">
                <a16:creationId xmlns:a16="http://schemas.microsoft.com/office/drawing/2014/main" id="{85A6F6AD-8613-42B0-BB95-6B89E90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1" name="risk-4-2">
            <a:extLst xmlns:a="http://schemas.openxmlformats.org/drawingml/2006/main">
              <a:ext uri="{FF2B5EF4-FFF2-40B4-BE49-F238E27FC236}">
                <a16:creationId xmlns:a16="http://schemas.microsoft.com/office/drawing/2014/main" id="{7E5C8FAC-2E9B-4773-AB1F-50948AC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81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risk-text-4-2">
            <a:extLst xmlns:a="http://schemas.openxmlformats.org/drawingml/2006/main">
              <a:ext uri="{FF2B5EF4-FFF2-40B4-BE49-F238E27FC236}">
                <a16:creationId xmlns:a16="http://schemas.microsoft.com/office/drawing/2014/main" id="{0C8BA2D0-ADC8-4555-B931-B8D0FD75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81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3" name="risk-4-3">
            <a:extLst xmlns:a="http://schemas.openxmlformats.org/drawingml/2006/main">
              <a:ext uri="{FF2B5EF4-FFF2-40B4-BE49-F238E27FC236}">
                <a16:creationId xmlns:a16="http://schemas.microsoft.com/office/drawing/2014/main" id="{9319B1BE-C34E-4023-86FC-11B3236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81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4" name="risk-text-4-3">
            <a:extLst xmlns:a="http://schemas.openxmlformats.org/drawingml/2006/main">
              <a:ext uri="{FF2B5EF4-FFF2-40B4-BE49-F238E27FC236}">
                <a16:creationId xmlns:a16="http://schemas.microsoft.com/office/drawing/2014/main" id="{8909461F-48C4-4A56-8D3C-76E909F4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8150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5" name="risk-4-4">
            <a:extLst xmlns:a="http://schemas.openxmlformats.org/drawingml/2006/main">
              <a:ext uri="{FF2B5EF4-FFF2-40B4-BE49-F238E27FC236}">
                <a16:creationId xmlns:a16="http://schemas.microsoft.com/office/drawing/2014/main" id="{EBEF5F49-DC94-4E20-98FA-E28EDE6F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81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risk-text-4-4">
            <a:extLst xmlns:a="http://schemas.openxmlformats.org/drawingml/2006/main">
              <a:ext uri="{FF2B5EF4-FFF2-40B4-BE49-F238E27FC236}">
                <a16:creationId xmlns:a16="http://schemas.microsoft.com/office/drawing/2014/main" id="{2AFE44F9-0948-4895-8851-636F305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81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7" name="risk-4-5">
            <a:extLst xmlns:a="http://schemas.openxmlformats.org/drawingml/2006/main">
              <a:ext uri="{FF2B5EF4-FFF2-40B4-BE49-F238E27FC236}">
                <a16:creationId xmlns:a16="http://schemas.microsoft.com/office/drawing/2014/main" id="{816B73F1-D071-4B2B-BE1A-74804D1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8150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8" name="risk-text-4-5">
            <a:extLst xmlns:a="http://schemas.openxmlformats.org/drawingml/2006/main">
              <a:ext uri="{FF2B5EF4-FFF2-40B4-BE49-F238E27FC236}">
                <a16:creationId xmlns:a16="http://schemas.microsoft.com/office/drawing/2014/main" id="{A80D1CEA-EB52-4D1D-80FF-9A27D1E0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815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9" name="risk-5-0">
            <a:extLst xmlns:a="http://schemas.openxmlformats.org/drawingml/2006/main">
              <a:ext uri="{FF2B5EF4-FFF2-40B4-BE49-F238E27FC236}">
                <a16:creationId xmlns:a16="http://schemas.microsoft.com/office/drawing/2014/main" id="{95C8F3E6-5766-4641-B23E-A3D6D69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risk-text-5-0">
            <a:extLst xmlns:a="http://schemas.openxmlformats.org/drawingml/2006/main">
              <a:ext uri="{FF2B5EF4-FFF2-40B4-BE49-F238E27FC236}">
                <a16:creationId xmlns:a16="http://schemas.microsoft.com/office/drawing/2014/main" id="{18BD7A25-11FC-40D4-B2CD-13213AB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Supported risk or opportunity</a:t>
            </a:r>
          </a:p>
        </p:txBody>
      </p:sp>
      <p:sp>
        <p:nvSpPr>
          <p:cNvPr id="81" name="risk-5-1">
            <a:extLst xmlns:a="http://schemas.openxmlformats.org/drawingml/2006/main">
              <a:ext uri="{FF2B5EF4-FFF2-40B4-BE49-F238E27FC236}">
                <a16:creationId xmlns:a16="http://schemas.microsoft.com/office/drawing/2014/main" id="{85AB9AA5-3416-416D-8EF2-FC993B1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risk-text-5-1">
            <a:extLst xmlns:a="http://schemas.openxmlformats.org/drawingml/2006/main">
              <a:ext uri="{FF2B5EF4-FFF2-40B4-BE49-F238E27FC236}">
                <a16:creationId xmlns:a16="http://schemas.microsoft.com/office/drawing/2014/main" id="{7544E77D-4455-4884-848F-3C4FBBC7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3" name="risk-5-2">
            <a:extLst xmlns:a="http://schemas.openxmlformats.org/drawingml/2006/main">
              <a:ext uri="{FF2B5EF4-FFF2-40B4-BE49-F238E27FC236}">
                <a16:creationId xmlns:a16="http://schemas.microsoft.com/office/drawing/2014/main" id="{0985D2EB-E2E1-4524-8D0D-E2DF7F9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48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4" name="risk-text-5-2">
            <a:extLst xmlns:a="http://schemas.openxmlformats.org/drawingml/2006/main">
              <a:ext uri="{FF2B5EF4-FFF2-40B4-BE49-F238E27FC236}">
                <a16:creationId xmlns:a16="http://schemas.microsoft.com/office/drawing/2014/main" id="{F1C6BD14-FCF6-4344-9442-E7C36C2F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48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5" name="risk-5-3">
            <a:extLst xmlns:a="http://schemas.openxmlformats.org/drawingml/2006/main">
              <a:ext uri="{FF2B5EF4-FFF2-40B4-BE49-F238E27FC236}">
                <a16:creationId xmlns:a16="http://schemas.microsoft.com/office/drawing/2014/main" id="{7CE51124-0B8C-4967-B3DB-7ACA4F0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048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6" name="risk-text-5-3">
            <a:extLst xmlns:a="http://schemas.openxmlformats.org/drawingml/2006/main">
              <a:ext uri="{FF2B5EF4-FFF2-40B4-BE49-F238E27FC236}">
                <a16:creationId xmlns:a16="http://schemas.microsoft.com/office/drawing/2014/main" id="{40757063-6B55-448A-947F-E50FAC1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4825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7" name="risk-5-4">
            <a:extLst xmlns:a="http://schemas.openxmlformats.org/drawingml/2006/main">
              <a:ext uri="{FF2B5EF4-FFF2-40B4-BE49-F238E27FC236}">
                <a16:creationId xmlns:a16="http://schemas.microsoft.com/office/drawing/2014/main" id="{C789D3DF-4054-493A-9CEF-CF031EA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48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8" name="risk-text-5-4">
            <a:extLst xmlns:a="http://schemas.openxmlformats.org/drawingml/2006/main">
              <a:ext uri="{FF2B5EF4-FFF2-40B4-BE49-F238E27FC236}">
                <a16:creationId xmlns:a16="http://schemas.microsoft.com/office/drawing/2014/main" id="{E9809ACF-FE93-40EB-A18C-35528E30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48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9" name="risk-5-5">
            <a:extLst xmlns:a="http://schemas.openxmlformats.org/drawingml/2006/main">
              <a:ext uri="{FF2B5EF4-FFF2-40B4-BE49-F238E27FC236}">
                <a16:creationId xmlns:a16="http://schemas.microsoft.com/office/drawing/2014/main" id="{5E51D706-FF20-4BB9-95B8-AEB0AB36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04825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0" name="risk-text-5-5">
            <a:extLst xmlns:a="http://schemas.openxmlformats.org/drawingml/2006/main">
              <a:ext uri="{FF2B5EF4-FFF2-40B4-BE49-F238E27FC236}">
                <a16:creationId xmlns:a16="http://schemas.microsoft.com/office/drawing/2014/main" id="{FE60C678-A213-4ABA-92E2-CD86F6F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482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99997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9">
            <a:extLst xmlns:a="http://schemas.openxmlformats.org/drawingml/2006/main">
              <a:ext uri="{FF2B5EF4-FFF2-40B4-BE49-F238E27FC236}">
                <a16:creationId xmlns:a16="http://schemas.microsoft.com/office/drawing/2014/main" id="{F837C503-B140-4C35-BF91-E603F40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E4F22B2-DCD9-4417-BB8D-5290255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Numerical tie-out and controlling sources</a:t>
            </a:r>
          </a:p>
        </p:txBody>
      </p:sp>
      <p:sp>
        <p:nvSpPr>
          <p:cNvPr id="3" name="draft-9">
            <a:extLst xmlns:a="http://schemas.openxmlformats.org/drawingml/2006/main">
              <a:ext uri="{FF2B5EF4-FFF2-40B4-BE49-F238E27FC236}">
                <a16:creationId xmlns:a16="http://schemas.microsoft.com/office/drawing/2014/main" id="{6071EA5C-A2F0-4AC5-BD31-3615BAC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DRAFT — DATA NOT REFRESHED</a:t>
            </a:r>
          </a:p>
        </p:txBody>
      </p:sp>
      <p:sp>
        <p:nvSpPr>
          <p:cNvPr id="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82A3C2FD-D811-4102-9C16-D119B8BB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8BEB6C78-523C-4C1C-8C68-98F772C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 executive performance review • Internal working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BD94505F-F0D9-440A-8FB2-04BB04E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9</a:t>
            </a:r>
          </a:p>
        </p:txBody>
      </p:sp>
      <p:sp>
        <p:nvSpPr>
          <p:cNvPr id="7" name="tie-heading">
            <a:extLst xmlns:a="http://schemas.openxmlformats.org/drawingml/2006/main">
              <a:ext uri="{FF2B5EF4-FFF2-40B4-BE49-F238E27FC236}">
                <a16:creationId xmlns:a16="http://schemas.microsoft.com/office/drawing/2014/main" id="{1DCCB73C-8FDC-4AAA-A01B-02CEA3A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Close controls</a:t>
            </a:r>
          </a:p>
        </p:txBody>
      </p:sp>
      <p:sp>
        <p:nvSpPr>
          <p:cNvPr id="8" name="control-box-0">
            <a:extLst xmlns:a="http://schemas.openxmlformats.org/drawingml/2006/main">
              <a:ext uri="{FF2B5EF4-FFF2-40B4-BE49-F238E27FC236}">
                <a16:creationId xmlns:a16="http://schemas.microsoft.com/office/drawing/2014/main" id="{17D5E7D3-AA6C-4DBE-9F2B-89322B27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control-label-0">
            <a:extLst xmlns:a="http://schemas.openxmlformats.org/drawingml/2006/main">
              <a:ext uri="{FF2B5EF4-FFF2-40B4-BE49-F238E27FC236}">
                <a16:creationId xmlns:a16="http://schemas.microsoft.com/office/drawing/2014/main" id="{EFB34294-BD29-4FD7-84DB-18FB576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Revenue bridge to Q2 P&amp;L</a:t>
            </a:r>
          </a:p>
        </p:txBody>
      </p:sp>
      <p:sp>
        <p:nvSpPr>
          <p:cNvPr id="10" name="control-value-0">
            <a:extLst xmlns:a="http://schemas.openxmlformats.org/drawingml/2006/main">
              <a:ext uri="{FF2B5EF4-FFF2-40B4-BE49-F238E27FC236}">
                <a16:creationId xmlns:a16="http://schemas.microsoft.com/office/drawing/2014/main" id="{6DA8BE4E-682C-41CB-AFB5-66857DD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1" name="control-box-1">
            <a:extLst xmlns:a="http://schemas.openxmlformats.org/drawingml/2006/main">
              <a:ext uri="{FF2B5EF4-FFF2-40B4-BE49-F238E27FC236}">
                <a16:creationId xmlns:a16="http://schemas.microsoft.com/office/drawing/2014/main" id="{704D5D09-F001-4C2C-972A-1A78D0A5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9FDE00A9-3AFD-4536-92EF-E38BAC9E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Adjusted EBITDA bridge</a:t>
            </a:r>
          </a:p>
        </p:txBody>
      </p:sp>
      <p:sp>
        <p:nvSpPr>
          <p:cNvPr id="13" name="control-value-1">
            <a:extLst xmlns:a="http://schemas.openxmlformats.org/drawingml/2006/main">
              <a:ext uri="{FF2B5EF4-FFF2-40B4-BE49-F238E27FC236}">
                <a16:creationId xmlns:a16="http://schemas.microsoft.com/office/drawing/2014/main" id="{C9FA4336-466C-4A4F-A65F-E8005FB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4" name="control-box-2">
            <a:extLst xmlns:a="http://schemas.openxmlformats.org/drawingml/2006/main">
              <a:ext uri="{FF2B5EF4-FFF2-40B4-BE49-F238E27FC236}">
                <a16:creationId xmlns:a16="http://schemas.microsoft.com/office/drawing/2014/main" id="{3BD3E71C-92B4-4A07-B398-90FC0063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BE18CB9A-BE3D-4454-B356-3D4016F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Cash roll-forward</a:t>
            </a:r>
          </a:p>
        </p:txBody>
      </p:sp>
      <p:sp>
        <p:nvSpPr>
          <p:cNvPr id="16" name="control-value-2">
            <a:extLst xmlns:a="http://schemas.openxmlformats.org/drawingml/2006/main">
              <a:ext uri="{FF2B5EF4-FFF2-40B4-BE49-F238E27FC236}">
                <a16:creationId xmlns:a16="http://schemas.microsoft.com/office/drawing/2014/main" id="{24880995-0AAC-4383-A9B2-126627F7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7" name="control-box-3">
            <a:extLst xmlns:a="http://schemas.openxmlformats.org/drawingml/2006/main">
              <a:ext uri="{FF2B5EF4-FFF2-40B4-BE49-F238E27FC236}">
                <a16:creationId xmlns:a16="http://schemas.microsoft.com/office/drawing/2014/main" id="{CD94E243-E188-4225-BE6E-242D8C4F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59196E93-515C-446E-90B1-4693C4FA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Backlog to signed contract population</a:t>
            </a:r>
          </a:p>
        </p:txBody>
      </p:sp>
      <p:sp>
        <p:nvSpPr>
          <p:cNvPr id="19" name="control-value-3">
            <a:extLst xmlns:a="http://schemas.openxmlformats.org/drawingml/2006/main">
              <a:ext uri="{FF2B5EF4-FFF2-40B4-BE49-F238E27FC236}">
                <a16:creationId xmlns:a16="http://schemas.microsoft.com/office/drawing/2014/main" id="{1BD972F7-F209-4D9D-9380-1D52EF2F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0" name="control-box-4">
            <a:extLst xmlns:a="http://schemas.openxmlformats.org/drawingml/2006/main">
              <a:ext uri="{FF2B5EF4-FFF2-40B4-BE49-F238E27FC236}">
                <a16:creationId xmlns:a16="http://schemas.microsoft.com/office/drawing/2014/main" id="{D8195318-AD58-4B07-B48E-CE7D0300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control-label-4">
            <a:extLst xmlns:a="http://schemas.openxmlformats.org/drawingml/2006/main">
              <a:ext uri="{FF2B5EF4-FFF2-40B4-BE49-F238E27FC236}">
                <a16:creationId xmlns:a16="http://schemas.microsoft.com/office/drawing/2014/main" id="{7F243BC3-CC43-400D-837A-DF906B24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Latest forecast to executive summary</a:t>
            </a:r>
          </a:p>
        </p:txBody>
      </p:sp>
      <p:sp>
        <p:nvSpPr>
          <p:cNvPr id="22" name="control-value-4">
            <a:extLst xmlns:a="http://schemas.openxmlformats.org/drawingml/2006/main">
              <a:ext uri="{FF2B5EF4-FFF2-40B4-BE49-F238E27FC236}">
                <a16:creationId xmlns:a16="http://schemas.microsoft.com/office/drawing/2014/main" id="{3723E603-1C29-4DE5-A930-46318D83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3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517B3D7E-561B-467B-BDFC-F90A8C4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0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Controlling sources</a:t>
            </a:r>
          </a:p>
        </p:txBody>
      </p:sp>
      <p:sp>
        <p:nvSpPr>
          <p:cNvPr id="24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7740459A-62E7-48A4-B09C-E3481D61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533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Vista ERP: profit_and_loss by department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Q2 reporting data book — v7 controller tie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Q2 reporting cube extract — 7.2 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Board/lender review notes and KPI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• Period: June and Q2 2026; FY26 latest outlook</a:t>
            </a:r>
          </a:p>
        </p:txBody>
      </p:sp>
      <p:sp>
        <p:nvSpPr>
          <p:cNvPr id="2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326E522-8ED4-4675-9E1A-604FB97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53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note-text">
            <a:extLst xmlns:a="http://schemas.openxmlformats.org/drawingml/2006/main">
              <a:ext uri="{FF2B5EF4-FFF2-40B4-BE49-F238E27FC236}">
                <a16:creationId xmlns:a16="http://schemas.microsoft.com/office/drawing/2014/main" id="{6D9C0E91-8F07-4054-B571-315FFCC0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00650"/>
            <a:ext cx="407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All headline figures must tie here before this deck is circulated.</a:t>
            </a:r>
          </a:p>
        </p:txBody>
      </p:sp>
    </p:spTree>
    <p:extLst>
      <p:ext uri="{BB962C8B-B14F-4D97-AF65-F5344CB8AC3E}">
        <p14:creationId xmlns:p14="http://schemas.microsoft.com/office/powerpoint/2010/main" val="2104093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2026-07-19T01:56:13.8530000Z</dcterms:created>
  <dcterms:modified xsi:type="dcterms:W3CDTF">2026-07-19T01:56:13.8530000Z</dcterms:modified>
</coreProperties>
</file>