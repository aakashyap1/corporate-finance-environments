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29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B85C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38200" y="723900"/>
            <a:ext cx="533400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b="1" dirty="0" i="0">
                <a:solidFill>
                  <a:srgbClr val="E9D8D3"/>
                </a:solidFill>
              </a:rPr>
              <a:t>ALDER RIDGE MECHANICAL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838200" y="1524000"/>
            <a:ext cx="8572500" cy="1428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750" b="1" dirty="0" i="0">
                <a:solidFill>
                  <a:srgbClr val="FFFFFF"/>
                </a:solidFill>
              </a:rPr>
              <a:t>June Flash — CFO Scratch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876300" y="3314700"/>
            <a:ext cx="7810500" cy="809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650" dirty="0" b="0" i="0">
                <a:solidFill>
                  <a:srgbClr val="E9D8D3"/>
                </a:solidFill>
              </a:rPr>
              <a:t>Posted results, proposed WIP bridge and operating callouts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953500" y="742950"/>
            <a:ext cx="23812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1125" b="1" dirty="0" i="0">
                <a:solidFill>
                  <a:srgbClr val="E9D8D3"/>
                </a:solidFill>
              </a:rPr>
              <a:t>WORKING / PRE-WIP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876300" y="4857750"/>
            <a:ext cx="409575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FFFFFF"/>
                </a:solidFill>
              </a:rPr>
              <a:t>July 2, 2026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A29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66750" y="3238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975" b="1" dirty="0" i="0">
                <a:solidFill>
                  <a:srgbClr val="B85C38"/>
                </a:solidFill>
              </a:rPr>
              <a:t>JUNE 2026 FLASH REVIEW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704850"/>
            <a:ext cx="10668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475" b="1" dirty="0" i="0">
                <a:solidFill>
                  <a:srgbClr val="3A2932"/>
                </a:solidFill>
              </a:rPr>
              <a:t>Close status and source hierarchy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10668000" cy="19050"/>
          </a:xfrm>
          <a:prstGeom prst="rect">
            <a:avLst/>
          </a:prstGeom>
          <a:solidFill>
            <a:srgbClr val="D9CC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2950" y="1657350"/>
            <a:ext cx="61912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Accounting system controls posted actuals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Board-approved FINAL2 controls plan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Proposed WIP shown separately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No deck number overrides the workbook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7543800" y="1657350"/>
            <a:ext cx="3714750" cy="3714750"/>
          </a:xfrm>
          <a:prstGeom prst="rect">
            <a:avLst/>
          </a:prstGeom>
          <a:solidFill>
            <a:srgbClr val="F0E6DA"/>
          </a:solidFill>
          <a:ln w="9525">
            <a:solidFill>
              <a:srgbClr val="CDB8A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05750" y="2095500"/>
            <a:ext cx="29527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655C55"/>
                </a:solidFill>
              </a:rPr>
              <a:t>Close status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05750" y="2571750"/>
            <a:ext cx="2952750" cy="666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150" b="1" dirty="0" i="0">
                <a:solidFill>
                  <a:srgbClr val="B85C38"/>
                </a:solidFill>
              </a:rPr>
              <a:t>Pre-WIP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7905750" y="3638550"/>
            <a:ext cx="2952750" cy="1190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222222"/>
                </a:solidFill>
              </a:rPr>
              <a:t>The flash remains a working view until the Controller approves the WIP entry.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66750" y="6496050"/>
            <a:ext cx="10668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750" dirty="0" b="0" i="0">
                <a:solidFill>
                  <a:srgbClr val="655C55"/>
                </a:solidFill>
              </a:rPr>
              <a:t>July 2, 2026 | WORKING / PRE-WIP |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A29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66750" y="3238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975" b="1" dirty="0" i="0">
                <a:solidFill>
                  <a:srgbClr val="B85C38"/>
                </a:solidFill>
              </a:rPr>
              <a:t>JUNE 2026 FLASH REVIEW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704850"/>
            <a:ext cx="10668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475" b="1" dirty="0" i="0">
                <a:solidFill>
                  <a:srgbClr val="3A2932"/>
                </a:solidFill>
              </a:rPr>
              <a:t>Posted June results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10668000" cy="19050"/>
          </a:xfrm>
          <a:prstGeom prst="rect">
            <a:avLst/>
          </a:prstGeom>
          <a:solidFill>
            <a:srgbClr val="D9CC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2950" y="1657350"/>
            <a:ext cx="61912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Revenue and cost from accounting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Operating expense from posted GL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No proposed WIP in posted column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Plan comparison still open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7543800" y="1657350"/>
            <a:ext cx="3714750" cy="3714750"/>
          </a:xfrm>
          <a:prstGeom prst="rect">
            <a:avLst/>
          </a:prstGeom>
          <a:solidFill>
            <a:srgbClr val="F0E6DA"/>
          </a:solidFill>
          <a:ln w="9525">
            <a:solidFill>
              <a:srgbClr val="CDB8A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05750" y="2095500"/>
            <a:ext cx="29527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655C55"/>
                </a:solidFill>
              </a:rPr>
              <a:t>Posted revenue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05750" y="2571750"/>
            <a:ext cx="2952750" cy="666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150" b="1" dirty="0" i="0">
                <a:solidFill>
                  <a:srgbClr val="B85C38"/>
                </a:solidFill>
              </a:rPr>
              <a:t>$3.6m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7905750" y="3638550"/>
            <a:ext cx="2952750" cy="1190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222222"/>
                </a:solidFill>
              </a:rPr>
              <a:t>This is posted revenue before the proposed percentage-of-completion entry.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66750" y="6496050"/>
            <a:ext cx="10668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750" dirty="0" b="0" i="0">
                <a:solidFill>
                  <a:srgbClr val="655C55"/>
                </a:solidFill>
              </a:rPr>
              <a:t>July 2, 2026 | WORKING / PRE-WIP |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A29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66750" y="3238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975" b="1" dirty="0" i="0">
                <a:solidFill>
                  <a:srgbClr val="B85C38"/>
                </a:solidFill>
              </a:rPr>
              <a:t>JUNE 2026 FLASH REVIEW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704850"/>
            <a:ext cx="10668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475" b="1" dirty="0" i="0">
                <a:solidFill>
                  <a:srgbClr val="3A2932"/>
                </a:solidFill>
              </a:rPr>
              <a:t>Project estimate callouts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10668000" cy="19050"/>
          </a:xfrm>
          <a:prstGeom prst="rect">
            <a:avLst/>
          </a:prstGeom>
          <a:solidFill>
            <a:srgbClr val="D9CC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2950" y="1657350"/>
            <a:ext cx="61912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Northline disputed recovery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Cascade night-shift exposure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Eastbank electrical redesign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Columbia validation closeout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7543800" y="1657350"/>
            <a:ext cx="3714750" cy="3714750"/>
          </a:xfrm>
          <a:prstGeom prst="rect">
            <a:avLst/>
          </a:prstGeom>
          <a:solidFill>
            <a:srgbClr val="F0E6DA"/>
          </a:solidFill>
          <a:ln w="9525">
            <a:solidFill>
              <a:srgbClr val="CDB8A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05750" y="2095500"/>
            <a:ext cx="29527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655C55"/>
                </a:solidFill>
              </a:rPr>
              <a:t>Risk cases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05750" y="2571750"/>
            <a:ext cx="2952750" cy="666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150" b="1" dirty="0" i="0">
                <a:solidFill>
                  <a:srgbClr val="B85C38"/>
                </a:solidFill>
              </a:rPr>
              <a:t>4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7905750" y="3638550"/>
            <a:ext cx="2952750" cy="1190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222222"/>
                </a:solidFill>
              </a:rPr>
              <a:t>Pending revenue stays excluded while probable unavoidable cost is included in EAC.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66750" y="6496050"/>
            <a:ext cx="10668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750" dirty="0" b="0" i="0">
                <a:solidFill>
                  <a:srgbClr val="655C55"/>
                </a:solidFill>
              </a:rPr>
              <a:t>July 2, 2026 | WORKING / PRE-WIP |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A29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66750" y="3238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975" b="1" dirty="0" i="0">
                <a:solidFill>
                  <a:srgbClr val="B85C38"/>
                </a:solidFill>
              </a:rPr>
              <a:t>JUNE 2026 FLASH REVIEW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704850"/>
            <a:ext cx="10668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475" b="1" dirty="0" i="0">
                <a:solidFill>
                  <a:srgbClr val="3A2932"/>
                </a:solidFill>
              </a:rPr>
              <a:t>Working decisions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10668000" cy="19050"/>
          </a:xfrm>
          <a:prstGeom prst="rect">
            <a:avLst/>
          </a:prstGeom>
          <a:solidFill>
            <a:srgbClr val="D9CC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2950" y="1657350"/>
            <a:ext cx="61912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Approve or revise WIP entry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Confirm flash bridge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Separate posted and pro-forma labels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Carry source notes into operating review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7543800" y="1657350"/>
            <a:ext cx="3714750" cy="3714750"/>
          </a:xfrm>
          <a:prstGeom prst="rect">
            <a:avLst/>
          </a:prstGeom>
          <a:solidFill>
            <a:srgbClr val="F0E6DA"/>
          </a:solidFill>
          <a:ln w="9525">
            <a:solidFill>
              <a:srgbClr val="CDB8A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05750" y="2095500"/>
            <a:ext cx="29527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655C55"/>
                </a:solidFill>
              </a:rPr>
              <a:t>Decision owner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05750" y="2571750"/>
            <a:ext cx="2952750" cy="666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150" b="1" dirty="0" i="0">
                <a:solidFill>
                  <a:srgbClr val="B85C38"/>
                </a:solidFill>
              </a:rPr>
              <a:t>CFO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7905750" y="3638550"/>
            <a:ext cx="2952750" cy="1190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222222"/>
                </a:solidFill>
              </a:rPr>
              <a:t>The bridge workbook—not this scratch deck—is the calculation source.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66750" y="6496050"/>
            <a:ext cx="10668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750" dirty="0" b="0" i="0">
                <a:solidFill>
                  <a:srgbClr val="655C55"/>
                </a:solidFill>
              </a:rPr>
              <a:t>July 2, 2026 | WORKING / PRE-WIP | 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Alder Ridge Mechanical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Finance and operating review source material</dc:subject>
  <dc:creator>Alder Ridge Finance</dc:creator>
  <cp:lastModifiedBy>Alder Ridge Finance</cp:lastModifiedBy>
  <cp:revision>1</cp:revision>
  <dcterms:created xsi:type="dcterms:W3CDTF">2026-07-28T10:45:39Z</dcterms:created>
  <dcterms:modified xsi:type="dcterms:W3CDTF">2026-07-28T10:45:39Z</dcterms:modified>
</cp:coreProperties>
</file>