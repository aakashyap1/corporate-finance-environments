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84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spPr>
            <a:solidFill>
              <a:srgbClr val="9B6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4.34977021</c:v>
                </c:pt>
                <c:pt idx="1">
                  <c:v>4.18043797</c:v>
                </c:pt>
                <c:pt idx="2">
                  <c:v>4.1436041</c:v>
                </c:pt>
                <c:pt idx="3">
                  <c:v>4.47191049</c:v>
                </c:pt>
                <c:pt idx="4">
                  <c:v>3.9451931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revenue</c:v>
                </c:pt>
              </c:strCache>
            </c:strRef>
          </c:tx>
          <c:spPr>
            <a:solidFill>
              <a:srgbClr val="B8C7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3.43426667</c:v>
                </c:pt>
                <c:pt idx="1">
                  <c:v>3.51413333</c:v>
                </c:pt>
                <c:pt idx="2">
                  <c:v>3.75373333</c:v>
                </c:pt>
                <c:pt idx="3">
                  <c:v>3.91346667</c:v>
                </c:pt>
                <c:pt idx="4">
                  <c:v>4.15306667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75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84"/>
          <c:h val="0.7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 asset</c:v>
                </c:pt>
              </c:strCache>
            </c:strRef>
          </c:tx>
          <c:spPr>
            <a:solidFill>
              <a:srgbClr val="9B6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ARM-2514</c:v>
                  </c:pt>
                  <c:pt idx="1">
                    <c:v>ARM-2318</c:v>
                  </c:pt>
                  <c:pt idx="2">
                    <c:v>ARM-2526</c:v>
                  </c:pt>
                  <c:pt idx="3">
                    <c:v>ARM-2417</c:v>
                  </c:pt>
                  <c:pt idx="4">
                    <c:v>ARM-2409</c:v>
                  </c:pt>
                  <c:pt idx="5">
                    <c:v>ARM-2403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0.42040213</c:v>
                </c:pt>
                <c:pt idx="2">
                  <c:v>0</c:v>
                </c:pt>
                <c:pt idx="3">
                  <c:v>0.28135312</c:v>
                </c:pt>
                <c:pt idx="4">
                  <c:v>0.27480516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 liability</c:v>
                </c:pt>
              </c:strCache>
            </c:strRef>
          </c:tx>
          <c:spPr>
            <a:solidFill>
              <a:srgbClr val="B58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ARM-2514</c:v>
                  </c:pt>
                  <c:pt idx="1">
                    <c:v>ARM-2318</c:v>
                  </c:pt>
                  <c:pt idx="2">
                    <c:v>ARM-2526</c:v>
                  </c:pt>
                  <c:pt idx="3">
                    <c:v>ARM-2417</c:v>
                  </c:pt>
                  <c:pt idx="4">
                    <c:v>ARM-2409</c:v>
                  </c:pt>
                  <c:pt idx="5">
                    <c:v>ARM-2403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-0.84200312</c:v>
                </c:pt>
                <c:pt idx="1">
                  <c:v>0</c:v>
                </c:pt>
                <c:pt idx="2">
                  <c:v>-0.28524727</c:v>
                </c:pt>
                <c:pt idx="3">
                  <c:v>0</c:v>
                </c:pt>
                <c:pt idx="4">
                  <c:v>0</c:v>
                </c:pt>
                <c:pt idx="5">
                  <c:v>-0.23812388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75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84"/>
          <c:h val="0.76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</c:v>
                </c:pt>
              </c:strCache>
            </c:strRef>
          </c:tx>
          <c:spPr>
            <a:solidFill>
              <a:srgbClr val="9B6A3E"/>
            </a:solidFill>
            <a:ln w="25400" cap="flat">
              <a:solidFill>
                <a:srgbClr val="9B6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B6A3E"/>
              </a:solidFill>
              <a:ln w="9525" cap="flat">
                <a:solidFill>
                  <a:srgbClr val="9B6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07-03</c:v>
                  </c:pt>
                  <c:pt idx="1">
                    <c:v>07-10</c:v>
                  </c:pt>
                  <c:pt idx="2">
                    <c:v>07-17</c:v>
                  </c:pt>
                  <c:pt idx="3">
                    <c:v>07-24</c:v>
                  </c:pt>
                  <c:pt idx="4">
                    <c:v>07-31</c:v>
                  </c:pt>
                  <c:pt idx="5">
                    <c:v>08-07</c:v>
                  </c:pt>
                  <c:pt idx="6">
                    <c:v>08-14</c:v>
                  </c:pt>
                  <c:pt idx="7">
                    <c:v>08-21</c:v>
                  </c:pt>
                  <c:pt idx="8">
                    <c:v>08-28</c:v>
                  </c:pt>
                  <c:pt idx="9">
                    <c:v>09-04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3.9409911</c:v>
                </c:pt>
                <c:pt idx="1">
                  <c:v>4.2588760599999995</c:v>
                </c:pt>
                <c:pt idx="2">
                  <c:v>4.44835933</c:v>
                </c:pt>
                <c:pt idx="3">
                  <c:v>5.46809409</c:v>
                </c:pt>
                <c:pt idx="4">
                  <c:v>5.1071349900000005</c:v>
                </c:pt>
                <c:pt idx="5">
                  <c:v>5.81357956</c:v>
                </c:pt>
                <c:pt idx="6">
                  <c:v>5.36368003</c:v>
                </c:pt>
                <c:pt idx="7">
                  <c:v>5.4931164400000005</c:v>
                </c:pt>
                <c:pt idx="8">
                  <c:v>4.9348164400000005</c:v>
                </c:pt>
                <c:pt idx="9">
                  <c:v>5.091316440000001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Liquidity floor</c:v>
                </c:pt>
              </c:strCache>
            </c:strRef>
          </c:tx>
          <c:spPr>
            <a:solidFill>
              <a:srgbClr val="C00000"/>
            </a:solidFill>
            <a:ln w="25400" cap="flat">
              <a:solidFill>
                <a:srgbClr val="C00000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07-03</c:v>
                  </c:pt>
                  <c:pt idx="1">
                    <c:v>07-10</c:v>
                  </c:pt>
                  <c:pt idx="2">
                    <c:v>07-17</c:v>
                  </c:pt>
                  <c:pt idx="3">
                    <c:v>07-24</c:v>
                  </c:pt>
                  <c:pt idx="4">
                    <c:v>07-31</c:v>
                  </c:pt>
                  <c:pt idx="5">
                    <c:v>08-07</c:v>
                  </c:pt>
                  <c:pt idx="6">
                    <c:v>08-14</c:v>
                  </c:pt>
                  <c:pt idx="7">
                    <c:v>08-21</c:v>
                  </c:pt>
                  <c:pt idx="8">
                    <c:v>08-28</c:v>
                  </c:pt>
                  <c:pt idx="9">
                    <c:v>09-04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1.25</c:v>
                </c:pt>
                <c:pt idx="6">
                  <c:v>1.25</c:v>
                </c:pt>
                <c:pt idx="7">
                  <c:v>1.25</c:v>
                </c:pt>
                <c:pt idx="8">
                  <c:v>1.25</c:v>
                </c:pt>
                <c:pt idx="9">
                  <c:v>1.25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75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75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5A7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42950"/>
            <a:ext cx="5524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B7D5ED"/>
                </a:solidFill>
              </a:rPr>
              <a:t>ALDER RIDGE MECHANICAL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38200" y="1562100"/>
            <a:ext cx="6858000" cy="1676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4350" b="1" dirty="0" i="0">
                <a:solidFill>
                  <a:srgbClr val="FFFFFF"/>
                </a:solidFill>
              </a:rPr>
              <a:t>May 2026</a:t>
            </a:r>
            <a:endParaRPr lang="en-US" sz="4350" dirty="0"/>
          </a:p>
          <a:p>
            <a:pPr algn="l" indent="0" marL="0">
              <a:buNone/>
            </a:pPr>
            <a:r>
              <a:rPr lang="en-US" sz="4350" b="1" dirty="0" i="0">
                <a:solidFill>
                  <a:srgbClr val="FFFFFF"/>
                </a:solidFill>
              </a:rPr>
              <a:t>Operating Review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76300" y="3524250"/>
            <a:ext cx="685800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800" dirty="0" b="0" i="0">
                <a:solidFill>
                  <a:srgbClr val="DCE6F1"/>
                </a:solidFill>
              </a:rPr>
              <a:t>Performance, project outlook, working capital and June close priorities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6300" y="4686300"/>
            <a:ext cx="3048000" cy="28575"/>
          </a:xfrm>
          <a:prstGeom prst="rect">
            <a:avLst/>
          </a:prstGeom>
          <a:solidFill>
            <a:srgbClr val="5A7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dirty="0" b="0" i="0">
                <a:solidFill>
                  <a:srgbClr val="FFFFFF"/>
                </a:solidFill>
              </a:rPr>
              <a:t>Leadership review | June 5, 2026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25000" y="742950"/>
            <a:ext cx="180975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200" b="1" dirty="0" i="0">
                <a:solidFill>
                  <a:srgbClr val="D8D0C6"/>
                </a:solidFill>
              </a:rPr>
              <a:t>FINAL_v4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OPERATING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May revenue outpaced plan, while project mix compressed margin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57350"/>
          <a:ext cx="5905500" cy="3009900"/>
        </p:xfrm>
        <a:graphic>
          <a:graphicData uri="http://schemas.openxmlformats.org/drawingml/2006/table">
            <a:tbl>
              <a:tblPr/>
              <a:tblGrid>
                <a:gridCol w="2095500"/>
                <a:gridCol w="1285875"/>
                <a:gridCol w="1285875"/>
                <a:gridCol w="1238250"/>
              </a:tblGrid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May actual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May plan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Revenue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$3.9m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$4.2m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-5.0%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Gross profit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$0.5m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$1.0m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-54.5%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Operating expense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$0.8m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$0.6m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+36.0%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Operating income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($0.3m)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$0.5m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($0.8m)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43750" y="1695450"/>
            <a:ext cx="3619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2A4337"/>
                </a:solidFill>
              </a:rPr>
              <a:t>What changed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43750" y="2152650"/>
            <a:ext cx="4000500" cy="1485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Construction revenue conversion remained on schedule. Gross margin finished below plan as the mix shifted toward Eastbank procurement and Cascade Health night-work exposure. Service utilization partially offset the pressure.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7143750" y="3981450"/>
            <a:ext cx="36195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2A4337"/>
                </a:solidFill>
              </a:rPr>
              <a:t>June focus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43750" y="4419600"/>
            <a:ext cx="4000500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Hold pending change-order revenue out of the close, refresh low-confidence EACs, and convert large underbillings where the contract permits.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OPERATING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Revenue is ahead of plan; margin quality is the constraint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657350"/>
          <a:ext cx="6953250" cy="3905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1809750"/>
            <a:ext cx="2571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YTD revenue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0" y="2152650"/>
            <a:ext cx="2952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225" b="1" dirty="0" i="0">
                <a:solidFill>
                  <a:srgbClr val="2A4337"/>
                </a:solidFill>
              </a:rPr>
              <a:t>$21.1m</a:t>
            </a:r>
            <a:endParaRPr lang="en-US" sz="3225" dirty="0"/>
          </a:p>
        </p:txBody>
      </p:sp>
      <p:sp>
        <p:nvSpPr>
          <p:cNvPr id="11" name="Text 8"/>
          <p:cNvSpPr/>
          <p:nvPr/>
        </p:nvSpPr>
        <p:spPr>
          <a:xfrm>
            <a:off x="8229600" y="3048000"/>
            <a:ext cx="2571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YTD gross margin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0" y="3390900"/>
            <a:ext cx="2952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225" b="1" dirty="0" i="0">
                <a:solidFill>
                  <a:srgbClr val="548235"/>
                </a:solidFill>
              </a:rPr>
              <a:t>24.1%</a:t>
            </a:r>
            <a:endParaRPr lang="en-US" sz="3225" dirty="0"/>
          </a:p>
        </p:txBody>
      </p:sp>
      <p:sp>
        <p:nvSpPr>
          <p:cNvPr id="13" name="Text 10"/>
          <p:cNvSpPr/>
          <p:nvPr/>
        </p:nvSpPr>
        <p:spPr>
          <a:xfrm>
            <a:off x="8229600" y="4324350"/>
            <a:ext cx="3048000" cy="1162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dirty="0" b="0" i="0">
                <a:solidFill>
                  <a:srgbClr val="222222"/>
                </a:solidFill>
              </a:rPr>
              <a:t>The June close must distinguish real margin erosion from timing: pending commercial recoveries cannot mask probable cost exposure.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OPERATING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Four projects concentrate WIP and commercial follow-through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676400"/>
          <a:ext cx="6858000" cy="3905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191500" y="1790700"/>
            <a:ext cx="2857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Contract assets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91500" y="2133600"/>
            <a:ext cx="2857500" cy="514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000" b="1" dirty="0" i="0">
                <a:solidFill>
                  <a:srgbClr val="9B6A3E"/>
                </a:solidFill>
              </a:rPr>
              <a:t>$1.1m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191500" y="3009900"/>
            <a:ext cx="2857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Contract liabilities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91500" y="3352800"/>
            <a:ext cx="2857500" cy="514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000" b="1" dirty="0" i="0">
                <a:solidFill>
                  <a:srgbClr val="B58A4A"/>
                </a:solidFill>
              </a:rPr>
              <a:t>$2.3m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91500" y="4362450"/>
            <a:ext cx="3048000" cy="1123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dirty="0" b="0" i="0">
                <a:solidFill>
                  <a:srgbClr val="222222"/>
                </a:solidFill>
              </a:rPr>
              <a:t>Eastbank, Cascade Health, Northline and Columbia Biologics account for most estimate uncertainty. June review must update ETC before evaluating billing actions.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OPERATING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Three timing dates drive the liquidity low point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676400"/>
          <a:ext cx="7239000" cy="38671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439150" y="175260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2A4337"/>
                </a:solidFill>
              </a:rPr>
              <a:t>Timing drivers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39150" y="2266950"/>
            <a:ext cx="2762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9B6A3E"/>
                </a:solidFill>
              </a:rPr>
              <a:t>1  Eastbank funding draw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05850" y="2628900"/>
            <a:ext cx="2571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Expected mid-July; lien-waiver completion is the near-term dependency.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8439150" y="3467100"/>
            <a:ext cx="2762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9B6A3E"/>
                </a:solidFill>
              </a:rPr>
              <a:t>2  Trane factory release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705850" y="3829050"/>
            <a:ext cx="2571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The remaining chiller commitment is the largest single equipment outflow.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8439150" y="4648200"/>
            <a:ext cx="2762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9B6A3E"/>
                </a:solidFill>
              </a:rPr>
              <a:t>3  Columbia close-out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705850" y="5010150"/>
            <a:ext cx="2571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Keep disputed validation and retainage receipts outside the July base case.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OPERATING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June close priorities: protect estimates and preserve cash options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19250"/>
          <a:ext cx="10820400" cy="3600450"/>
        </p:xfrm>
        <a:graphic>
          <a:graphicData uri="http://schemas.openxmlformats.org/drawingml/2006/table">
            <a:tbl>
              <a:tblPr/>
              <a:tblGrid>
                <a:gridCol w="1952625"/>
                <a:gridCol w="5429250"/>
                <a:gridCol w="1619250"/>
                <a:gridCol w="1819275"/>
              </a:tblGrid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Workstream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Decision / action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Due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WIP estimates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Resolve low-confidence ETCs and record probable cost without pending revenue.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Controller + Ops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July 2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Commercial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Advance executed documentation on Cascade Health, Eastbank and Northline positions.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Commercial Mgr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July 2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Billing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Identify contract-compliant billing actions for large, supportable underbillings.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Project Acctg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July 3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Escalate Eastbank and public-owner dates; keep Columbia close-out outside July base.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Controller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Weekly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Liquidity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Prepare revolver draw mechanics before headroom reaches the policy floor.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CFO / Treasury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July 3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600700"/>
            <a:ext cx="32385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b="1" dirty="0" i="0">
                <a:solidFill>
                  <a:srgbClr val="2A4337"/>
                </a:solidFill>
              </a:rPr>
              <a:t>Outcome for the June review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57650" y="5543550"/>
            <a:ext cx="7239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500" dirty="0" b="0" i="0">
                <a:solidFill>
                  <a:srgbClr val="222222"/>
                </a:solidFill>
              </a:rPr>
              <a:t>A reconciled WIP close, a 13-week cash view grounded in invoice-level timing, and explicit decisions on commercial risk and liquidity.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| APPENDIX / WORKING REFERENCES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Source reconciliation — what was used and what was not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820400" cy="3810000"/>
        </p:xfrm>
        <a:graphic>
          <a:graphicData uri="http://schemas.openxmlformats.org/drawingml/2006/table">
            <a:tbl>
              <a:tblPr/>
              <a:tblGrid>
                <a:gridCol w="2571750"/>
                <a:gridCol w="3714750"/>
                <a:gridCol w="2286000"/>
                <a:gridCol w="2247900"/>
              </a:tblGrid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Page / metric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Controlling source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Cross-check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</a:rPr>
                        <a:t>Open item / note</a:t>
                      </a:r>
                      <a:endParaRPr lang="en-US" sz="1125" dirty="0"/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33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P&amp;L actual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Accounting system GL through 5/31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FY26 plan tab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June not closed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Revenue plan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BoardApproved AOP FINAL2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Monthly Plan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v3 deck used old phasing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WIP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5.31 WIP v7 revised NB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JC + billing dumps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manual EAC overrides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Commercial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 log PR copy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support PDFs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status labels inconsistent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C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system AR aging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NB call notes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dates are judgmental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Liquidity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13wk cash v9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AP dump / bank rec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May page is directional</a:t>
                      </a:r>
                      <a:endParaRPr lang="en-US" sz="1050" dirty="0"/>
                    </a:p>
                  </a:txBody>
                  <a:tcPr marL="76200" marR="76200" marT="47625" marB="47625">
                    <a:lnL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676900"/>
            <a:ext cx="10572750" cy="514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9B6A3E"/>
                </a:solidFill>
              </a:rPr>
              <a:t>Retained note: do not reuse May deck numbers for June. Preserve page geometry and decision rhythm only; rebuild every metric from current sources.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A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323850"/>
            <a:ext cx="4953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050" b="1" dirty="0" i="0">
                <a:solidFill>
                  <a:srgbClr val="9B6A3E"/>
                </a:solidFill>
              </a:rPr>
              <a:t>MAY 2026 | APPENDIX / FOLLOW-THROUGH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820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625" b="1" dirty="0" i="0">
                <a:solidFill>
                  <a:srgbClr val="2A4337"/>
                </a:solidFill>
              </a:rPr>
              <a:t>Items carried forward from the room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solidFill>
            <a:srgbClr val="D8D0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6515100"/>
            <a:ext cx="495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ARM | 6/5/26 leadership room | internal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086850" y="6515100"/>
            <a:ext cx="24193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825" dirty="0" b="0" i="0">
                <a:solidFill>
                  <a:srgbClr val="655C55"/>
                </a:solidFill>
              </a:rPr>
              <a:t>FINAL_v4 • NB / DC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1676400"/>
            <a:ext cx="4762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725" b="1" dirty="0" i="0">
                <a:solidFill>
                  <a:srgbClr val="9B6A3E"/>
                </a:solidFill>
              </a:rPr>
              <a:t>Numbers / controls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685800" y="2171700"/>
            <a:ext cx="4762500" cy="2190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Reconcile plan version before next deck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Show YTD dollars and margin rate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Separate executed revenue from cost exposure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Keep invoice-level cash mapping once only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286500" y="1676400"/>
            <a:ext cx="4762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725" b="1" dirty="0" i="0">
                <a:solidFill>
                  <a:srgbClr val="5A7669"/>
                </a:solidFill>
              </a:rPr>
              <a:t>Decisions / owners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6286500" y="2171700"/>
            <a:ext cx="4762500" cy="2190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NB — WIP estimate quality page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 — change support and status cleanup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KS — evidence-based receipt dates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DC — liquidity trigger and lender wording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85800" y="4819650"/>
            <a:ext cx="10363200" cy="876300"/>
          </a:xfrm>
          <a:prstGeom prst="rect">
            <a:avLst/>
          </a:prstGeom>
          <a:solidFill>
            <a:srgbClr val="F3E6D5"/>
          </a:solidFill>
          <a:ln w="9525">
            <a:solidFill>
              <a:srgbClr val="B58A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3450" y="5067300"/>
            <a:ext cx="98869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b="1" dirty="0" i="0">
                <a:solidFill>
                  <a:srgbClr val="2A4337"/>
                </a:solidFill>
              </a:rPr>
              <a:t>DC handwritten follow-up (transcribed): June pack = 9 pages max; decision page before appendix; send PPT + PDF + source/notes file together.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2026-07-28T10:45:35Z</dcterms:created>
  <dcterms:modified xsi:type="dcterms:W3CDTF">2026-07-28T10:45:35Z</dcterms:modified>
</cp:coreProperties>
</file>