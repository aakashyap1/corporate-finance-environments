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A44A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23900"/>
            <a:ext cx="5334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E9D8D3"/>
                </a:solidFill>
              </a:rPr>
              <a:t>ALDER RIDGE MECHANICAL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8572500" cy="1428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750" b="1" dirty="0" i="0">
                <a:solidFill>
                  <a:srgbClr val="FFFFFF"/>
                </a:solidFill>
              </a:rPr>
              <a:t>Q1 2026 Board Package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10500" cy="809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dirty="0" b="0" i="0">
                <a:solidFill>
                  <a:srgbClr val="E9D8D3"/>
                </a:solidFill>
              </a:rPr>
              <a:t>Performance, backlog, liquidity, capital and enterprise risks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53500" y="74295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125" b="1" dirty="0" i="0">
                <a:solidFill>
                  <a:srgbClr val="E9D8D3"/>
                </a:solidFill>
              </a:rPr>
              <a:t>FINAL / BOARD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FFFFFF"/>
                </a:solidFill>
              </a:rPr>
              <a:t>April 24, 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4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A44A3F"/>
                </a:solidFill>
              </a:rPr>
              <a:t>Q1 2026 BOARD MATERIAL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4252F"/>
                </a:solidFill>
              </a:rPr>
              <a:t>Executive scorecard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Revenue conversion ahead of plan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Gross margin below plan on project mix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Liquidity remains above internal floor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Backlog supports planned field capacity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Q1 revenue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A44A3F"/>
                </a:solidFill>
              </a:rPr>
              <a:t>$12.7m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Board plan is the baseline; WIP estimates remain the main judgment area.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24, 2026 | FINAL / BOARD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4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A44A3F"/>
                </a:solidFill>
              </a:rPr>
              <a:t>Q1 2026 BOARD MATERIAL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4252F"/>
                </a:solidFill>
              </a:rPr>
              <a:t>Financial performance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Revenue, gross profit and operating income versus plan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Working-capital movement separated from earnings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One-time insurance recovery excluded from operating trend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Gross margin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A44A3F"/>
                </a:solidFill>
              </a:rPr>
              <a:t>26.6%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Procurement-heavy work diluted margin rate despite favorable revenue timing.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24, 2026 | FINAL / BOARD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4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A44A3F"/>
                </a:solidFill>
              </a:rPr>
              <a:t>Q1 2026 BOARD MATERIAL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4252F"/>
                </a:solidFill>
              </a:rPr>
              <a:t>Backlog and pipeline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Signed backlog by end market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Probable awards shown outside committed backlog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Labor capacity and schedule access constrain conversion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Signed backlog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A44A3F"/>
                </a:solidFill>
              </a:rPr>
              <a:t>$42.9m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Healthcare and data-center programs create customer and execution concentration.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24, 2026 | FINAL / BOARD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4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A44A3F"/>
                </a:solidFill>
              </a:rPr>
              <a:t>Q1 2026 BOARD MATERIAL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4252F"/>
                </a:solidFill>
              </a:rPr>
              <a:t>Cash, debt and capital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Thirteen-week liquidity outlook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Debt covenant headroom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Fleet and fabrication requests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Collections concentration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Cash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A44A3F"/>
                </a:solidFill>
              </a:rPr>
              <a:t>-$4.4m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No revolver draw assumed; equipment releases are sequenced with collections.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24, 2026 | FINAL / BOARD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4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A44A3F"/>
                </a:solidFill>
              </a:rPr>
              <a:t>Q1 2026 BOARD MATERIAL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4252F"/>
                </a:solidFill>
              </a:rPr>
              <a:t>Risk register and decisions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Change-order entitlement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Field labor productivity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Insurance renewal exposure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Lender and surety reporting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Board decisions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A44A3F"/>
                </a:solidFill>
              </a:rPr>
              <a:t>4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Decision log is retained with owners and due dates in the appendix.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24, 2026 | FINAL / BOARD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4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A44A3F"/>
                </a:solidFill>
              </a:rPr>
              <a:t>Q1 2026 BOARD MATERIAL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4252F"/>
                </a:solidFill>
              </a:rPr>
              <a:t>Appendix — source and controls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Accounting-system reports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WIP and backlog workpapers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Treasury forecast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Reviewer sign-offs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Close status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A44A3F"/>
                </a:solidFill>
              </a:rPr>
              <a:t>Final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Appendix provides source lineage and reconciliations used for board reporting.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24, 2026 | FINAL / BOARD | 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2026-07-28T10:45:35Z</dcterms:created>
  <dcterms:modified xsi:type="dcterms:W3CDTF">2026-07-28T10:45:35Z</dcterms:modified>
</cp:coreProperties>
</file>