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officeDocument/2006/relationships/extended-properties" Target="/docProps/app.xml" Id="rId1" /><Relationship Type="http://schemas.openxmlformats.org/officeDocument/2006/relationships/officeDocument" Target="/ppt/presentation.xml" Id="rI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7"/>
  </p:sldMasterIdLst>
  <p:notesMasterIdLst>
    <p:notesMasterId xmlns:r="http://schemas.openxmlformats.org/officeDocument/2006/relationships" r:id="rId1"/>
  </p:notesMasterIdLst>
  <p:sldIdLst>
    <p:sldId xmlns:r="http://schemas.openxmlformats.org/officeDocument/2006/relationships" id="256" r:id="rId3"/>
    <p:sldId xmlns:r="http://schemas.openxmlformats.org/officeDocument/2006/relationships" id="257" r:id="rId4"/>
    <p:sldId xmlns:r="http://schemas.openxmlformats.org/officeDocument/2006/relationships" id="258" r:id="rId5"/>
    <p:sldId xmlns:r="http://schemas.openxmlformats.org/officeDocument/2006/relationships" id="259" r:id="rId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Id9" /><Relationship Type="http://schemas.openxmlformats.org/officeDocument/2006/relationships/slideMaster" Target="/ppt/slideMasters/slideMaster1.xml" Id="rId7" /><Relationship Type="http://schemas.openxmlformats.org/officeDocument/2006/relationships/notesMaster" Target="/ppt/notesMasters/notesMaster1.xml" Id="rId1" /><Relationship Type="http://schemas.openxmlformats.org/officeDocument/2006/relationships/presProps" Target="/ppt/presProps.xml" Id="rId2" /><Relationship Type="http://schemas.openxmlformats.org/officeDocument/2006/relationships/tableStyles" Target="/ppt/tableStyles.xml" Id="rId8" /><Relationship Type="http://schemas.openxmlformats.org/officeDocument/2006/relationships/slide" Target="/ppt/slides/slide1.xml" Id="rId3" /><Relationship Type="http://schemas.openxmlformats.org/officeDocument/2006/relationships/slide" Target="/ppt/slides/slide2.xml" Id="rId4" /><Relationship Type="http://schemas.openxmlformats.org/officeDocument/2006/relationships/slide" Target="/ppt/slides/slide3.xml" Id="rId5" /><Relationship Type="http://schemas.openxmlformats.org/officeDocument/2006/relationships/slide" Target="/ppt/slides/slide4.xml" Id="rI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I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Id2" /><Relationship Type="http://schemas.openxmlformats.org/officeDocument/2006/relationships/notesMaster" Target="/ppt/notesMasters/notesMaster1.xml" Id="rI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Id2" /><Relationship Type="http://schemas.openxmlformats.org/officeDocument/2006/relationships/notesMaster" Target="/ppt/notesMasters/notesMaster1.xml" Id="rI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Id2" /><Relationship Type="http://schemas.openxmlformats.org/officeDocument/2006/relationships/slideLayout" Target="/ppt/slideLayouts/slideLayout1.xml" Id="rI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2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3" /><Relationship Type="http://schemas.openxmlformats.org/officeDocument/2006/relationships/chart" Target="/ppt/slides/charts/chart1.xml" Id="rId1" /><Relationship Type="http://schemas.openxmlformats.org/officeDocument/2006/relationships/notesSlide" Target="/ppt/notesSlides/notesSlide3.xml" Id="rI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4.xml" Id="rId1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Revenue ($M)</c:v>
          </c:tx>
          <c:spPr>
            <a:ln xmlns:a="http://schemas.openxmlformats.org/drawingml/2006/main" w="28575">
              <a:solidFill>
                <a:srgbClr val="2D6673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2026-01</c:v>
              </c:pt>
              <c:pt idx="1">
                <c:v>2026-02</c:v>
              </c:pt>
              <c:pt idx="2">
                <c:v>2026-03</c:v>
              </c:pt>
              <c:pt idx="3">
                <c:v>2026-04</c:v>
              </c:pt>
              <c:pt idx="4">
                <c:v>2026-05</c:v>
              </c:pt>
              <c:pt idx="5">
                <c:v>2026-06</c:v>
              </c:pt>
            </c:strLit>
          </c:cat>
          <c:val>
            <c:numLit>
              <c:formatCode>General</c:formatCode>
              <c:ptCount val="6"/>
              <c:pt idx="0">
                <c:v>26.6837558</c:v>
              </c:pt>
              <c:pt idx="1">
                <c:v>21.944717699999998</c:v>
              </c:pt>
              <c:pt idx="2">
                <c:v>27.10152959</c:v>
              </c:pt>
              <c:pt idx="3">
                <c:v>25.91675102</c:v>
              </c:pt>
              <c:pt idx="4">
                <c:v>26.53612177</c:v>
              </c:pt>
              <c:pt idx="5">
                <c:v>8.27737453</c:v>
              </c:pt>
            </c:numLit>
          </c:val>
        </c:ser>
        <c:ser>
          <c:idx val="1"/>
          <c:order val="1"/>
          <c:tx>
            <c:v>Standard COGS ($M)</c:v>
          </c:tx>
          <c:spPr>
            <a:ln xmlns:a="http://schemas.openxmlformats.org/drawingml/2006/main" w="28575">
              <a:solidFill>
                <a:srgbClr val="6DCBF4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2026-01</c:v>
              </c:pt>
              <c:pt idx="1">
                <c:v>2026-02</c:v>
              </c:pt>
              <c:pt idx="2">
                <c:v>2026-03</c:v>
              </c:pt>
              <c:pt idx="3">
                <c:v>2026-04</c:v>
              </c:pt>
              <c:pt idx="4">
                <c:v>2026-05</c:v>
              </c:pt>
              <c:pt idx="5">
                <c:v>2026-06</c:v>
              </c:pt>
            </c:strLit>
          </c:cat>
          <c:val>
            <c:numLit>
              <c:formatCode>General</c:formatCode>
              <c:ptCount val="6"/>
              <c:pt idx="0">
                <c:v>18.20177719</c:v>
              </c:pt>
              <c:pt idx="1">
                <c:v>15.012218769999999</c:v>
              </c:pt>
              <c:pt idx="2">
                <c:v>18.517718010000003</c:v>
              </c:pt>
              <c:pt idx="3">
                <c:v>17.73012739</c:v>
              </c:pt>
              <c:pt idx="4">
                <c:v>18.12632995</c:v>
              </c:pt>
              <c:pt idx="5">
                <c:v>5.62513947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0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F3F5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667DB92E-6C12-5891-9511-8EF4AC17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76200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673"/>
          </a:solidFill>
          <a:ln xmlns:a="http://schemas.openxmlformats.org/drawingml/2006/main" w="0">
            <a:solidFill>
              <a:srgbClr val="2D6673"/>
            </a:solidFill>
            <a:prstDash val="solid"/>
          </a:ln>
        </p:spPr>
      </p:sp>
      <p:sp>
        <p:nvSpPr>
          <p:cNvPr id="2" name="cover-wordmark">
            <a:extLst xmlns:a="http://schemas.openxmlformats.org/drawingml/2006/main">
              <a:ext uri="{FF2B5EF4-FFF2-40B4-BE49-F238E27FC236}">
                <a16:creationId xmlns:a16="http://schemas.microsoft.com/office/drawing/2014/main" id="{9BA28CF3-9C84-5B8F-BDCD-6FD4AE96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PINEHAVEN MOTION SYSTEMS</a:t>
            </a:r>
          </a:p>
        </p:txBody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9837A34E-048D-5CE6-96AE-6C614266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D6673"/>
                </a:solidFill>
                <a:latin typeface="Arial"/>
                <a:ea typeface="Arial"/>
                <a:cs typeface="Arial"/>
              </a:rPr>
              <a:t>MONTHLY OPERATING REVIEW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386A301-D14B-56FB-BA43-85C127D3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January 2026 Operating Review</a:t>
            </a:r>
          </a:p>
        </p:txBody>
      </p:sp>
      <p:sp>
        <p:nvSpPr>
          <p:cNvPr id="5" name="cover-period">
            <a:extLst xmlns:a="http://schemas.openxmlformats.org/drawingml/2006/main">
              <a:ext uri="{FF2B5EF4-FFF2-40B4-BE49-F238E27FC236}">
                <a16:creationId xmlns:a16="http://schemas.microsoft.com/office/drawing/2014/main" id="{CD7D0A3B-A9F8-5084-92C2-83BD211A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January 1–31, 2026</a:t>
            </a:r>
          </a:p>
        </p:txBody>
      </p:sp>
      <p:sp>
        <p:nvSpPr>
          <p:cNvPr id="6" name="cover-purpose">
            <a:extLst xmlns:a="http://schemas.openxmlformats.org/drawingml/2006/main">
              <a:ext uri="{FF2B5EF4-FFF2-40B4-BE49-F238E27FC236}">
                <a16:creationId xmlns:a16="http://schemas.microsoft.com/office/drawing/2014/main" id="{855EE562-1AFF-5559-A0EA-795A956F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Review reported performance, factory execution, working capital, and the actions due before the next close.</a:t>
            </a:r>
          </a:p>
        </p:txBody>
      </p:sp>
      <p:sp>
        <p:nvSpPr>
          <p:cNvPr id="7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4F31FEF9-AAB8-527A-BBEE-1BE11AE5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MANAGEMENT REPORTING  •  JUNE PRE-CLOSE</a:t>
            </a:r>
          </a:p>
        </p:txBody>
      </p:sp>
      <p:sp>
        <p:nvSpPr>
          <p:cNvPr id="8" name="factory-field">
            <a:extLst xmlns:a="http://schemas.openxmlformats.org/drawingml/2006/main">
              <a:ext uri="{FF2B5EF4-FFF2-40B4-BE49-F238E27FC236}">
                <a16:creationId xmlns:a16="http://schemas.microsoft.com/office/drawing/2014/main" id="{8788CE93-6FA6-5EF1-9C53-9E6C1C94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467350"/>
          </a:xfrm>
          <a:prstGeom xmlns:a="http://schemas.openxmlformats.org/drawingml/2006/main" prst="roundRect">
            <a:avLst>
              <a:gd name="adj" fmla="val 2091"/>
            </a:avLst>
          </a:prstGeom>
          <a:solidFill xmlns:a="http://schemas.openxmlformats.org/drawingml/2006/main">
            <a:srgbClr val="EDF4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9" name="site-panel-1">
            <a:extLst xmlns:a="http://schemas.openxmlformats.org/drawingml/2006/main">
              <a:ext uri="{FF2B5EF4-FFF2-40B4-BE49-F238E27FC236}">
                <a16:creationId xmlns:a16="http://schemas.microsoft.com/office/drawing/2014/main" id="{FE923057-82DA-5804-BB80-307598D2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62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0" name="site-code-1">
            <a:extLst xmlns:a="http://schemas.openxmlformats.org/drawingml/2006/main">
              <a:ext uri="{FF2B5EF4-FFF2-40B4-BE49-F238E27FC236}">
                <a16:creationId xmlns:a16="http://schemas.microsoft.com/office/drawing/2014/main" id="{302F57FF-3E1C-548F-ABA6-E788CDCD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295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100 | GRAND RAPIDS</a:t>
            </a:r>
          </a:p>
        </p:txBody>
      </p:sp>
      <p:sp>
        <p:nvSpPr>
          <p:cNvPr id="11" name="site-desc-1">
            <a:extLst xmlns:a="http://schemas.openxmlformats.org/drawingml/2006/main">
              <a:ext uri="{FF2B5EF4-FFF2-40B4-BE49-F238E27FC236}">
                <a16:creationId xmlns:a16="http://schemas.microsoft.com/office/drawing/2014/main" id="{C8B55A9A-6D40-5171-9295-36831122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571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Final assembly · engineered systems</a:t>
            </a:r>
          </a:p>
        </p:txBody>
      </p:sp>
      <p:sp>
        <p:nvSpPr>
          <p:cNvPr id="12" name="site-arrow-1">
            <a:extLst xmlns:a="http://schemas.openxmlformats.org/drawingml/2006/main">
              <a:ext uri="{FF2B5EF4-FFF2-40B4-BE49-F238E27FC236}">
                <a16:creationId xmlns:a16="http://schemas.microsoft.com/office/drawing/2014/main" id="{0DEF976C-5F90-5319-9374-32FD8CE5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81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D667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3" name="site-panel-2">
            <a:extLst xmlns:a="http://schemas.openxmlformats.org/drawingml/2006/main">
              <a:ext uri="{FF2B5EF4-FFF2-40B4-BE49-F238E27FC236}">
                <a16:creationId xmlns:a16="http://schemas.microsoft.com/office/drawing/2014/main" id="{A40B0CD1-10DE-5373-AE72-5C99E9C4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4" name="site-code-2">
            <a:extLst xmlns:a="http://schemas.openxmlformats.org/drawingml/2006/main">
              <a:ext uri="{FF2B5EF4-FFF2-40B4-BE49-F238E27FC236}">
                <a16:creationId xmlns:a16="http://schemas.microsoft.com/office/drawing/2014/main" id="{8290081B-0675-5980-9C7D-A8D082B3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38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200 | DAYTON</a:t>
            </a:r>
          </a:p>
        </p:txBody>
      </p:sp>
      <p:sp>
        <p:nvSpPr>
          <p:cNvPr id="15" name="site-desc-2">
            <a:extLst xmlns:a="http://schemas.openxmlformats.org/drawingml/2006/main">
              <a:ext uri="{FF2B5EF4-FFF2-40B4-BE49-F238E27FC236}">
                <a16:creationId xmlns:a16="http://schemas.microsoft.com/office/drawing/2014/main" id="{CFDCECE0-F776-5F9C-9FA8-4D853EE9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14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Machining · gears · shafts</a:t>
            </a:r>
          </a:p>
        </p:txBody>
      </p:sp>
      <p:sp>
        <p:nvSpPr>
          <p:cNvPr id="16" name="site-arrow-2">
            <a:extLst xmlns:a="http://schemas.openxmlformats.org/drawingml/2006/main">
              <a:ext uri="{FF2B5EF4-FFF2-40B4-BE49-F238E27FC236}">
                <a16:creationId xmlns:a16="http://schemas.microsoft.com/office/drawing/2014/main" id="{6AE75246-F38E-5A74-8105-FD64261B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24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D667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7" name="site-panel-3">
            <a:extLst xmlns:a="http://schemas.openxmlformats.org/drawingml/2006/main">
              <a:ext uri="{FF2B5EF4-FFF2-40B4-BE49-F238E27FC236}">
                <a16:creationId xmlns:a16="http://schemas.microsoft.com/office/drawing/2014/main" id="{A12B416E-39D1-5017-9990-F2131A25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8" name="site-code-3">
            <a:extLst xmlns:a="http://schemas.openxmlformats.org/drawingml/2006/main">
              <a:ext uri="{FF2B5EF4-FFF2-40B4-BE49-F238E27FC236}">
                <a16:creationId xmlns:a16="http://schemas.microsoft.com/office/drawing/2014/main" id="{7220BA41-E2C3-50F4-86C2-C458F8BB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81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300 | GREENVILLE</a:t>
            </a:r>
          </a:p>
        </p:txBody>
      </p:sp>
      <p:sp>
        <p:nvSpPr>
          <p:cNvPr id="19" name="site-desc-3">
            <a:extLst xmlns:a="http://schemas.openxmlformats.org/drawingml/2006/main">
              <a:ext uri="{FF2B5EF4-FFF2-40B4-BE49-F238E27FC236}">
                <a16:creationId xmlns:a16="http://schemas.microsoft.com/office/drawing/2014/main" id="{27615DEE-E773-5902-8FAF-5AB8AB79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Controls · electronics · cabinets</a:t>
            </a:r>
          </a:p>
        </p:txBody>
      </p:sp>
      <p:sp>
        <p:nvSpPr>
          <p:cNvPr id="20" name="site-arrow-3">
            <a:extLst xmlns:a="http://schemas.openxmlformats.org/drawingml/2006/main">
              <a:ext uri="{FF2B5EF4-FFF2-40B4-BE49-F238E27FC236}">
                <a16:creationId xmlns:a16="http://schemas.microsoft.com/office/drawing/2014/main" id="{119F53DB-646E-5298-810A-E2DE11AE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67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D667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1" name="site-panel-4">
            <a:extLst xmlns:a="http://schemas.openxmlformats.org/drawingml/2006/main">
              <a:ext uri="{FF2B5EF4-FFF2-40B4-BE49-F238E27FC236}">
                <a16:creationId xmlns:a16="http://schemas.microsoft.com/office/drawing/2014/main" id="{26B0423C-7D29-5FD3-B8A3-E111AD07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91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4EFF1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2" name="site-code-4">
            <a:extLst xmlns:a="http://schemas.openxmlformats.org/drawingml/2006/main">
              <a:ext uri="{FF2B5EF4-FFF2-40B4-BE49-F238E27FC236}">
                <a16:creationId xmlns:a16="http://schemas.microsoft.com/office/drawing/2014/main" id="{69079E87-82E9-5572-8177-BF4AFDA8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24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400 | FORT WORTH</a:t>
            </a:r>
          </a:p>
        </p:txBody>
      </p:sp>
      <p:sp>
        <p:nvSpPr>
          <p:cNvPr id="23" name="site-desc-4">
            <a:extLst xmlns:a="http://schemas.openxmlformats.org/drawingml/2006/main">
              <a:ext uri="{FF2B5EF4-FFF2-40B4-BE49-F238E27FC236}">
                <a16:creationId xmlns:a16="http://schemas.microsoft.com/office/drawing/2014/main" id="{AF8FA789-E7F0-5A15-B2FD-588319A5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00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Aftermarket distribution</a:t>
            </a:r>
          </a:p>
        </p:txBody>
      </p:sp>
      <p:sp>
        <p:nvSpPr>
          <p:cNvPr id="24" name="brand-wordmark-1">
            <a:extLst xmlns:a="http://schemas.openxmlformats.org/drawingml/2006/main">
              <a:ext uri="{FF2B5EF4-FFF2-40B4-BE49-F238E27FC236}">
                <a16:creationId xmlns:a16="http://schemas.microsoft.com/office/drawing/2014/main" id="{4A76D510-AC8A-576F-BB4C-2A4030FC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MONTHLY OPERATING REVIEW</a:t>
            </a:r>
          </a:p>
        </p:txBody>
      </p:sp>
      <p:sp>
        <p:nvSpPr>
          <p:cNvPr id="25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2E0FD740-F43D-54FF-9C21-9B0E43EE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526380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etric-title">
            <a:extLst xmlns:a="http://schemas.openxmlformats.org/drawingml/2006/main">
              <a:ext uri="{FF2B5EF4-FFF2-40B4-BE49-F238E27FC236}">
                <a16:creationId xmlns:a16="http://schemas.microsoft.com/office/drawing/2014/main" id="{19A3AF40-5B9E-54E2-AAC6-205B8617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014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Revenue and backlog remain the near-term operating anchors</a:t>
            </a:r>
          </a:p>
        </p:txBody>
      </p:sp>
      <p:sp>
        <p:nvSpPr>
          <p:cNvPr id="2" name="metric-context">
            <a:extLst xmlns:a="http://schemas.openxmlformats.org/drawingml/2006/main">
              <a:ext uri="{FF2B5EF4-FFF2-40B4-BE49-F238E27FC236}">
                <a16:creationId xmlns:a16="http://schemas.microsoft.com/office/drawing/2014/main" id="{93D9F3F2-0701-5436-A5A7-95ECC7A3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11401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Reported activity covers January 1–31, 2026. Production variance is positive when unfavorable; June remains open.</a:t>
            </a:r>
          </a:p>
        </p:txBody>
      </p:sp>
      <p:sp>
        <p:nvSpPr>
          <p:cNvPr id="3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1D0E38BC-6F39-57CB-B6C0-9A26667D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19425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1895D2D8-64D3-574E-8571-437C796E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67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$26.7M</a:t>
            </a:r>
          </a:p>
        </p:txBody>
      </p:sp>
      <p:sp>
        <p:nvSpPr>
          <p:cNvPr id="5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F62D97D6-8E99-5EA6-914D-D921C45E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Reported revenue</a:t>
            </a:r>
          </a:p>
        </p:txBody>
      </p:sp>
      <p:sp>
        <p:nvSpPr>
          <p:cNvPr id="6" name="metric-note-1">
            <a:extLst xmlns:a="http://schemas.openxmlformats.org/drawingml/2006/main">
              <a:ext uri="{FF2B5EF4-FFF2-40B4-BE49-F238E27FC236}">
                <a16:creationId xmlns:a16="http://schemas.microsoft.com/office/drawing/2014/main" id="{308DD8AA-2363-5434-806D-5EA219E1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05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January 1–31, 2026</a:t>
            </a:r>
          </a:p>
        </p:txBody>
      </p:sp>
      <p:sp>
        <p:nvSpPr>
          <p:cNvPr id="7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ED5D958C-76ED-5C96-A479-23AB7F3C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3019425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12CAC4CB-7436-50D8-884F-F2071B1E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3467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$149K</a:t>
            </a:r>
          </a:p>
        </p:txBody>
      </p:sp>
      <p:sp>
        <p:nvSpPr>
          <p:cNvPr id="9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5B010DDF-C3C4-56F4-A77A-D1C331DD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Production variance</a:t>
            </a:r>
          </a:p>
        </p:txBody>
      </p:sp>
      <p:sp>
        <p:nvSpPr>
          <p:cNvPr id="10" name="metric-note-2">
            <a:extLst xmlns:a="http://schemas.openxmlformats.org/drawingml/2006/main">
              <a:ext uri="{FF2B5EF4-FFF2-40B4-BE49-F238E27FC236}">
                <a16:creationId xmlns:a16="http://schemas.microsoft.com/office/drawing/2014/main" id="{32774DEA-CCB6-5216-A74D-EB5D33B9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5105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unfavorable; investigate by order and site</a:t>
            </a:r>
          </a:p>
        </p:txBody>
      </p:sp>
      <p:sp>
        <p:nvSpPr>
          <p:cNvPr id="11" name="metric-card-3">
            <a:extLst xmlns:a="http://schemas.openxmlformats.org/drawingml/2006/main">
              <a:ext uri="{FF2B5EF4-FFF2-40B4-BE49-F238E27FC236}">
                <a16:creationId xmlns:a16="http://schemas.microsoft.com/office/drawing/2014/main" id="{1E706244-9511-5226-86B2-18181CE3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19425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4EFF1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2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9162984B-B4D3-5D62-AF7A-6CF051CD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$65.6M</a:t>
            </a:r>
          </a:p>
        </p:txBody>
      </p:sp>
      <p:sp>
        <p:nvSpPr>
          <p:cNvPr id="13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5D7E3D42-2414-57D8-8E4B-2E328EC3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Open sales backlog</a:t>
            </a:r>
          </a:p>
        </p:txBody>
      </p:sp>
      <p:sp>
        <p:nvSpPr>
          <p:cNvPr id="14" name="metric-note-3">
            <a:extLst xmlns:a="http://schemas.openxmlformats.org/drawingml/2006/main">
              <a:ext uri="{FF2B5EF4-FFF2-40B4-BE49-F238E27FC236}">
                <a16:creationId xmlns:a16="http://schemas.microsoft.com/office/drawing/2014/main" id="{33B3FCF1-B15B-5839-A061-AF66D1D9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05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June 30 snapshot; timing still depends on supply</a:t>
            </a:r>
          </a:p>
        </p:txBody>
      </p:sp>
      <p:sp>
        <p:nvSpPr>
          <p:cNvPr id="15" name="brand-wordmark-2">
            <a:extLst xmlns:a="http://schemas.openxmlformats.org/drawingml/2006/main">
              <a:ext uri="{FF2B5EF4-FFF2-40B4-BE49-F238E27FC236}">
                <a16:creationId xmlns:a16="http://schemas.microsoft.com/office/drawing/2014/main" id="{F043E7A9-46E5-507F-BF2B-ADC34A85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MONTHLY OPERATING REVIEW</a:t>
            </a:r>
          </a:p>
        </p:txBody>
      </p:sp>
      <p:sp>
        <p:nvSpPr>
          <p:cNvPr id="16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5387DC1B-AF23-5E85-9A45-B6EBCF27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035515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rend-title">
            <a:extLst xmlns:a="http://schemas.openxmlformats.org/drawingml/2006/main">
              <a:ext uri="{FF2B5EF4-FFF2-40B4-BE49-F238E27FC236}">
                <a16:creationId xmlns:a16="http://schemas.microsoft.com/office/drawing/2014/main" id="{5BC78D0B-F362-52E4-B0AD-AE9DAB23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Revenue and standard cost over the trailing six months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390525" y="1409700"/>
          <a:ext xmlns:a="http://schemas.openxmlformats.org/drawingml/2006/main" cx="552450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1"/>
          </a:graphicData>
        </a:graphic>
      </p:graphicFrame>
      <p:sp>
        <p:nvSpPr>
          <p:cNvPr id="3" name="trend-interpretation">
            <a:extLst xmlns:a="http://schemas.openxmlformats.org/drawingml/2006/main">
              <a:ext uri="{FF2B5EF4-FFF2-40B4-BE49-F238E27FC236}">
                <a16:creationId xmlns:a16="http://schemas.microsoft.com/office/drawing/2014/main" id="{3F7775A6-A9F7-5EE7-B276-834F5495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90700"/>
            <a:ext cx="5534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Management follow-up: reconcile changes to price, volume, mix, backlog conversion, standard cost, and production execution before assigning recovery actions.</a:t>
            </a:r>
          </a:p>
        </p:txBody>
      </p:sp>
      <p:sp>
        <p:nvSpPr>
          <p:cNvPr id="4" name="trend-card-1">
            <a:extLst xmlns:a="http://schemas.openxmlformats.org/drawingml/2006/main">
              <a:ext uri="{FF2B5EF4-FFF2-40B4-BE49-F238E27FC236}">
                <a16:creationId xmlns:a16="http://schemas.microsoft.com/office/drawing/2014/main" id="{9338519E-DDD9-56D4-B01E-AFEBB77A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24275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" name="trend-stat-1">
            <a:extLst xmlns:a="http://schemas.openxmlformats.org/drawingml/2006/main">
              <a:ext uri="{FF2B5EF4-FFF2-40B4-BE49-F238E27FC236}">
                <a16:creationId xmlns:a16="http://schemas.microsoft.com/office/drawing/2014/main" id="{7F147985-D41C-56C0-962B-89B7DD3A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$8.3M</a:t>
            </a:r>
          </a:p>
        </p:txBody>
      </p:sp>
      <p:sp>
        <p:nvSpPr>
          <p:cNvPr id="6" name="trend-label-1">
            <a:extLst xmlns:a="http://schemas.openxmlformats.org/drawingml/2006/main">
              <a:ext uri="{FF2B5EF4-FFF2-40B4-BE49-F238E27FC236}">
                <a16:creationId xmlns:a16="http://schemas.microsoft.com/office/drawing/2014/main" id="{0F38C482-8F18-57FA-9B15-4F1703BA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53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Latest-month revenue</a:t>
            </a:r>
          </a:p>
        </p:txBody>
      </p:sp>
      <p:sp>
        <p:nvSpPr>
          <p:cNvPr id="7" name="trend-card-2">
            <a:extLst xmlns:a="http://schemas.openxmlformats.org/drawingml/2006/main">
              <a:ext uri="{FF2B5EF4-FFF2-40B4-BE49-F238E27FC236}">
                <a16:creationId xmlns:a16="http://schemas.microsoft.com/office/drawing/2014/main" id="{A5F50B1C-ECA3-5CC0-853B-F244C19F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24275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trend-stat-2">
            <a:extLst xmlns:a="http://schemas.openxmlformats.org/drawingml/2006/main">
              <a:ext uri="{FF2B5EF4-FFF2-40B4-BE49-F238E27FC236}">
                <a16:creationId xmlns:a16="http://schemas.microsoft.com/office/drawing/2014/main" id="{A0CE36A7-32DC-594C-A30B-23437400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95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$27.1M</a:t>
            </a:r>
          </a:p>
        </p:txBody>
      </p:sp>
      <p:sp>
        <p:nvSpPr>
          <p:cNvPr id="9" name="trend-label-2">
            <a:extLst xmlns:a="http://schemas.openxmlformats.org/drawingml/2006/main">
              <a:ext uri="{FF2B5EF4-FFF2-40B4-BE49-F238E27FC236}">
                <a16:creationId xmlns:a16="http://schemas.microsoft.com/office/drawing/2014/main" id="{E98120ED-354D-515E-8BD4-2D0610E9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53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Six-month peak revenue</a:t>
            </a:r>
          </a:p>
        </p:txBody>
      </p:sp>
      <p:sp>
        <p:nvSpPr>
          <p:cNvPr id="10" name="trend-card-3">
            <a:extLst xmlns:a="http://schemas.openxmlformats.org/drawingml/2006/main">
              <a:ext uri="{FF2B5EF4-FFF2-40B4-BE49-F238E27FC236}">
                <a16:creationId xmlns:a16="http://schemas.microsoft.com/office/drawing/2014/main" id="{0E5E39B2-A930-58AC-984B-753108BB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24275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1" name="trend-stat-3">
            <a:extLst xmlns:a="http://schemas.openxmlformats.org/drawingml/2006/main">
              <a:ext uri="{FF2B5EF4-FFF2-40B4-BE49-F238E27FC236}">
                <a16:creationId xmlns:a16="http://schemas.microsoft.com/office/drawing/2014/main" id="{54C9529F-32D6-5906-953A-3165A319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095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$5.6M</a:t>
            </a:r>
          </a:p>
        </p:txBody>
      </p:sp>
      <p:sp>
        <p:nvSpPr>
          <p:cNvPr id="12" name="trend-label-3">
            <a:extLst xmlns:a="http://schemas.openxmlformats.org/drawingml/2006/main">
              <a:ext uri="{FF2B5EF4-FFF2-40B4-BE49-F238E27FC236}">
                <a16:creationId xmlns:a16="http://schemas.microsoft.com/office/drawing/2014/main" id="{0797C753-5ABA-5DB0-9B7C-21AE9895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953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Latest standard COGS</a:t>
            </a:r>
          </a:p>
        </p:txBody>
      </p:sp>
      <p:sp>
        <p:nvSpPr>
          <p:cNvPr id="13" name="brand-wordmark-3">
            <a:extLst xmlns:a="http://schemas.openxmlformats.org/drawingml/2006/main">
              <a:ext uri="{FF2B5EF4-FFF2-40B4-BE49-F238E27FC236}">
                <a16:creationId xmlns:a16="http://schemas.microsoft.com/office/drawing/2014/main" id="{22B35AA6-B52C-568E-970F-DC2FBB3D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MONTHLY OPERATING REVIEW</a:t>
            </a:r>
          </a:p>
        </p:txBody>
      </p:sp>
      <p:sp>
        <p:nvSpPr>
          <p:cNvPr id="14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94B24C22-5DE0-59EA-A845-131B0852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25283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014F13CA-C86B-5ACA-AE1E-7A37AFE0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201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Management actions for the next review cycle</a:t>
            </a:r>
          </a:p>
        </p:txBody>
      </p:sp>
      <p:sp>
        <p:nvSpPr>
          <p:cNvPr id="2" name="decision-context">
            <a:extLst xmlns:a="http://schemas.openxmlformats.org/drawingml/2006/main">
              <a:ext uri="{FF2B5EF4-FFF2-40B4-BE49-F238E27FC236}">
                <a16:creationId xmlns:a16="http://schemas.microsoft.com/office/drawing/2014/main" id="{FF513F80-4F8B-56FD-A1C6-5F9B2CAB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1401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Each action has a named owner and a source-backed decision point; unresolved June items remain pre-close.</a:t>
            </a:r>
          </a:p>
        </p:txBody>
      </p:sp>
      <p:sp>
        <p:nvSpPr>
          <p:cNvPr id="3" name="decision-table-cell-0-0">
            <a:extLst xmlns:a="http://schemas.openxmlformats.org/drawingml/2006/main">
              <a:ext uri="{FF2B5EF4-FFF2-40B4-BE49-F238E27FC236}">
                <a16:creationId xmlns:a16="http://schemas.microsoft.com/office/drawing/2014/main" id="{28034683-3186-5D1E-ACCB-E8F75823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" name="decision-table-text-0-0">
            <a:extLst xmlns:a="http://schemas.openxmlformats.org/drawingml/2006/main">
              <a:ext uri="{FF2B5EF4-FFF2-40B4-BE49-F238E27FC236}">
                <a16:creationId xmlns:a16="http://schemas.microsoft.com/office/drawing/2014/main" id="{21153C50-FD60-5439-B071-62AA08B0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247900"/>
            <a:ext cx="1276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Area</a:t>
            </a:r>
          </a:p>
        </p:txBody>
      </p:sp>
      <p:sp>
        <p:nvSpPr>
          <p:cNvPr id="5" name="decision-table-cell-0-1">
            <a:extLst xmlns:a="http://schemas.openxmlformats.org/drawingml/2006/main">
              <a:ext uri="{FF2B5EF4-FFF2-40B4-BE49-F238E27FC236}">
                <a16:creationId xmlns:a16="http://schemas.microsoft.com/office/drawing/2014/main" id="{26CF4A85-9B84-5707-85AA-3B5670EC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1907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" name="decision-table-text-0-1">
            <a:extLst xmlns:a="http://schemas.openxmlformats.org/drawingml/2006/main">
              <a:ext uri="{FF2B5EF4-FFF2-40B4-BE49-F238E27FC236}">
                <a16:creationId xmlns:a16="http://schemas.microsoft.com/office/drawing/2014/main" id="{E4998C52-219A-576B-A414-FE9632DC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2479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ERP evidence</a:t>
            </a:r>
          </a:p>
        </p:txBody>
      </p:sp>
      <p:sp>
        <p:nvSpPr>
          <p:cNvPr id="7" name="decision-table-cell-0-2">
            <a:extLst xmlns:a="http://schemas.openxmlformats.org/drawingml/2006/main">
              <a:ext uri="{FF2B5EF4-FFF2-40B4-BE49-F238E27FC236}">
                <a16:creationId xmlns:a16="http://schemas.microsoft.com/office/drawing/2014/main" id="{4BDAB14F-08C6-5015-9947-D5C6038A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90750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decision-table-text-0-2">
            <a:extLst xmlns:a="http://schemas.openxmlformats.org/drawingml/2006/main">
              <a:ext uri="{FF2B5EF4-FFF2-40B4-BE49-F238E27FC236}">
                <a16:creationId xmlns:a16="http://schemas.microsoft.com/office/drawing/2014/main" id="{F8CBEF12-2F6E-52D6-A3E1-8BF80F78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247900"/>
            <a:ext cx="1990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Finance lens</a:t>
            </a:r>
          </a:p>
        </p:txBody>
      </p:sp>
      <p:sp>
        <p:nvSpPr>
          <p:cNvPr id="9" name="decision-table-cell-0-3">
            <a:extLst xmlns:a="http://schemas.openxmlformats.org/drawingml/2006/main">
              <a:ext uri="{FF2B5EF4-FFF2-40B4-BE49-F238E27FC236}">
                <a16:creationId xmlns:a16="http://schemas.microsoft.com/office/drawing/2014/main" id="{78EFDCDB-673C-5510-BD52-4BAF8586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907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0" name="decision-table-text-0-3">
            <a:extLst xmlns:a="http://schemas.openxmlformats.org/drawingml/2006/main">
              <a:ext uri="{FF2B5EF4-FFF2-40B4-BE49-F238E27FC236}">
                <a16:creationId xmlns:a16="http://schemas.microsoft.com/office/drawing/2014/main" id="{A9BAC184-C889-5C09-BD72-924F471C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47900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Required decision</a:t>
            </a:r>
          </a:p>
        </p:txBody>
      </p:sp>
      <p:sp>
        <p:nvSpPr>
          <p:cNvPr id="11" name="decision-table-cell-0-4">
            <a:extLst xmlns:a="http://schemas.openxmlformats.org/drawingml/2006/main">
              <a:ext uri="{FF2B5EF4-FFF2-40B4-BE49-F238E27FC236}">
                <a16:creationId xmlns:a16="http://schemas.microsoft.com/office/drawing/2014/main" id="{BC4CC0A3-83C4-51E1-A9CB-DFCCC6F1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2305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2" name="decision-table-text-0-4">
            <a:extLst xmlns:a="http://schemas.openxmlformats.org/drawingml/2006/main">
              <a:ext uri="{FF2B5EF4-FFF2-40B4-BE49-F238E27FC236}">
                <a16:creationId xmlns:a16="http://schemas.microsoft.com/office/drawing/2014/main" id="{1E2CB91A-AFDA-5EA1-8C32-4A5BD72E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479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13" name="decision-table-cell-1-0">
            <a:extLst xmlns:a="http://schemas.openxmlformats.org/drawingml/2006/main">
              <a:ext uri="{FF2B5EF4-FFF2-40B4-BE49-F238E27FC236}">
                <a16:creationId xmlns:a16="http://schemas.microsoft.com/office/drawing/2014/main" id="{F0DFC59D-84DC-5282-84FB-7D84E92B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4" name="decision-table-text-1-0">
            <a:extLst xmlns:a="http://schemas.openxmlformats.org/drawingml/2006/main">
              <a:ext uri="{FF2B5EF4-FFF2-40B4-BE49-F238E27FC236}">
                <a16:creationId xmlns:a16="http://schemas.microsoft.com/office/drawing/2014/main" id="{1CA7E23F-5A07-59C4-BBCD-C44ACC37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7051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Site 100</a:t>
            </a:r>
          </a:p>
        </p:txBody>
      </p:sp>
      <p:sp>
        <p:nvSpPr>
          <p:cNvPr id="15" name="decision-table-cell-1-1">
            <a:extLst xmlns:a="http://schemas.openxmlformats.org/drawingml/2006/main">
              <a:ext uri="{FF2B5EF4-FFF2-40B4-BE49-F238E27FC236}">
                <a16:creationId xmlns:a16="http://schemas.microsoft.com/office/drawing/2014/main" id="{B2E948F0-FB23-547C-9E9F-514070B3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6479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6" name="decision-table-text-1-1">
            <a:extLst xmlns:a="http://schemas.openxmlformats.org/drawingml/2006/main">
              <a:ext uri="{FF2B5EF4-FFF2-40B4-BE49-F238E27FC236}">
                <a16:creationId xmlns:a16="http://schemas.microsoft.com/office/drawing/2014/main" id="{70C832F1-A0C7-502A-9DCA-AC103DF2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7051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$7.1M output</a:t>
            </a:r>
          </a:p>
        </p:txBody>
      </p:sp>
      <p:sp>
        <p:nvSpPr>
          <p:cNvPr id="17" name="decision-table-cell-1-2">
            <a:extLst xmlns:a="http://schemas.openxmlformats.org/drawingml/2006/main">
              <a:ext uri="{FF2B5EF4-FFF2-40B4-BE49-F238E27FC236}">
                <a16:creationId xmlns:a16="http://schemas.microsoft.com/office/drawing/2014/main" id="{73F1D5C7-5B3B-5153-97C2-B2AD0A12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4795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8" name="decision-table-text-1-2">
            <a:extLst xmlns:a="http://schemas.openxmlformats.org/drawingml/2006/main">
              <a:ext uri="{FF2B5EF4-FFF2-40B4-BE49-F238E27FC236}">
                <a16:creationId xmlns:a16="http://schemas.microsoft.com/office/drawing/2014/main" id="{DB0FA651-01C1-5595-86DE-B2573AC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0510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$78K variance</a:t>
            </a:r>
          </a:p>
        </p:txBody>
      </p:sp>
      <p:sp>
        <p:nvSpPr>
          <p:cNvPr id="19" name="decision-table-cell-1-3">
            <a:extLst xmlns:a="http://schemas.openxmlformats.org/drawingml/2006/main">
              <a:ext uri="{FF2B5EF4-FFF2-40B4-BE49-F238E27FC236}">
                <a16:creationId xmlns:a16="http://schemas.microsoft.com/office/drawing/2014/main" id="{42EAE3A6-0A61-5441-92E0-9C31C514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479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0" name="decision-table-text-1-3">
            <a:extLst xmlns:a="http://schemas.openxmlformats.org/drawingml/2006/main">
              <a:ext uri="{FF2B5EF4-FFF2-40B4-BE49-F238E27FC236}">
                <a16:creationId xmlns:a16="http://schemas.microsoft.com/office/drawing/2014/main" id="{A31A5872-E2DB-53CC-ADF4-CFC4CEA6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051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Separate constraint, rate, usage, and scrap causes</a:t>
            </a:r>
          </a:p>
        </p:txBody>
      </p:sp>
      <p:sp>
        <p:nvSpPr>
          <p:cNvPr id="21" name="decision-table-cell-1-4">
            <a:extLst xmlns:a="http://schemas.openxmlformats.org/drawingml/2006/main">
              <a:ext uri="{FF2B5EF4-FFF2-40B4-BE49-F238E27FC236}">
                <a16:creationId xmlns:a16="http://schemas.microsoft.com/office/drawing/2014/main" id="{26DE5CD8-E94B-57E8-8724-05E1F276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479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2" name="decision-table-text-1-4">
            <a:extLst xmlns:a="http://schemas.openxmlformats.org/drawingml/2006/main">
              <a:ext uri="{FF2B5EF4-FFF2-40B4-BE49-F238E27FC236}">
                <a16:creationId xmlns:a16="http://schemas.microsoft.com/office/drawing/2014/main" id="{617838A7-A988-5E89-A457-235B1AB5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051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Plant 100 Controller</a:t>
            </a:r>
          </a:p>
        </p:txBody>
      </p:sp>
      <p:sp>
        <p:nvSpPr>
          <p:cNvPr id="23" name="decision-table-cell-2-0">
            <a:extLst xmlns:a="http://schemas.openxmlformats.org/drawingml/2006/main">
              <a:ext uri="{FF2B5EF4-FFF2-40B4-BE49-F238E27FC236}">
                <a16:creationId xmlns:a16="http://schemas.microsoft.com/office/drawing/2014/main" id="{22CEE95D-77A3-5872-973B-FCAEE74C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4" name="decision-table-text-2-0">
            <a:extLst xmlns:a="http://schemas.openxmlformats.org/drawingml/2006/main">
              <a:ext uri="{FF2B5EF4-FFF2-40B4-BE49-F238E27FC236}">
                <a16:creationId xmlns:a16="http://schemas.microsoft.com/office/drawing/2014/main" id="{12D0BC41-EB2E-5BC6-A89C-5C6197A2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2956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Site 200</a:t>
            </a:r>
          </a:p>
        </p:txBody>
      </p:sp>
      <p:sp>
        <p:nvSpPr>
          <p:cNvPr id="25" name="decision-table-cell-2-1">
            <a:extLst xmlns:a="http://schemas.openxmlformats.org/drawingml/2006/main">
              <a:ext uri="{FF2B5EF4-FFF2-40B4-BE49-F238E27FC236}">
                <a16:creationId xmlns:a16="http://schemas.microsoft.com/office/drawing/2014/main" id="{ABB54B61-B34B-5A42-8A8A-B9D631E7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2385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6" name="decision-table-text-2-1">
            <a:extLst xmlns:a="http://schemas.openxmlformats.org/drawingml/2006/main">
              <a:ext uri="{FF2B5EF4-FFF2-40B4-BE49-F238E27FC236}">
                <a16:creationId xmlns:a16="http://schemas.microsoft.com/office/drawing/2014/main" id="{0FB907A8-B6AD-529B-9145-CCAF4828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2956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$3.6M output</a:t>
            </a:r>
          </a:p>
        </p:txBody>
      </p:sp>
      <p:sp>
        <p:nvSpPr>
          <p:cNvPr id="27" name="decision-table-cell-2-2">
            <a:extLst xmlns:a="http://schemas.openxmlformats.org/drawingml/2006/main">
              <a:ext uri="{FF2B5EF4-FFF2-40B4-BE49-F238E27FC236}">
                <a16:creationId xmlns:a16="http://schemas.microsoft.com/office/drawing/2014/main" id="{11BE144E-3170-57A7-8BA6-39B1A05A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2385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8" name="decision-table-text-2-2">
            <a:extLst xmlns:a="http://schemas.openxmlformats.org/drawingml/2006/main">
              <a:ext uri="{FF2B5EF4-FFF2-40B4-BE49-F238E27FC236}">
                <a16:creationId xmlns:a16="http://schemas.microsoft.com/office/drawing/2014/main" id="{2D206934-2545-56DB-A38B-9E3F25E9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29565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-$28K variance</a:t>
            </a:r>
          </a:p>
        </p:txBody>
      </p:sp>
      <p:sp>
        <p:nvSpPr>
          <p:cNvPr id="29" name="decision-table-cell-2-3">
            <a:extLst xmlns:a="http://schemas.openxmlformats.org/drawingml/2006/main">
              <a:ext uri="{FF2B5EF4-FFF2-40B4-BE49-F238E27FC236}">
                <a16:creationId xmlns:a16="http://schemas.microsoft.com/office/drawing/2014/main" id="{95636586-0D2E-5832-AF1D-64E5BA24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385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0" name="decision-table-text-2-3">
            <a:extLst xmlns:a="http://schemas.openxmlformats.org/drawingml/2006/main">
              <a:ext uri="{FF2B5EF4-FFF2-40B4-BE49-F238E27FC236}">
                <a16:creationId xmlns:a16="http://schemas.microsoft.com/office/drawing/2014/main" id="{BDBABDFA-9F78-5F36-96DB-559DBD48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956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Separate constraint, rate, usage, and scrap causes</a:t>
            </a:r>
          </a:p>
        </p:txBody>
      </p:sp>
      <p:sp>
        <p:nvSpPr>
          <p:cNvPr id="31" name="decision-table-cell-2-4">
            <a:extLst xmlns:a="http://schemas.openxmlformats.org/drawingml/2006/main">
              <a:ext uri="{FF2B5EF4-FFF2-40B4-BE49-F238E27FC236}">
                <a16:creationId xmlns:a16="http://schemas.microsoft.com/office/drawing/2014/main" id="{9F579C72-ED1C-5245-849F-0864FAF9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2" name="decision-table-text-2-4">
            <a:extLst xmlns:a="http://schemas.openxmlformats.org/drawingml/2006/main">
              <a:ext uri="{FF2B5EF4-FFF2-40B4-BE49-F238E27FC236}">
                <a16:creationId xmlns:a16="http://schemas.microsoft.com/office/drawing/2014/main" id="{089D7536-A237-5D3F-A036-B65FB133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956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Plant 200 Controller</a:t>
            </a:r>
          </a:p>
        </p:txBody>
      </p:sp>
      <p:sp>
        <p:nvSpPr>
          <p:cNvPr id="33" name="decision-table-cell-3-0">
            <a:extLst xmlns:a="http://schemas.openxmlformats.org/drawingml/2006/main">
              <a:ext uri="{FF2B5EF4-FFF2-40B4-BE49-F238E27FC236}">
                <a16:creationId xmlns:a16="http://schemas.microsoft.com/office/drawing/2014/main" id="{3F9968F5-1241-5088-9DB6-8758365E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290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4" name="decision-table-text-3-0">
            <a:extLst xmlns:a="http://schemas.openxmlformats.org/drawingml/2006/main">
              <a:ext uri="{FF2B5EF4-FFF2-40B4-BE49-F238E27FC236}">
                <a16:creationId xmlns:a16="http://schemas.microsoft.com/office/drawing/2014/main" id="{C8C854C9-1D6F-54FA-9702-50AB3CD0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862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Site 300</a:t>
            </a:r>
          </a:p>
        </p:txBody>
      </p:sp>
      <p:sp>
        <p:nvSpPr>
          <p:cNvPr id="35" name="decision-table-cell-3-1">
            <a:extLst xmlns:a="http://schemas.openxmlformats.org/drawingml/2006/main">
              <a:ext uri="{FF2B5EF4-FFF2-40B4-BE49-F238E27FC236}">
                <a16:creationId xmlns:a16="http://schemas.microsoft.com/office/drawing/2014/main" id="{DD9A1E92-C8EB-5E19-AFEE-6C0210C9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8290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6" name="decision-table-text-3-1">
            <a:extLst xmlns:a="http://schemas.openxmlformats.org/drawingml/2006/main">
              <a:ext uri="{FF2B5EF4-FFF2-40B4-BE49-F238E27FC236}">
                <a16:creationId xmlns:a16="http://schemas.microsoft.com/office/drawing/2014/main" id="{7BCC4ECC-A55C-53A4-BA52-B76CE831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8862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$6.3M output</a:t>
            </a:r>
          </a:p>
        </p:txBody>
      </p:sp>
      <p:sp>
        <p:nvSpPr>
          <p:cNvPr id="37" name="decision-table-cell-3-2">
            <a:extLst xmlns:a="http://schemas.openxmlformats.org/drawingml/2006/main">
              <a:ext uri="{FF2B5EF4-FFF2-40B4-BE49-F238E27FC236}">
                <a16:creationId xmlns:a16="http://schemas.microsoft.com/office/drawing/2014/main" id="{9D91A58D-AC73-529F-8A3F-C7A36259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2905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8" name="decision-table-text-3-2">
            <a:extLst xmlns:a="http://schemas.openxmlformats.org/drawingml/2006/main">
              <a:ext uri="{FF2B5EF4-FFF2-40B4-BE49-F238E27FC236}">
                <a16:creationId xmlns:a16="http://schemas.microsoft.com/office/drawing/2014/main" id="{3704CAC4-499F-568B-A47E-FDC38BB8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88620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$99K variance</a:t>
            </a:r>
          </a:p>
        </p:txBody>
      </p:sp>
      <p:sp>
        <p:nvSpPr>
          <p:cNvPr id="39" name="decision-table-cell-3-3">
            <a:extLst xmlns:a="http://schemas.openxmlformats.org/drawingml/2006/main">
              <a:ext uri="{FF2B5EF4-FFF2-40B4-BE49-F238E27FC236}">
                <a16:creationId xmlns:a16="http://schemas.microsoft.com/office/drawing/2014/main" id="{A2760D45-2B40-5EC8-857C-D6B542C1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290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0" name="decision-table-text-3-3">
            <a:extLst xmlns:a="http://schemas.openxmlformats.org/drawingml/2006/main">
              <a:ext uri="{FF2B5EF4-FFF2-40B4-BE49-F238E27FC236}">
                <a16:creationId xmlns:a16="http://schemas.microsoft.com/office/drawing/2014/main" id="{CF7FC981-5784-51E9-B407-FBD18202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862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Separate constraint, rate, usage, and scrap causes</a:t>
            </a:r>
          </a:p>
        </p:txBody>
      </p:sp>
      <p:sp>
        <p:nvSpPr>
          <p:cNvPr id="41" name="decision-table-cell-3-4">
            <a:extLst xmlns:a="http://schemas.openxmlformats.org/drawingml/2006/main">
              <a:ext uri="{FF2B5EF4-FFF2-40B4-BE49-F238E27FC236}">
                <a16:creationId xmlns:a16="http://schemas.microsoft.com/office/drawing/2014/main" id="{0FBD262B-3E91-5B3D-B1BE-EFD37EA6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290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2" name="decision-table-text-3-4">
            <a:extLst xmlns:a="http://schemas.openxmlformats.org/drawingml/2006/main">
              <a:ext uri="{FF2B5EF4-FFF2-40B4-BE49-F238E27FC236}">
                <a16:creationId xmlns:a16="http://schemas.microsoft.com/office/drawing/2014/main" id="{9B305B3B-570D-5F8E-BF1C-CD660632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862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Plant 300 Controller</a:t>
            </a:r>
          </a:p>
        </p:txBody>
      </p:sp>
      <p:sp>
        <p:nvSpPr>
          <p:cNvPr id="43" name="decision-table-cell-4-0">
            <a:extLst xmlns:a="http://schemas.openxmlformats.org/drawingml/2006/main">
              <a:ext uri="{FF2B5EF4-FFF2-40B4-BE49-F238E27FC236}">
                <a16:creationId xmlns:a16="http://schemas.microsoft.com/office/drawing/2014/main" id="{C61B6A87-DA7C-52B9-B27C-A7752C27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196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4" name="decision-table-text-4-0">
            <a:extLst xmlns:a="http://schemas.openxmlformats.org/drawingml/2006/main">
              <a:ext uri="{FF2B5EF4-FFF2-40B4-BE49-F238E27FC236}">
                <a16:creationId xmlns:a16="http://schemas.microsoft.com/office/drawing/2014/main" id="{3BE10A06-5470-5EAC-9435-8C3E7BB3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767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Backlog</a:t>
            </a:r>
          </a:p>
        </p:txBody>
      </p:sp>
      <p:sp>
        <p:nvSpPr>
          <p:cNvPr id="45" name="decision-table-cell-4-1">
            <a:extLst xmlns:a="http://schemas.openxmlformats.org/drawingml/2006/main">
              <a:ext uri="{FF2B5EF4-FFF2-40B4-BE49-F238E27FC236}">
                <a16:creationId xmlns:a16="http://schemas.microsoft.com/office/drawing/2014/main" id="{1908E9C1-C37D-51AF-9382-EB3C0538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4196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6" name="decision-table-text-4-1">
            <a:extLst xmlns:a="http://schemas.openxmlformats.org/drawingml/2006/main">
              <a:ext uri="{FF2B5EF4-FFF2-40B4-BE49-F238E27FC236}">
                <a16:creationId xmlns:a16="http://schemas.microsoft.com/office/drawing/2014/main" id="{D45DCB4E-11A1-53A0-9D6C-2094EE02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4767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$65.6M</a:t>
            </a:r>
          </a:p>
        </p:txBody>
      </p:sp>
      <p:sp>
        <p:nvSpPr>
          <p:cNvPr id="47" name="decision-table-cell-4-2">
            <a:extLst xmlns:a="http://schemas.openxmlformats.org/drawingml/2006/main">
              <a:ext uri="{FF2B5EF4-FFF2-40B4-BE49-F238E27FC236}">
                <a16:creationId xmlns:a16="http://schemas.microsoft.com/office/drawing/2014/main" id="{C50642BA-40A8-5B58-A66A-6C32C17C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4196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8" name="decision-table-text-4-2">
            <a:extLst xmlns:a="http://schemas.openxmlformats.org/drawingml/2006/main">
              <a:ext uri="{FF2B5EF4-FFF2-40B4-BE49-F238E27FC236}">
                <a16:creationId xmlns:a16="http://schemas.microsoft.com/office/drawing/2014/main" id="{FBD743E9-20D9-52F2-B21E-91740524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47675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Promise date + constrained supply</a:t>
            </a:r>
          </a:p>
        </p:txBody>
      </p:sp>
      <p:sp>
        <p:nvSpPr>
          <p:cNvPr id="49" name="decision-table-cell-4-3">
            <a:extLst xmlns:a="http://schemas.openxmlformats.org/drawingml/2006/main">
              <a:ext uri="{FF2B5EF4-FFF2-40B4-BE49-F238E27FC236}">
                <a16:creationId xmlns:a16="http://schemas.microsoft.com/office/drawing/2014/main" id="{C0121DD8-9DA2-50AF-B1F8-E0F39FDB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196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0" name="decision-table-text-4-3">
            <a:extLst xmlns:a="http://schemas.openxmlformats.org/drawingml/2006/main">
              <a:ext uri="{FF2B5EF4-FFF2-40B4-BE49-F238E27FC236}">
                <a16:creationId xmlns:a16="http://schemas.microsoft.com/office/drawing/2014/main" id="{9446BCD6-1802-5558-81F5-5B385D8E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767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Sequence customer commitments and recovery actions</a:t>
            </a:r>
          </a:p>
        </p:txBody>
      </p:sp>
      <p:sp>
        <p:nvSpPr>
          <p:cNvPr id="51" name="decision-table-cell-4-4">
            <a:extLst xmlns:a="http://schemas.openxmlformats.org/drawingml/2006/main">
              <a:ext uri="{FF2B5EF4-FFF2-40B4-BE49-F238E27FC236}">
                <a16:creationId xmlns:a16="http://schemas.microsoft.com/office/drawing/2014/main" id="{6EA88652-5941-5499-BBFE-B9CA9AA5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1960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2" name="decision-table-text-4-4">
            <a:extLst xmlns:a="http://schemas.openxmlformats.org/drawingml/2006/main">
              <a:ext uri="{FF2B5EF4-FFF2-40B4-BE49-F238E27FC236}">
                <a16:creationId xmlns:a16="http://schemas.microsoft.com/office/drawing/2014/main" id="{724F0AE1-F794-55ED-9A78-333F70F5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767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Commercial Finance</a:t>
            </a:r>
          </a:p>
        </p:txBody>
      </p:sp>
      <p:sp>
        <p:nvSpPr>
          <p:cNvPr id="53" name="decision-table-cell-5-0">
            <a:extLst xmlns:a="http://schemas.openxmlformats.org/drawingml/2006/main">
              <a:ext uri="{FF2B5EF4-FFF2-40B4-BE49-F238E27FC236}">
                <a16:creationId xmlns:a16="http://schemas.microsoft.com/office/drawing/2014/main" id="{E42326D1-6D89-5A4F-8905-C00797FB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101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4" name="decision-table-text-5-0">
            <a:extLst xmlns:a="http://schemas.openxmlformats.org/drawingml/2006/main">
              <a:ext uri="{FF2B5EF4-FFF2-40B4-BE49-F238E27FC236}">
                <a16:creationId xmlns:a16="http://schemas.microsoft.com/office/drawing/2014/main" id="{3EF01868-8537-5B5F-AAE1-57690597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673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Liquidity</a:t>
            </a:r>
          </a:p>
        </p:txBody>
      </p:sp>
      <p:sp>
        <p:nvSpPr>
          <p:cNvPr id="55" name="decision-table-cell-5-1">
            <a:extLst xmlns:a="http://schemas.openxmlformats.org/drawingml/2006/main">
              <a:ext uri="{FF2B5EF4-FFF2-40B4-BE49-F238E27FC236}">
                <a16:creationId xmlns:a16="http://schemas.microsoft.com/office/drawing/2014/main" id="{C25CDD5A-B439-5E5C-BCE1-EBEF8438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0101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6" name="decision-table-text-5-1">
            <a:extLst xmlns:a="http://schemas.openxmlformats.org/drawingml/2006/main">
              <a:ext uri="{FF2B5EF4-FFF2-40B4-BE49-F238E27FC236}">
                <a16:creationId xmlns:a16="http://schemas.microsoft.com/office/drawing/2014/main" id="{686FB464-9BA4-55AA-95D2-42F5897C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0673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Cash + undrawn ABL</a:t>
            </a:r>
          </a:p>
        </p:txBody>
      </p:sp>
      <p:sp>
        <p:nvSpPr>
          <p:cNvPr id="57" name="decision-table-cell-5-2">
            <a:extLst xmlns:a="http://schemas.openxmlformats.org/drawingml/2006/main">
              <a:ext uri="{FF2B5EF4-FFF2-40B4-BE49-F238E27FC236}">
                <a16:creationId xmlns:a16="http://schemas.microsoft.com/office/drawing/2014/main" id="{3EC424CD-F810-5D4A-8916-4AD2956D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01015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8" name="decision-table-text-5-2">
            <a:extLst xmlns:a="http://schemas.openxmlformats.org/drawingml/2006/main">
              <a:ext uri="{FF2B5EF4-FFF2-40B4-BE49-F238E27FC236}">
                <a16:creationId xmlns:a16="http://schemas.microsoft.com/office/drawing/2014/main" id="{A8273C96-7883-5FCF-ABA3-58C8374E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06730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Payroll, suppliers, capex, interest</a:t>
            </a:r>
          </a:p>
        </p:txBody>
      </p:sp>
      <p:sp>
        <p:nvSpPr>
          <p:cNvPr id="59" name="decision-table-cell-5-3">
            <a:extLst xmlns:a="http://schemas.openxmlformats.org/drawingml/2006/main">
              <a:ext uri="{FF2B5EF4-FFF2-40B4-BE49-F238E27FC236}">
                <a16:creationId xmlns:a16="http://schemas.microsoft.com/office/drawing/2014/main" id="{B1785B04-B770-56FD-B478-FE647A54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0101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0" name="decision-table-text-5-3">
            <a:extLst xmlns:a="http://schemas.openxmlformats.org/drawingml/2006/main">
              <a:ext uri="{FF2B5EF4-FFF2-40B4-BE49-F238E27FC236}">
                <a16:creationId xmlns:a16="http://schemas.microsoft.com/office/drawing/2014/main" id="{5AC6F553-9561-5808-9D47-050D263F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0673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Gate discretionary cash uses against downside case</a:t>
            </a:r>
          </a:p>
        </p:txBody>
      </p:sp>
      <p:sp>
        <p:nvSpPr>
          <p:cNvPr id="61" name="decision-table-cell-5-4">
            <a:extLst xmlns:a="http://schemas.openxmlformats.org/drawingml/2006/main">
              <a:ext uri="{FF2B5EF4-FFF2-40B4-BE49-F238E27FC236}">
                <a16:creationId xmlns:a16="http://schemas.microsoft.com/office/drawing/2014/main" id="{63D3C4B4-747E-50CD-802D-E6179AF3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101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2" name="decision-table-text-5-4">
            <a:extLst xmlns:a="http://schemas.openxmlformats.org/drawingml/2006/main">
              <a:ext uri="{FF2B5EF4-FFF2-40B4-BE49-F238E27FC236}">
                <a16:creationId xmlns:a16="http://schemas.microsoft.com/office/drawing/2014/main" id="{A9CC44E7-51F7-5123-9BFC-3A8CB85F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673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Treasurer</a:t>
            </a:r>
          </a:p>
        </p:txBody>
      </p:sp>
      <p:sp>
        <p:nvSpPr>
          <p:cNvPr id="63" name="decision-table-cell-6-0">
            <a:extLst xmlns:a="http://schemas.openxmlformats.org/drawingml/2006/main">
              <a:ext uri="{FF2B5EF4-FFF2-40B4-BE49-F238E27FC236}">
                <a16:creationId xmlns:a16="http://schemas.microsoft.com/office/drawing/2014/main" id="{BD3F855D-29D8-55B7-9EE4-817E6E98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007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4" name="decision-table-text-6-0">
            <a:extLst xmlns:a="http://schemas.openxmlformats.org/drawingml/2006/main">
              <a:ext uri="{FF2B5EF4-FFF2-40B4-BE49-F238E27FC236}">
                <a16:creationId xmlns:a16="http://schemas.microsoft.com/office/drawing/2014/main" id="{7E9DD6D6-411F-51C5-9EE8-B8937893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578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June close</a:t>
            </a:r>
          </a:p>
        </p:txBody>
      </p:sp>
      <p:sp>
        <p:nvSpPr>
          <p:cNvPr id="65" name="decision-table-cell-6-1">
            <a:extLst xmlns:a="http://schemas.openxmlformats.org/drawingml/2006/main">
              <a:ext uri="{FF2B5EF4-FFF2-40B4-BE49-F238E27FC236}">
                <a16:creationId xmlns:a16="http://schemas.microsoft.com/office/drawing/2014/main" id="{87C7ADFD-4976-5EC7-9B87-2D2BC559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6007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6" name="decision-table-text-6-1">
            <a:extLst xmlns:a="http://schemas.openxmlformats.org/drawingml/2006/main">
              <a:ext uri="{FF2B5EF4-FFF2-40B4-BE49-F238E27FC236}">
                <a16:creationId xmlns:a16="http://schemas.microsoft.com/office/drawing/2014/main" id="{48545B48-006E-5879-8EB7-20D1ED7E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6578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Pre-close snapshot</a:t>
            </a:r>
          </a:p>
        </p:txBody>
      </p:sp>
      <p:sp>
        <p:nvSpPr>
          <p:cNvPr id="67" name="decision-table-cell-6-2">
            <a:extLst xmlns:a="http://schemas.openxmlformats.org/drawingml/2006/main">
              <a:ext uri="{FF2B5EF4-FFF2-40B4-BE49-F238E27FC236}">
                <a16:creationId xmlns:a16="http://schemas.microsoft.com/office/drawing/2014/main" id="{2F4DF50A-525A-5516-B914-3E316946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6007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8" name="decision-table-text-6-2">
            <a:extLst xmlns:a="http://schemas.openxmlformats.org/drawingml/2006/main">
              <a:ext uri="{FF2B5EF4-FFF2-40B4-BE49-F238E27FC236}">
                <a16:creationId xmlns:a16="http://schemas.microsoft.com/office/drawing/2014/main" id="{EDF07638-81A1-5ED0-88B2-C54CE676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65785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Control-account reconciliation</a:t>
            </a:r>
          </a:p>
        </p:txBody>
      </p:sp>
      <p:sp>
        <p:nvSpPr>
          <p:cNvPr id="69" name="decision-table-cell-6-3">
            <a:extLst xmlns:a="http://schemas.openxmlformats.org/drawingml/2006/main">
              <a:ext uri="{FF2B5EF4-FFF2-40B4-BE49-F238E27FC236}">
                <a16:creationId xmlns:a16="http://schemas.microsoft.com/office/drawing/2014/main" id="{F661D376-174B-5022-838E-8F0DBAED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007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70" name="decision-table-text-6-3">
            <a:extLst xmlns:a="http://schemas.openxmlformats.org/drawingml/2006/main">
              <a:ext uri="{FF2B5EF4-FFF2-40B4-BE49-F238E27FC236}">
                <a16:creationId xmlns:a16="http://schemas.microsoft.com/office/drawing/2014/main" id="{3F551644-2CA5-519F-BB46-38247CCD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6578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Resolve exceptions before period lock</a:t>
            </a:r>
          </a:p>
        </p:txBody>
      </p:sp>
      <p:sp>
        <p:nvSpPr>
          <p:cNvPr id="71" name="decision-table-cell-6-4">
            <a:extLst xmlns:a="http://schemas.openxmlformats.org/drawingml/2006/main">
              <a:ext uri="{FF2B5EF4-FFF2-40B4-BE49-F238E27FC236}">
                <a16:creationId xmlns:a16="http://schemas.microsoft.com/office/drawing/2014/main" id="{93122520-0275-52B9-B7AB-ADE1922B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0070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72" name="decision-table-text-6-4">
            <a:extLst xmlns:a="http://schemas.openxmlformats.org/drawingml/2006/main">
              <a:ext uri="{FF2B5EF4-FFF2-40B4-BE49-F238E27FC236}">
                <a16:creationId xmlns:a16="http://schemas.microsoft.com/office/drawing/2014/main" id="{F9DBC981-2B09-534D-9B01-03269E61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6578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Corporate Controller</a:t>
            </a:r>
          </a:p>
        </p:txBody>
      </p:sp>
      <p:sp>
        <p:nvSpPr>
          <p:cNvPr id="73" name="brand-wordmark-4">
            <a:extLst xmlns:a="http://schemas.openxmlformats.org/drawingml/2006/main">
              <a:ext uri="{FF2B5EF4-FFF2-40B4-BE49-F238E27FC236}">
                <a16:creationId xmlns:a16="http://schemas.microsoft.com/office/drawing/2014/main" id="{040E017B-EC67-500F-8DB0-0A14F68C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MONTHLY OPERATING REVIEW</a:t>
            </a:r>
          </a:p>
        </p:txBody>
      </p:sp>
      <p:sp>
        <p:nvSpPr>
          <p:cNvPr id="74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E5434B63-5489-5EA4-BCCA-E07907E9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86627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2026-06-30T23:59:59Z</dcterms:created>
  <dcterms:modified xsi:type="dcterms:W3CDTF">2026-06-30T23:59:59Z</dcterms:modified>
</coreProperties>
</file>