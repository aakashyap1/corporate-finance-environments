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8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  <p:sldId xmlns:r="http://schemas.openxmlformats.org/officeDocument/2006/relationships" id="260" r:id="rI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0" /><Relationship Type="http://schemas.openxmlformats.org/officeDocument/2006/relationships/slideMaster" Target="/ppt/slideMasters/slideMaster1.xml" Id="rId8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9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5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2026 Pre-Close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1–30,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June 1–30,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1–30,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$1.5M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$5.2M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$689K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$2.9M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$222K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$4.8M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$584K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pi-package-title">
            <a:extLst xmlns:a="http://schemas.openxmlformats.org/drawingml/2006/main">
              <a:ext uri="{FF2B5EF4-FFF2-40B4-BE49-F238E27FC236}">
                <a16:creationId xmlns:a16="http://schemas.microsoft.com/office/drawing/2014/main" id="{E3368C87-FEC9-5114-902C-2BB06052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Board and lender KPI schedule</a:t>
            </a:r>
          </a:p>
        </p:txBody>
      </p:sp>
      <p:sp>
        <p:nvSpPr>
          <p:cNvPr id="2" name="kpi-package-context">
            <a:extLst xmlns:a="http://schemas.openxmlformats.org/drawingml/2006/main">
              <a:ext uri="{FF2B5EF4-FFF2-40B4-BE49-F238E27FC236}">
                <a16:creationId xmlns:a16="http://schemas.microsoft.com/office/drawing/2014/main" id="{3E5E4E31-21BE-5034-8BDA-C955516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These eight management-reporting values form the comparison schedule. Reconcile each KPI to the named ERP module before external use.</a:t>
            </a:r>
          </a:p>
        </p:txBody>
      </p:sp>
      <p:sp>
        <p:nvSpPr>
          <p:cNvPr id="3" name="kpi-package-box-0-0">
            <a:extLst xmlns:a="http://schemas.openxmlformats.org/drawingml/2006/main">
              <a:ext uri="{FF2B5EF4-FFF2-40B4-BE49-F238E27FC236}">
                <a16:creationId xmlns:a16="http://schemas.microsoft.com/office/drawing/2014/main" id="{27E4DE05-4EAF-5980-94DD-85B00470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228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kpi-package-cell-0-0">
            <a:extLst xmlns:a="http://schemas.openxmlformats.org/drawingml/2006/main">
              <a:ext uri="{FF2B5EF4-FFF2-40B4-BE49-F238E27FC236}">
                <a16:creationId xmlns:a16="http://schemas.microsoft.com/office/drawing/2014/main" id="{72780C4A-977A-5C10-8CC5-700FA8F7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838325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5" name="kpi-package-box-0-1">
            <a:extLst xmlns:a="http://schemas.openxmlformats.org/drawingml/2006/main">
              <a:ext uri="{FF2B5EF4-FFF2-40B4-BE49-F238E27FC236}">
                <a16:creationId xmlns:a16="http://schemas.microsoft.com/office/drawing/2014/main" id="{2D24EF24-4453-5450-B89B-86AA04C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90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kpi-package-cell-0-1">
            <a:extLst xmlns:a="http://schemas.openxmlformats.org/drawingml/2006/main">
              <a:ext uri="{FF2B5EF4-FFF2-40B4-BE49-F238E27FC236}">
                <a16:creationId xmlns:a16="http://schemas.microsoft.com/office/drawing/2014/main" id="{316DD0EB-7BB1-5728-B3CB-3568CAB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383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 value</a:t>
            </a:r>
          </a:p>
        </p:txBody>
      </p:sp>
      <p:sp>
        <p:nvSpPr>
          <p:cNvPr id="7" name="kpi-package-box-0-2">
            <a:extLst xmlns:a="http://schemas.openxmlformats.org/drawingml/2006/main">
              <a:ext uri="{FF2B5EF4-FFF2-40B4-BE49-F238E27FC236}">
                <a16:creationId xmlns:a16="http://schemas.microsoft.com/office/drawing/2014/main" id="{63CF0EB3-9655-51E8-A190-7B3A03E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907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kpi-package-cell-0-2">
            <a:extLst xmlns:a="http://schemas.openxmlformats.org/drawingml/2006/main">
              <a:ext uri="{FF2B5EF4-FFF2-40B4-BE49-F238E27FC236}">
                <a16:creationId xmlns:a16="http://schemas.microsoft.com/office/drawing/2014/main" id="{6460BD30-7629-551F-97A7-1A6FB869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383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 start</a:t>
            </a:r>
          </a:p>
        </p:txBody>
      </p:sp>
      <p:sp>
        <p:nvSpPr>
          <p:cNvPr id="9" name="kpi-package-box-0-3">
            <a:extLst xmlns:a="http://schemas.openxmlformats.org/drawingml/2006/main">
              <a:ext uri="{FF2B5EF4-FFF2-40B4-BE49-F238E27FC236}">
                <a16:creationId xmlns:a16="http://schemas.microsoft.com/office/drawing/2014/main" id="{922EA212-CC84-5472-B235-A071BEF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kpi-package-cell-0-3">
            <a:extLst xmlns:a="http://schemas.openxmlformats.org/drawingml/2006/main">
              <a:ext uri="{FF2B5EF4-FFF2-40B4-BE49-F238E27FC236}">
                <a16:creationId xmlns:a16="http://schemas.microsoft.com/office/drawing/2014/main" id="{A8AFD745-A22A-5BA8-A928-8638B15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383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 end</a:t>
            </a:r>
          </a:p>
        </p:txBody>
      </p:sp>
      <p:sp>
        <p:nvSpPr>
          <p:cNvPr id="11" name="kpi-package-box-0-4">
            <a:extLst xmlns:a="http://schemas.openxmlformats.org/drawingml/2006/main">
              <a:ext uri="{FF2B5EF4-FFF2-40B4-BE49-F238E27FC236}">
                <a16:creationId xmlns:a16="http://schemas.microsoft.com/office/drawing/2014/main" id="{3B675F94-9B93-552C-8A28-5D5AA342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9070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kpi-package-cell-0-4">
            <a:extLst xmlns:a="http://schemas.openxmlformats.org/drawingml/2006/main">
              <a:ext uri="{FF2B5EF4-FFF2-40B4-BE49-F238E27FC236}">
                <a16:creationId xmlns:a16="http://schemas.microsoft.com/office/drawing/2014/main" id="{6B209B85-0C85-5719-8249-9B9CF3C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3832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3" name="kpi-package-box-1-0">
            <a:extLst xmlns:a="http://schemas.openxmlformats.org/drawingml/2006/main">
              <a:ext uri="{FF2B5EF4-FFF2-40B4-BE49-F238E27FC236}">
                <a16:creationId xmlns:a16="http://schemas.microsoft.com/office/drawing/2014/main" id="{D1C9724D-D4AD-536A-8806-02098F0C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193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kpi-package-cell-1-0">
            <a:extLst xmlns:a="http://schemas.openxmlformats.org/drawingml/2006/main">
              <a:ext uri="{FF2B5EF4-FFF2-40B4-BE49-F238E27FC236}">
                <a16:creationId xmlns:a16="http://schemas.microsoft.com/office/drawing/2014/main" id="{FF6C9AE3-9514-5C22-A539-1D2E7F4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66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15" name="kpi-package-box-1-1">
            <a:extLst xmlns:a="http://schemas.openxmlformats.org/drawingml/2006/main">
              <a:ext uri="{FF2B5EF4-FFF2-40B4-BE49-F238E27FC236}">
                <a16:creationId xmlns:a16="http://schemas.microsoft.com/office/drawing/2014/main" id="{155742CA-DEB6-57E6-B1D1-DE7AA47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193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kpi-package-cell-1-1">
            <a:extLst xmlns:a="http://schemas.openxmlformats.org/drawingml/2006/main">
              <a:ext uri="{FF2B5EF4-FFF2-40B4-BE49-F238E27FC236}">
                <a16:creationId xmlns:a16="http://schemas.microsoft.com/office/drawing/2014/main" id="{00CA6767-7FDF-5245-883C-539CECB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669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$136,460,250.41</a:t>
            </a:r>
          </a:p>
        </p:txBody>
      </p:sp>
      <p:sp>
        <p:nvSpPr>
          <p:cNvPr id="17" name="kpi-package-box-1-2">
            <a:extLst xmlns:a="http://schemas.openxmlformats.org/drawingml/2006/main">
              <a:ext uri="{FF2B5EF4-FFF2-40B4-BE49-F238E27FC236}">
                <a16:creationId xmlns:a16="http://schemas.microsoft.com/office/drawing/2014/main" id="{F0ABF3A1-31CF-54C3-8AA6-C63890AA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193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kpi-package-cell-1-2">
            <a:extLst xmlns:a="http://schemas.openxmlformats.org/drawingml/2006/main">
              <a:ext uri="{FF2B5EF4-FFF2-40B4-BE49-F238E27FC236}">
                <a16:creationId xmlns:a16="http://schemas.microsoft.com/office/drawing/2014/main" id="{D6132A31-CF8E-55A6-A64B-C1B76D2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669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19" name="kpi-package-box-1-3">
            <a:extLst xmlns:a="http://schemas.openxmlformats.org/drawingml/2006/main">
              <a:ext uri="{FF2B5EF4-FFF2-40B4-BE49-F238E27FC236}">
                <a16:creationId xmlns:a16="http://schemas.microsoft.com/office/drawing/2014/main" id="{4E6BDDA1-6A78-50A8-B06D-29748C27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193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kpi-package-cell-1-3">
            <a:extLst xmlns:a="http://schemas.openxmlformats.org/drawingml/2006/main">
              <a:ext uri="{FF2B5EF4-FFF2-40B4-BE49-F238E27FC236}">
                <a16:creationId xmlns:a16="http://schemas.microsoft.com/office/drawing/2014/main" id="{AF8AC640-D0F3-50BF-B721-FA216ED3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669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21" name="kpi-package-box-1-4">
            <a:extLst xmlns:a="http://schemas.openxmlformats.org/drawingml/2006/main">
              <a:ext uri="{FF2B5EF4-FFF2-40B4-BE49-F238E27FC236}">
                <a16:creationId xmlns:a16="http://schemas.microsoft.com/office/drawing/2014/main" id="{7A01A19A-9902-521F-87CD-7B10828A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193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kpi-package-cell-1-4">
            <a:extLst xmlns:a="http://schemas.openxmlformats.org/drawingml/2006/main">
              <a:ext uri="{FF2B5EF4-FFF2-40B4-BE49-F238E27FC236}">
                <a16:creationId xmlns:a16="http://schemas.microsoft.com/office/drawing/2014/main" id="{3F1BFB6A-202C-5C7A-B6A5-E0BA960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66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23" name="kpi-package-box-2-0">
            <a:extLst xmlns:a="http://schemas.openxmlformats.org/drawingml/2006/main">
              <a:ext uri="{FF2B5EF4-FFF2-40B4-BE49-F238E27FC236}">
                <a16:creationId xmlns:a16="http://schemas.microsoft.com/office/drawing/2014/main" id="{AB573B41-6A1C-5D70-A6A9-2C22B15C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765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kpi-package-cell-2-0">
            <a:extLst xmlns:a="http://schemas.openxmlformats.org/drawingml/2006/main">
              <a:ext uri="{FF2B5EF4-FFF2-40B4-BE49-F238E27FC236}">
                <a16:creationId xmlns:a16="http://schemas.microsoft.com/office/drawing/2014/main" id="{833DF2ED-3E97-5511-8B1D-29FCCF2B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gross profit</a:t>
            </a:r>
          </a:p>
        </p:txBody>
      </p:sp>
      <p:sp>
        <p:nvSpPr>
          <p:cNvPr id="25" name="kpi-package-box-2-1">
            <a:extLst xmlns:a="http://schemas.openxmlformats.org/drawingml/2006/main">
              <a:ext uri="{FF2B5EF4-FFF2-40B4-BE49-F238E27FC236}">
                <a16:creationId xmlns:a16="http://schemas.microsoft.com/office/drawing/2014/main" id="{FC9ADCDA-BDE8-57B0-8C9E-60F43B92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6765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kpi-package-cell-2-1">
            <a:extLst xmlns:a="http://schemas.openxmlformats.org/drawingml/2006/main">
              <a:ext uri="{FF2B5EF4-FFF2-40B4-BE49-F238E27FC236}">
                <a16:creationId xmlns:a16="http://schemas.microsoft.com/office/drawing/2014/main" id="{6FC4FA90-7968-5EB9-80E6-DD8F94A5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24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$42,361,634.37</a:t>
            </a:r>
          </a:p>
        </p:txBody>
      </p:sp>
      <p:sp>
        <p:nvSpPr>
          <p:cNvPr id="27" name="kpi-package-box-2-2">
            <a:extLst xmlns:a="http://schemas.openxmlformats.org/drawingml/2006/main">
              <a:ext uri="{FF2B5EF4-FFF2-40B4-BE49-F238E27FC236}">
                <a16:creationId xmlns:a16="http://schemas.microsoft.com/office/drawing/2014/main" id="{AF2CF8ED-49FC-5FB9-8148-52E49F42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765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kpi-package-cell-2-2">
            <a:extLst xmlns:a="http://schemas.openxmlformats.org/drawingml/2006/main">
              <a:ext uri="{FF2B5EF4-FFF2-40B4-BE49-F238E27FC236}">
                <a16:creationId xmlns:a16="http://schemas.microsoft.com/office/drawing/2014/main" id="{597B2767-69C4-5576-8684-60B2745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29" name="kpi-package-box-2-3">
            <a:extLst xmlns:a="http://schemas.openxmlformats.org/drawingml/2006/main">
              <a:ext uri="{FF2B5EF4-FFF2-40B4-BE49-F238E27FC236}">
                <a16:creationId xmlns:a16="http://schemas.microsoft.com/office/drawing/2014/main" id="{608D7950-85C6-5C36-ACB9-B1638117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765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kpi-package-cell-2-3">
            <a:extLst xmlns:a="http://schemas.openxmlformats.org/drawingml/2006/main">
              <a:ext uri="{FF2B5EF4-FFF2-40B4-BE49-F238E27FC236}">
                <a16:creationId xmlns:a16="http://schemas.microsoft.com/office/drawing/2014/main" id="{E197D0B9-5D62-5B65-9F1B-01B823DC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31" name="kpi-package-box-2-4">
            <a:extLst xmlns:a="http://schemas.openxmlformats.org/drawingml/2006/main">
              <a:ext uri="{FF2B5EF4-FFF2-40B4-BE49-F238E27FC236}">
                <a16:creationId xmlns:a16="http://schemas.microsoft.com/office/drawing/2014/main" id="{B2430779-FE97-59DA-B33D-50FBB36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765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kpi-package-cell-2-4">
            <a:extLst xmlns:a="http://schemas.openxmlformats.org/drawingml/2006/main">
              <a:ext uri="{FF2B5EF4-FFF2-40B4-BE49-F238E27FC236}">
                <a16:creationId xmlns:a16="http://schemas.microsoft.com/office/drawing/2014/main" id="{AE79A296-7C82-574A-B72A-E7A589B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241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33" name="kpi-package-box-3-0">
            <a:extLst xmlns:a="http://schemas.openxmlformats.org/drawingml/2006/main">
              <a:ext uri="{FF2B5EF4-FFF2-40B4-BE49-F238E27FC236}">
                <a16:creationId xmlns:a16="http://schemas.microsoft.com/office/drawing/2014/main" id="{C50A6DA3-BC1F-55A5-A67D-87F99A0B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337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kpi-package-cell-3-0">
            <a:extLst xmlns:a="http://schemas.openxmlformats.org/drawingml/2006/main">
              <a:ext uri="{FF2B5EF4-FFF2-40B4-BE49-F238E27FC236}">
                <a16:creationId xmlns:a16="http://schemas.microsoft.com/office/drawing/2014/main" id="{EBF40542-FEA8-5768-80E5-7828FCF5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813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operating income</a:t>
            </a:r>
          </a:p>
        </p:txBody>
      </p:sp>
      <p:sp>
        <p:nvSpPr>
          <p:cNvPr id="35" name="kpi-package-box-3-1">
            <a:extLst xmlns:a="http://schemas.openxmlformats.org/drawingml/2006/main">
              <a:ext uri="{FF2B5EF4-FFF2-40B4-BE49-F238E27FC236}">
                <a16:creationId xmlns:a16="http://schemas.microsoft.com/office/drawing/2014/main" id="{65B129A7-31DC-57D9-90B5-1198CF0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337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kpi-package-cell-3-1">
            <a:extLst xmlns:a="http://schemas.openxmlformats.org/drawingml/2006/main">
              <a:ext uri="{FF2B5EF4-FFF2-40B4-BE49-F238E27FC236}">
                <a16:creationId xmlns:a16="http://schemas.microsoft.com/office/drawing/2014/main" id="{74840E4D-A42A-5295-A46C-A239179D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813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-$4,709,771.48</a:t>
            </a:r>
          </a:p>
        </p:txBody>
      </p:sp>
      <p:sp>
        <p:nvSpPr>
          <p:cNvPr id="37" name="kpi-package-box-3-2">
            <a:extLst xmlns:a="http://schemas.openxmlformats.org/drawingml/2006/main">
              <a:ext uri="{FF2B5EF4-FFF2-40B4-BE49-F238E27FC236}">
                <a16:creationId xmlns:a16="http://schemas.microsoft.com/office/drawing/2014/main" id="{23B60CB5-D87A-5219-A7FF-DBFA7B2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337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kpi-package-cell-3-2">
            <a:extLst xmlns:a="http://schemas.openxmlformats.org/drawingml/2006/main">
              <a:ext uri="{FF2B5EF4-FFF2-40B4-BE49-F238E27FC236}">
                <a16:creationId xmlns:a16="http://schemas.microsoft.com/office/drawing/2014/main" id="{29753E87-91D9-5E0E-A0A7-6084747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813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39" name="kpi-package-box-3-3">
            <a:extLst xmlns:a="http://schemas.openxmlformats.org/drawingml/2006/main">
              <a:ext uri="{FF2B5EF4-FFF2-40B4-BE49-F238E27FC236}">
                <a16:creationId xmlns:a16="http://schemas.microsoft.com/office/drawing/2014/main" id="{C25A6B33-E5FC-5626-A5D7-6BFC282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337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kpi-package-cell-3-3">
            <a:extLst xmlns:a="http://schemas.openxmlformats.org/drawingml/2006/main">
              <a:ext uri="{FF2B5EF4-FFF2-40B4-BE49-F238E27FC236}">
                <a16:creationId xmlns:a16="http://schemas.microsoft.com/office/drawing/2014/main" id="{491E5BD3-CE71-52F3-B5E2-F49C310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813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41" name="kpi-package-box-3-4">
            <a:extLst xmlns:a="http://schemas.openxmlformats.org/drawingml/2006/main">
              <a:ext uri="{FF2B5EF4-FFF2-40B4-BE49-F238E27FC236}">
                <a16:creationId xmlns:a16="http://schemas.microsoft.com/office/drawing/2014/main" id="{C59F7415-4960-5B6B-9AFC-C2888AD4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kpi-package-cell-3-4">
            <a:extLst xmlns:a="http://schemas.openxmlformats.org/drawingml/2006/main">
              <a:ext uri="{FF2B5EF4-FFF2-40B4-BE49-F238E27FC236}">
                <a16:creationId xmlns:a16="http://schemas.microsoft.com/office/drawing/2014/main" id="{20AF57F8-B201-505B-AE23-DD1DC3D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813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43" name="kpi-package-box-4-0">
            <a:extLst xmlns:a="http://schemas.openxmlformats.org/drawingml/2006/main">
              <a:ext uri="{FF2B5EF4-FFF2-40B4-BE49-F238E27FC236}">
                <a16:creationId xmlns:a16="http://schemas.microsoft.com/office/drawing/2014/main" id="{090F2FF6-88DF-5E46-A49A-1F6EDBE9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909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kpi-package-cell-4-0">
            <a:extLst xmlns:a="http://schemas.openxmlformats.org/drawingml/2006/main">
              <a:ext uri="{FF2B5EF4-FFF2-40B4-BE49-F238E27FC236}">
                <a16:creationId xmlns:a16="http://schemas.microsoft.com/office/drawing/2014/main" id="{779B79EA-D6A4-5036-87BE-F774693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385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45" name="kpi-package-box-4-1">
            <a:extLst xmlns:a="http://schemas.openxmlformats.org/drawingml/2006/main">
              <a:ext uri="{FF2B5EF4-FFF2-40B4-BE49-F238E27FC236}">
                <a16:creationId xmlns:a16="http://schemas.microsoft.com/office/drawing/2014/main" id="{BA39C67D-6AED-58C1-AB83-4C91D5D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909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kpi-package-cell-4-1">
            <a:extLst xmlns:a="http://schemas.openxmlformats.org/drawingml/2006/main">
              <a:ext uri="{FF2B5EF4-FFF2-40B4-BE49-F238E27FC236}">
                <a16:creationId xmlns:a16="http://schemas.microsoft.com/office/drawing/2014/main" id="{08BECA88-E40E-50F3-9D00-A80E519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385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$123,556,476.76</a:t>
            </a:r>
          </a:p>
        </p:txBody>
      </p:sp>
      <p:sp>
        <p:nvSpPr>
          <p:cNvPr id="47" name="kpi-package-box-4-2">
            <a:extLst xmlns:a="http://schemas.openxmlformats.org/drawingml/2006/main">
              <a:ext uri="{FF2B5EF4-FFF2-40B4-BE49-F238E27FC236}">
                <a16:creationId xmlns:a16="http://schemas.microsoft.com/office/drawing/2014/main" id="{5FFB3D2B-601A-5DEB-B8ED-D1F526A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909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kpi-package-cell-4-2">
            <a:extLst xmlns:a="http://schemas.openxmlformats.org/drawingml/2006/main">
              <a:ext uri="{FF2B5EF4-FFF2-40B4-BE49-F238E27FC236}">
                <a16:creationId xmlns:a16="http://schemas.microsoft.com/office/drawing/2014/main" id="{90A3D1E3-138D-5AFE-842B-8A8CDDFB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6385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49" name="kpi-package-box-4-3">
            <a:extLst xmlns:a="http://schemas.openxmlformats.org/drawingml/2006/main">
              <a:ext uri="{FF2B5EF4-FFF2-40B4-BE49-F238E27FC236}">
                <a16:creationId xmlns:a16="http://schemas.microsoft.com/office/drawing/2014/main" id="{89A2D694-8B71-5615-A46C-534897C2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909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kpi-package-cell-4-3">
            <a:extLst xmlns:a="http://schemas.openxmlformats.org/drawingml/2006/main">
              <a:ext uri="{FF2B5EF4-FFF2-40B4-BE49-F238E27FC236}">
                <a16:creationId xmlns:a16="http://schemas.microsoft.com/office/drawing/2014/main" id="{3D53AC04-B092-5FA8-AA21-06CDA91D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385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51" name="kpi-package-box-4-4">
            <a:extLst xmlns:a="http://schemas.openxmlformats.org/drawingml/2006/main">
              <a:ext uri="{FF2B5EF4-FFF2-40B4-BE49-F238E27FC236}">
                <a16:creationId xmlns:a16="http://schemas.microsoft.com/office/drawing/2014/main" id="{5E3F595E-43CC-548E-8F9D-839A964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909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kpi-package-cell-4-4">
            <a:extLst xmlns:a="http://schemas.openxmlformats.org/drawingml/2006/main">
              <a:ext uri="{FF2B5EF4-FFF2-40B4-BE49-F238E27FC236}">
                <a16:creationId xmlns:a16="http://schemas.microsoft.com/office/drawing/2014/main" id="{82B758C3-2CF3-5F83-9A23-DA889362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385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53" name="kpi-package-box-5-0">
            <a:extLst xmlns:a="http://schemas.openxmlformats.org/drawingml/2006/main">
              <a:ext uri="{FF2B5EF4-FFF2-40B4-BE49-F238E27FC236}">
                <a16:creationId xmlns:a16="http://schemas.microsoft.com/office/drawing/2014/main" id="{39EBC1D9-E76D-5111-A744-1B9F162D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kpi-package-cell-5-0">
            <a:extLst xmlns:a="http://schemas.openxmlformats.org/drawingml/2006/main">
              <a:ext uri="{FF2B5EF4-FFF2-40B4-BE49-F238E27FC236}">
                <a16:creationId xmlns:a16="http://schemas.microsoft.com/office/drawing/2014/main" id="{B2920E6F-3917-5BB3-9F8E-AFD86D9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wip</a:t>
            </a:r>
          </a:p>
        </p:txBody>
      </p:sp>
      <p:sp>
        <p:nvSpPr>
          <p:cNvPr id="55" name="kpi-package-box-5-1">
            <a:extLst xmlns:a="http://schemas.openxmlformats.org/drawingml/2006/main">
              <a:ext uri="{FF2B5EF4-FFF2-40B4-BE49-F238E27FC236}">
                <a16:creationId xmlns:a16="http://schemas.microsoft.com/office/drawing/2014/main" id="{BFDA22F8-E7D3-5421-AAA8-4B1AD78C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481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kpi-package-cell-5-1">
            <a:extLst xmlns:a="http://schemas.openxmlformats.org/drawingml/2006/main">
              <a:ext uri="{FF2B5EF4-FFF2-40B4-BE49-F238E27FC236}">
                <a16:creationId xmlns:a16="http://schemas.microsoft.com/office/drawing/2014/main" id="{4506177B-E060-5E80-AE43-E5E7529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957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$1,427,018.35</a:t>
            </a:r>
          </a:p>
        </p:txBody>
      </p:sp>
      <p:sp>
        <p:nvSpPr>
          <p:cNvPr id="57" name="kpi-package-box-5-2">
            <a:extLst xmlns:a="http://schemas.openxmlformats.org/drawingml/2006/main">
              <a:ext uri="{FF2B5EF4-FFF2-40B4-BE49-F238E27FC236}">
                <a16:creationId xmlns:a16="http://schemas.microsoft.com/office/drawing/2014/main" id="{0E5F7668-5507-5942-A829-7FA8AD4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481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kpi-package-cell-5-2">
            <a:extLst xmlns:a="http://schemas.openxmlformats.org/drawingml/2006/main">
              <a:ext uri="{FF2B5EF4-FFF2-40B4-BE49-F238E27FC236}">
                <a16:creationId xmlns:a16="http://schemas.microsoft.com/office/drawing/2014/main" id="{D7A47F6F-11D4-5389-B5C3-E7E5F4CC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95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59" name="kpi-package-box-5-3">
            <a:extLst xmlns:a="http://schemas.openxmlformats.org/drawingml/2006/main">
              <a:ext uri="{FF2B5EF4-FFF2-40B4-BE49-F238E27FC236}">
                <a16:creationId xmlns:a16="http://schemas.microsoft.com/office/drawing/2014/main" id="{1BF6EEE7-ADDA-55D5-A26F-E734D5D3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481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kpi-package-cell-5-3">
            <a:extLst xmlns:a="http://schemas.openxmlformats.org/drawingml/2006/main">
              <a:ext uri="{FF2B5EF4-FFF2-40B4-BE49-F238E27FC236}">
                <a16:creationId xmlns:a16="http://schemas.microsoft.com/office/drawing/2014/main" id="{B57A3D8C-1202-5237-BAB2-A8D1436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95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61" name="kpi-package-box-5-4">
            <a:extLst xmlns:a="http://schemas.openxmlformats.org/drawingml/2006/main">
              <a:ext uri="{FF2B5EF4-FFF2-40B4-BE49-F238E27FC236}">
                <a16:creationId xmlns:a16="http://schemas.microsoft.com/office/drawing/2014/main" id="{89FED47C-7C8A-5608-88B7-089F8428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481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kpi-package-cell-5-4">
            <a:extLst xmlns:a="http://schemas.openxmlformats.org/drawingml/2006/main">
              <a:ext uri="{FF2B5EF4-FFF2-40B4-BE49-F238E27FC236}">
                <a16:creationId xmlns:a16="http://schemas.microsoft.com/office/drawing/2014/main" id="{2A11AA48-DA25-5E6F-994C-A7369F08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0957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63" name="kpi-package-box-6-0">
            <a:extLst xmlns:a="http://schemas.openxmlformats.org/drawingml/2006/main">
              <a:ext uri="{FF2B5EF4-FFF2-40B4-BE49-F238E27FC236}">
                <a16:creationId xmlns:a16="http://schemas.microsoft.com/office/drawing/2014/main" id="{F7D4D40D-6E35-5C03-8A19-DE9FC975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053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kpi-package-cell-6-0">
            <a:extLst xmlns:a="http://schemas.openxmlformats.org/drawingml/2006/main">
              <a:ext uri="{FF2B5EF4-FFF2-40B4-BE49-F238E27FC236}">
                <a16:creationId xmlns:a16="http://schemas.microsoft.com/office/drawing/2014/main" id="{52F0891A-9268-508A-985C-F551C21A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52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65" name="kpi-package-box-6-1">
            <a:extLst xmlns:a="http://schemas.openxmlformats.org/drawingml/2006/main">
              <a:ext uri="{FF2B5EF4-FFF2-40B4-BE49-F238E27FC236}">
                <a16:creationId xmlns:a16="http://schemas.microsoft.com/office/drawing/2014/main" id="{2FCC7375-4BD8-5D7F-9AE0-444A5E72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5053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kpi-package-cell-6-1">
            <a:extLst xmlns:a="http://schemas.openxmlformats.org/drawingml/2006/main">
              <a:ext uri="{FF2B5EF4-FFF2-40B4-BE49-F238E27FC236}">
                <a16:creationId xmlns:a16="http://schemas.microsoft.com/office/drawing/2014/main" id="{FB7A62E2-3CAB-5CB4-B213-84383A7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5529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$65,568,787.69</a:t>
            </a:r>
          </a:p>
        </p:txBody>
      </p:sp>
      <p:sp>
        <p:nvSpPr>
          <p:cNvPr id="67" name="kpi-package-box-6-2">
            <a:extLst xmlns:a="http://schemas.openxmlformats.org/drawingml/2006/main">
              <a:ext uri="{FF2B5EF4-FFF2-40B4-BE49-F238E27FC236}">
                <a16:creationId xmlns:a16="http://schemas.microsoft.com/office/drawing/2014/main" id="{E3D30A09-A7D8-506A-B180-E3FF16DE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5053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kpi-package-cell-6-2">
            <a:extLst xmlns:a="http://schemas.openxmlformats.org/drawingml/2006/main">
              <a:ext uri="{FF2B5EF4-FFF2-40B4-BE49-F238E27FC236}">
                <a16:creationId xmlns:a16="http://schemas.microsoft.com/office/drawing/2014/main" id="{241F3FF1-59D2-5999-BD7F-BB5504E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5529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69" name="kpi-package-box-6-3">
            <a:extLst xmlns:a="http://schemas.openxmlformats.org/drawingml/2006/main">
              <a:ext uri="{FF2B5EF4-FFF2-40B4-BE49-F238E27FC236}">
                <a16:creationId xmlns:a16="http://schemas.microsoft.com/office/drawing/2014/main" id="{0E538DE9-ED58-598A-BAFD-2E800A8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5053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kpi-package-cell-6-3">
            <a:extLst xmlns:a="http://schemas.openxmlformats.org/drawingml/2006/main">
              <a:ext uri="{FF2B5EF4-FFF2-40B4-BE49-F238E27FC236}">
                <a16:creationId xmlns:a16="http://schemas.microsoft.com/office/drawing/2014/main" id="{DF08C5DB-5EBF-5FB7-8D17-984CE547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529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71" name="kpi-package-box-6-4">
            <a:extLst xmlns:a="http://schemas.openxmlformats.org/drawingml/2006/main">
              <a:ext uri="{FF2B5EF4-FFF2-40B4-BE49-F238E27FC236}">
                <a16:creationId xmlns:a16="http://schemas.microsoft.com/office/drawing/2014/main" id="{0E2EB5D7-BFD0-5CD5-AF3B-8C2FDA28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053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kpi-package-cell-6-4">
            <a:extLst xmlns:a="http://schemas.openxmlformats.org/drawingml/2006/main">
              <a:ext uri="{FF2B5EF4-FFF2-40B4-BE49-F238E27FC236}">
                <a16:creationId xmlns:a16="http://schemas.microsoft.com/office/drawing/2014/main" id="{781C5791-E20F-5DE8-ADD6-2437E130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552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73" name="kpi-package-box-7-0">
            <a:extLst xmlns:a="http://schemas.openxmlformats.org/drawingml/2006/main">
              <a:ext uri="{FF2B5EF4-FFF2-40B4-BE49-F238E27FC236}">
                <a16:creationId xmlns:a16="http://schemas.microsoft.com/office/drawing/2014/main" id="{0C1A0C60-5A23-56F3-B3D5-926C5662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4" name="kpi-package-cell-7-0">
            <a:extLst xmlns:a="http://schemas.openxmlformats.org/drawingml/2006/main">
              <a:ext uri="{FF2B5EF4-FFF2-40B4-BE49-F238E27FC236}">
                <a16:creationId xmlns:a16="http://schemas.microsoft.com/office/drawing/2014/main" id="{E80BF15E-9083-53BB-B8D9-EE4A2EF9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101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</a:t>
            </a:r>
          </a:p>
        </p:txBody>
      </p:sp>
      <p:sp>
        <p:nvSpPr>
          <p:cNvPr id="75" name="kpi-package-box-7-1">
            <a:extLst xmlns:a="http://schemas.openxmlformats.org/drawingml/2006/main">
              <a:ext uri="{FF2B5EF4-FFF2-40B4-BE49-F238E27FC236}">
                <a16:creationId xmlns:a16="http://schemas.microsoft.com/office/drawing/2014/main" id="{AA6FB37E-6E04-5A2F-BD78-C409FB7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9625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6" name="kpi-package-cell-7-1">
            <a:extLst xmlns:a="http://schemas.openxmlformats.org/drawingml/2006/main">
              <a:ext uri="{FF2B5EF4-FFF2-40B4-BE49-F238E27FC236}">
                <a16:creationId xmlns:a16="http://schemas.microsoft.com/office/drawing/2014/main" id="{36D25946-E8A6-5F19-B08E-9733E7B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10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$26,728,663.70</a:t>
            </a:r>
          </a:p>
        </p:txBody>
      </p:sp>
      <p:sp>
        <p:nvSpPr>
          <p:cNvPr id="77" name="kpi-package-box-7-2">
            <a:extLst xmlns:a="http://schemas.openxmlformats.org/drawingml/2006/main">
              <a:ext uri="{FF2B5EF4-FFF2-40B4-BE49-F238E27FC236}">
                <a16:creationId xmlns:a16="http://schemas.microsoft.com/office/drawing/2014/main" id="{D59E3AB8-C148-59AB-8B23-FC0FA40B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9625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8" name="kpi-package-cell-7-2">
            <a:extLst xmlns:a="http://schemas.openxmlformats.org/drawingml/2006/main">
              <a:ext uri="{FF2B5EF4-FFF2-40B4-BE49-F238E27FC236}">
                <a16:creationId xmlns:a16="http://schemas.microsoft.com/office/drawing/2014/main" id="{ACFCF606-7EC3-57B5-98DE-5FAF018D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010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79" name="kpi-package-box-7-3">
            <a:extLst xmlns:a="http://schemas.openxmlformats.org/drawingml/2006/main">
              <a:ext uri="{FF2B5EF4-FFF2-40B4-BE49-F238E27FC236}">
                <a16:creationId xmlns:a16="http://schemas.microsoft.com/office/drawing/2014/main" id="{41A267D9-F65A-5FFD-9A78-ED8C8DB6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625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0" name="kpi-package-cell-7-3">
            <a:extLst xmlns:a="http://schemas.openxmlformats.org/drawingml/2006/main">
              <a:ext uri="{FF2B5EF4-FFF2-40B4-BE49-F238E27FC236}">
                <a16:creationId xmlns:a16="http://schemas.microsoft.com/office/drawing/2014/main" id="{9F932287-2AAB-5B3B-96D9-8FE088D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0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81" name="kpi-package-box-7-4">
            <a:extLst xmlns:a="http://schemas.openxmlformats.org/drawingml/2006/main">
              <a:ext uri="{FF2B5EF4-FFF2-40B4-BE49-F238E27FC236}">
                <a16:creationId xmlns:a16="http://schemas.microsoft.com/office/drawing/2014/main" id="{70B9A019-CBDA-527A-AB6A-EADE6EE2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9625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2" name="kpi-package-cell-7-4">
            <a:extLst xmlns:a="http://schemas.openxmlformats.org/drawingml/2006/main">
              <a:ext uri="{FF2B5EF4-FFF2-40B4-BE49-F238E27FC236}">
                <a16:creationId xmlns:a16="http://schemas.microsoft.com/office/drawing/2014/main" id="{C15606F4-91F1-5732-BBC7-6F49339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0101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83" name="kpi-package-box-8-0">
            <a:extLst xmlns:a="http://schemas.openxmlformats.org/drawingml/2006/main">
              <a:ext uri="{FF2B5EF4-FFF2-40B4-BE49-F238E27FC236}">
                <a16:creationId xmlns:a16="http://schemas.microsoft.com/office/drawing/2014/main" id="{C6F53FC9-0C3E-5131-8001-9B76677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197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4" name="kpi-package-cell-8-0">
            <a:extLst xmlns:a="http://schemas.openxmlformats.org/drawingml/2006/main">
              <a:ext uri="{FF2B5EF4-FFF2-40B4-BE49-F238E27FC236}">
                <a16:creationId xmlns:a16="http://schemas.microsoft.com/office/drawing/2014/main" id="{02D3D0B0-6648-56C8-B023-3A4B5CBA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673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debt</a:t>
            </a:r>
          </a:p>
        </p:txBody>
      </p:sp>
      <p:sp>
        <p:nvSpPr>
          <p:cNvPr id="85" name="kpi-package-box-8-1">
            <a:extLst xmlns:a="http://schemas.openxmlformats.org/drawingml/2006/main">
              <a:ext uri="{FF2B5EF4-FFF2-40B4-BE49-F238E27FC236}">
                <a16:creationId xmlns:a16="http://schemas.microsoft.com/office/drawing/2014/main" id="{FDB1917A-D380-5369-9458-8568169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197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6" name="kpi-package-cell-8-1">
            <a:extLst xmlns:a="http://schemas.openxmlformats.org/drawingml/2006/main">
              <a:ext uri="{FF2B5EF4-FFF2-40B4-BE49-F238E27FC236}">
                <a16:creationId xmlns:a16="http://schemas.microsoft.com/office/drawing/2014/main" id="{A08444B3-D9FC-5918-A43F-25A37A8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673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$92,550,000.00</a:t>
            </a:r>
          </a:p>
        </p:txBody>
      </p:sp>
      <p:sp>
        <p:nvSpPr>
          <p:cNvPr id="87" name="kpi-package-box-8-2">
            <a:extLst xmlns:a="http://schemas.openxmlformats.org/drawingml/2006/main">
              <a:ext uri="{FF2B5EF4-FFF2-40B4-BE49-F238E27FC236}">
                <a16:creationId xmlns:a16="http://schemas.microsoft.com/office/drawing/2014/main" id="{75E8829B-6C48-52DA-BBA2-9365B4D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4197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8" name="kpi-package-cell-8-2">
            <a:extLst xmlns:a="http://schemas.openxmlformats.org/drawingml/2006/main">
              <a:ext uri="{FF2B5EF4-FFF2-40B4-BE49-F238E27FC236}">
                <a16:creationId xmlns:a16="http://schemas.microsoft.com/office/drawing/2014/main" id="{76A0F86E-9CBF-52B5-82A0-AA9482B0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4673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2026-01-01</a:t>
            </a:r>
          </a:p>
        </p:txBody>
      </p:sp>
      <p:sp>
        <p:nvSpPr>
          <p:cNvPr id="89" name="kpi-package-box-8-3">
            <a:extLst xmlns:a="http://schemas.openxmlformats.org/drawingml/2006/main">
              <a:ext uri="{FF2B5EF4-FFF2-40B4-BE49-F238E27FC236}">
                <a16:creationId xmlns:a16="http://schemas.microsoft.com/office/drawing/2014/main" id="{4DDCCA61-7DEB-5FE8-BA62-B59253B9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4197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0" name="kpi-package-cell-8-3">
            <a:extLst xmlns:a="http://schemas.openxmlformats.org/drawingml/2006/main">
              <a:ext uri="{FF2B5EF4-FFF2-40B4-BE49-F238E27FC236}">
                <a16:creationId xmlns:a16="http://schemas.microsoft.com/office/drawing/2014/main" id="{A339EB35-A0DD-53F8-9F73-156DD072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673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2026-06-30</a:t>
            </a:r>
          </a:p>
        </p:txBody>
      </p:sp>
      <p:sp>
        <p:nvSpPr>
          <p:cNvPr id="91" name="kpi-package-box-8-4">
            <a:extLst xmlns:a="http://schemas.openxmlformats.org/drawingml/2006/main">
              <a:ext uri="{FF2B5EF4-FFF2-40B4-BE49-F238E27FC236}">
                <a16:creationId xmlns:a16="http://schemas.microsoft.com/office/drawing/2014/main" id="{4DB84E67-02B2-5CDB-8E7A-6D43266C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41972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2" name="kpi-package-cell-8-4">
            <a:extLst xmlns:a="http://schemas.openxmlformats.org/drawingml/2006/main">
              <a:ext uri="{FF2B5EF4-FFF2-40B4-BE49-F238E27FC236}">
                <a16:creationId xmlns:a16="http://schemas.microsoft.com/office/drawing/2014/main" id="{2441927F-63E2-573F-976C-C1F440D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4673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pre-close</a:t>
            </a:r>
          </a:p>
        </p:txBody>
      </p:sp>
      <p:sp>
        <p:nvSpPr>
          <p:cNvPr id="93" name="brand-wordmark-5">
            <a:extLst xmlns:a="http://schemas.openxmlformats.org/drawingml/2006/main">
              <a:ext uri="{FF2B5EF4-FFF2-40B4-BE49-F238E27FC236}">
                <a16:creationId xmlns:a16="http://schemas.microsoft.com/office/drawing/2014/main" id="{216FAE37-EEC1-511C-812F-18C3432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9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FFAC9D86-1EED-5ECC-A926-FD4D2C5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0518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